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ounded Rectangle 14"/>
          <p:cNvSpPr/>
          <p:nvPr/>
        </p:nvSpPr>
        <p:spPr>
          <a:xfrm>
            <a:off x="8229600" y="1097280"/>
            <a:ext cx="2302468" cy="4663440"/>
          </a:xfrm>
          <a:prstGeom prst="roundRect">
            <a:avLst>
              <a:gd name="adj" fmla="val 9000"/>
            </a:avLst>
          </a:prstGeom>
          <a:solidFill>
            <a:srgbClr val="EFF5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5852160" y="1737360"/>
            <a:ext cx="8778240" cy="8778240"/>
          </a:xfrm>
          <a:prstGeom prst="ellipse">
            <a:avLst/>
          </a:prstGeom>
          <a:gradFill rotWithShape="1">
            <a:gsLst>
              <a:gs pos="0">
                <a:srgbClr val="DBE8FE"/>
              </a:gs>
              <a:gs pos="82000">
                <a:srgbClr val="FFFFFF"/>
              </a:gs>
              <a:gs pos="100000">
                <a:srgbClr val="FFFFFF"/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69193" y="402335"/>
            <a:ext cx="198973" cy="198973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Isosceles Triangle 4"/>
          <p:cNvSpPr/>
          <p:nvPr/>
        </p:nvSpPr>
        <p:spPr>
          <a:xfrm rot="10800000">
            <a:off x="813084" y="554492"/>
            <a:ext cx="111191" cy="128747"/>
          </a:xfrm>
          <a:prstGeom prst="triangl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33567" y="466709"/>
            <a:ext cx="70225" cy="7022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97280" y="402336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>
                <a:solidFill>
                  <a:srgbClr val="10203C"/>
                </a:solidFill>
              </a:defRPr>
            </a:pPr>
            <a:r>
              <a:t>어디쯤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694944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400" b="1">
                <a:solidFill>
                  <a:srgbClr val="10203C"/>
                </a:solidFill>
              </a:rPr>
              <a:t>어디쯤</a:t>
            </a:r>
            <a:r>
              <a:rPr sz="4400" b="1">
                <a:solidFill>
                  <a:srgbClr val="1C60EF"/>
                </a:solidFill>
              </a:rPr>
              <a:t>  ×  </a:t>
            </a:r>
            <a:r>
              <a:rPr sz="4400" b="1">
                <a:solidFill>
                  <a:srgbClr val="10203C"/>
                </a:solidFill>
              </a:rPr>
              <a:t>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44368"/>
            <a:ext cx="1005840" cy="41148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3273552"/>
            <a:ext cx="6217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defRPr sz="1450" b="0">
                <a:solidFill>
                  <a:srgbClr val="5A6B87"/>
                </a:solidFill>
              </a:defRPr>
            </a:pPr>
            <a:r>
              <a:t>모임 참석자의 실시간 위치와 도착 예정 시간(ETA)을 함께 보는 서비스를</a:t>
            </a:r>
          </a:p>
          <a:p>
            <a:pPr algn="l">
              <a:lnSpc>
                <a:spcPct val="145000"/>
              </a:lnSpc>
              <a:defRPr sz="1450" b="0">
                <a:solidFill>
                  <a:srgbClr val="5A6B87"/>
                </a:solidFill>
              </a:defRPr>
            </a:pPr>
            <a:r>
              <a:t>PASS 본인확인 인프라와 U+ PASS 채널로 사업화하는 아이디어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2148840" cy="402336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50" b="1">
                <a:solidFill>
                  <a:srgbClr val="1348C0"/>
                </a:solidFill>
              </a:defRPr>
            </a:pPr>
            <a:r>
              <a:t>모임 단위 위치 공유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4754880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50" b="1">
                <a:solidFill>
                  <a:srgbClr val="1348C0"/>
                </a:solidFill>
              </a:defRPr>
            </a:pPr>
            <a:r>
              <a:t>PASS 본인확인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321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9FADC4"/>
                </a:solidFill>
              </a:defRPr>
            </a:pPr>
            <a:r>
              <a:t>2026-09-10</a:t>
            </a:r>
          </a:p>
        </p:txBody>
      </p:sp>
      <p:pic>
        <p:nvPicPr>
          <p:cNvPr id="14" name="Picture 13" descr="5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234440"/>
            <a:ext cx="2028148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E8FE"/>
              </a:gs>
              <a:gs pos="58000">
                <a:srgbClr val="FFFFFF"/>
              </a:gs>
              <a:gs pos="100000">
                <a:srgbClr val="FFFFFF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한 장 요약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81328"/>
            <a:ext cx="5212080" cy="14081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024128" y="1792224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247424" y="1961388"/>
            <a:ext cx="230063" cy="230063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Isosceles Triangle 7"/>
          <p:cNvSpPr/>
          <p:nvPr/>
        </p:nvSpPr>
        <p:spPr>
          <a:xfrm rot="10800000">
            <a:off x="1298173" y="2137318"/>
            <a:ext cx="128564" cy="148864"/>
          </a:xfrm>
          <a:prstGeom prst="triangl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321856" y="2035820"/>
            <a:ext cx="81198" cy="8119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901952" y="1810512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50" b="1">
                <a:solidFill>
                  <a:srgbClr val="10203C"/>
                </a:solidFill>
              </a:defRPr>
            </a:pPr>
            <a:r>
              <a:t>모임에는 '남은 시간'이 필요하다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2194560"/>
            <a:ext cx="3886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150" b="0">
                <a:solidFill>
                  <a:srgbClr val="5A6B87"/>
                </a:solidFill>
              </a:defRPr>
            </a:pPr>
            <a:r>
              <a:t>먼저 도착한 사람이 대기할지 이동할지 판단할 근거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481328"/>
            <a:ext cx="5212080" cy="14081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537960" y="1792224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720657" y="1988454"/>
            <a:ext cx="101498" cy="101498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930420" y="1988454"/>
            <a:ext cx="101498" cy="101498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6818772" y="1961388"/>
            <a:ext cx="115031" cy="115031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771406" y="2110252"/>
            <a:ext cx="209763" cy="135331"/>
          </a:xfrm>
          <a:prstGeom prst="roundRect">
            <a:avLst>
              <a:gd name="adj" fmla="val 45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15783" y="1810512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50" b="1">
                <a:solidFill>
                  <a:srgbClr val="10203C"/>
                </a:solidFill>
              </a:defRPr>
            </a:pPr>
            <a:r>
              <a:t>카카오는 이 자리를 비워두었다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5783" y="2194560"/>
            <a:ext cx="3886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150" b="0">
                <a:solidFill>
                  <a:srgbClr val="5A6B87"/>
                </a:solidFill>
              </a:defRPr>
            </a:pPr>
            <a:r>
              <a:t>친구 관계 전제 · 모임 단위 본인확인 부재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54096"/>
            <a:ext cx="5212080" cy="14081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1024128" y="3364991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Block Arc 21"/>
          <p:cNvSpPr/>
          <p:nvPr/>
        </p:nvSpPr>
        <p:spPr>
          <a:xfrm>
            <a:off x="1271107" y="3534156"/>
            <a:ext cx="182697" cy="189463"/>
          </a:xfrm>
          <a:prstGeom prst="blockArc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1240657" y="3676253"/>
            <a:ext cx="243596" cy="189463"/>
          </a:xfrm>
          <a:prstGeom prst="roundRect">
            <a:avLst>
              <a:gd name="adj" fmla="val 16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1338773" y="3743919"/>
            <a:ext cx="47365" cy="473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901952" y="3383279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50" b="1">
                <a:solidFill>
                  <a:srgbClr val="10203C"/>
                </a:solidFill>
              </a:defRPr>
            </a:pPr>
            <a:r>
              <a:t>우리에게는 본인확인 자산이 있다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01952" y="3767328"/>
            <a:ext cx="3886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150" b="0">
                <a:solidFill>
                  <a:srgbClr val="5A6B87"/>
                </a:solidFill>
              </a:defRPr>
            </a:pPr>
            <a:r>
              <a:t>PASS 인프라로 신뢰 기반 위치 공유가 가능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5352" y="3054096"/>
            <a:ext cx="5212080" cy="14081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6537960" y="3364991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707124" y="3574755"/>
            <a:ext cx="338328" cy="25712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794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707124" y="3574755"/>
            <a:ext cx="338328" cy="60899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6734190" y="3591671"/>
            <a:ext cx="21991" cy="2199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6771406" y="3591671"/>
            <a:ext cx="21991" cy="2199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808622" y="3591671"/>
            <a:ext cx="21991" cy="2199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415783" y="3383279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50" b="1">
                <a:solidFill>
                  <a:srgbClr val="10203C"/>
                </a:solidFill>
              </a:defRPr>
            </a:pPr>
            <a:r>
              <a:t>채널은 이미 손에 있다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15783" y="3767328"/>
            <a:ext cx="3886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150" b="0">
                <a:solidFill>
                  <a:srgbClr val="5A6B87"/>
                </a:solidFill>
              </a:defRPr>
            </a:pPr>
            <a:r>
              <a:t>U+ PASS 채널 + 웹 + 자체 앱의 3층 구조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956048"/>
            <a:ext cx="10728655" cy="1097280"/>
          </a:xfrm>
          <a:prstGeom prst="roundRect">
            <a:avLst>
              <a:gd name="adj" fmla="val 9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31520" y="5193792"/>
            <a:ext cx="107286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모임 단위 위치 공유  ×  PASS 본인확인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614416"/>
            <a:ext cx="107286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00" b="0">
                <a:solidFill>
                  <a:srgbClr val="DBE8FE"/>
                </a:solidFill>
              </a:defRPr>
            </a:pPr>
            <a:r>
              <a:t>카카오가 채우지 못한 자리를, 우리 자산으로 채운다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-3291840" y="640080"/>
            <a:ext cx="8229600" cy="8229600"/>
          </a:xfrm>
          <a:prstGeom prst="ellipse">
            <a:avLst/>
          </a:prstGeom>
          <a:gradFill rotWithShape="1">
            <a:gsLst>
              <a:gs pos="0">
                <a:srgbClr val="DBE8FE"/>
              </a:gs>
              <a:gs pos="82000">
                <a:srgbClr val="FFFFFF"/>
              </a:gs>
              <a:gs pos="100000">
                <a:srgbClr val="FFFFFF"/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01 ·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먼저 도착한 사람에게는 판단 근거가 없다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64208"/>
            <a:ext cx="3383280" cy="1335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005840" y="1847088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170432" y="2011679"/>
            <a:ext cx="329184" cy="329184"/>
          </a:xfrm>
          <a:prstGeom prst="ellipse">
            <a:avLst/>
          </a:prstGeom>
          <a:noFill/>
          <a:ln w="2794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322222" y="2077516"/>
            <a:ext cx="25603" cy="105338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335024" y="2163470"/>
            <a:ext cx="88879" cy="25603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828800" y="21031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1">
                <a:solidFill>
                  <a:srgbClr val="10203C"/>
                </a:solidFill>
              </a:defRPr>
            </a:pPr>
            <a:r>
              <a:t>출발했는지 모른다</a:t>
            </a:r>
          </a:p>
        </p:txBody>
      </p:sp>
      <p:sp>
        <p:nvSpPr>
          <p:cNvPr id="12" name="Chevron 11"/>
          <p:cNvSpPr/>
          <p:nvPr/>
        </p:nvSpPr>
        <p:spPr>
          <a:xfrm>
            <a:off x="4133088" y="2203703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407407" y="1664208"/>
            <a:ext cx="3383280" cy="1335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4681727" y="1847088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4846320" y="2044598"/>
            <a:ext cx="329184" cy="26334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86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912156" y="2044598"/>
            <a:ext cx="20116" cy="263347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846320" y="2176272"/>
            <a:ext cx="329184" cy="20116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4981285" y="2130186"/>
            <a:ext cx="59253" cy="59253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Isosceles Triangle 18"/>
          <p:cNvSpPr/>
          <p:nvPr/>
        </p:nvSpPr>
        <p:spPr>
          <a:xfrm rot="10800000">
            <a:off x="4991160" y="2182855"/>
            <a:ext cx="39502" cy="46085"/>
          </a:xfrm>
          <a:prstGeom prst="triangl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504688" y="21031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1">
                <a:solidFill>
                  <a:srgbClr val="10203C"/>
                </a:solidFill>
              </a:defRPr>
            </a:pPr>
            <a:r>
              <a:t>어디쯤인지 모른다</a:t>
            </a:r>
          </a:p>
        </p:txBody>
      </p:sp>
      <p:sp>
        <p:nvSpPr>
          <p:cNvPr id="21" name="Chevron 20"/>
          <p:cNvSpPr/>
          <p:nvPr/>
        </p:nvSpPr>
        <p:spPr>
          <a:xfrm>
            <a:off x="7808975" y="2203703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8083296" y="1664208"/>
            <a:ext cx="3383280" cy="1335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8357616" y="1847088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8535375" y="2038014"/>
            <a:ext cx="98755" cy="98755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739469" y="2038014"/>
            <a:ext cx="98755" cy="98755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630838" y="2011679"/>
            <a:ext cx="111922" cy="111922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8584752" y="2156520"/>
            <a:ext cx="204094" cy="131673"/>
          </a:xfrm>
          <a:prstGeom prst="roundRect">
            <a:avLst>
              <a:gd name="adj" fmla="val 45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80576" y="21031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50" b="1">
                <a:solidFill>
                  <a:srgbClr val="10203C"/>
                </a:solidFill>
              </a:defRPr>
            </a:pPr>
            <a:r>
              <a:t>매번 물어봐야 안다</a:t>
            </a:r>
          </a:p>
        </p:txBody>
      </p:sp>
      <p:sp>
        <p:nvSpPr>
          <p:cNvPr id="29" name="Chevron 28"/>
          <p:cNvSpPr/>
          <p:nvPr/>
        </p:nvSpPr>
        <p:spPr>
          <a:xfrm rot="5400000">
            <a:off x="5943600" y="3163824"/>
            <a:ext cx="292608" cy="292608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154680" y="3639312"/>
            <a:ext cx="58978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154680" y="3639312"/>
            <a:ext cx="5897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10203C"/>
                </a:solidFill>
              </a:defRPr>
            </a:pPr>
            <a:r>
              <a:t>결과 — 애매한 대기로 시간을 낭비한다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14600" y="4919472"/>
            <a:ext cx="7178040" cy="804672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2514600" y="4919472"/>
            <a:ext cx="71780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550" b="1">
                <a:solidFill>
                  <a:srgbClr val="1348C0"/>
                </a:solidFill>
              </a:defRPr>
            </a:pPr>
            <a:r>
              <a:t>필요한 것은 정확한 위치가 아니라 “남은 시간(ETA)”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60000">
                <a:srgbClr val="FFFFFF"/>
              </a:gs>
              <a:gs pos="100000">
                <a:srgbClr val="DBE8FE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02 · 서비스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모임 단위로 켜지고, 도착하면 꺼진다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2450592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600200" y="201168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778508" y="2225649"/>
            <a:ext cx="356616" cy="2852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86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849831" y="2225649"/>
            <a:ext cx="20116" cy="285292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778508" y="2368296"/>
            <a:ext cx="356616" cy="20116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924720" y="2318369"/>
            <a:ext cx="64190" cy="64190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Isosceles Triangle 10"/>
          <p:cNvSpPr/>
          <p:nvPr/>
        </p:nvSpPr>
        <p:spPr>
          <a:xfrm rot="10800000">
            <a:off x="1935419" y="2375428"/>
            <a:ext cx="42793" cy="49926"/>
          </a:xfrm>
          <a:prstGeom prst="triangl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14400" y="1920240"/>
            <a:ext cx="329184" cy="32918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24505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500" b="1">
                <a:solidFill>
                  <a:srgbClr val="10203C"/>
                </a:solidFill>
              </a:defRPr>
            </a:pPr>
            <a:r>
              <a:t>모임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91840"/>
            <a:ext cx="2084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5A6B87"/>
                </a:solidFill>
              </a:defRPr>
            </a:pPr>
            <a:r>
              <a:t>장소·날짜·시간을 정한다</a:t>
            </a:r>
          </a:p>
        </p:txBody>
      </p:sp>
      <p:sp>
        <p:nvSpPr>
          <p:cNvPr id="15" name="Chevron 14"/>
          <p:cNvSpPr/>
          <p:nvPr/>
        </p:nvSpPr>
        <p:spPr>
          <a:xfrm>
            <a:off x="3204972" y="2779776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483863" y="1783080"/>
            <a:ext cx="2450592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352544" y="201168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Donut 17"/>
          <p:cNvSpPr/>
          <p:nvPr/>
        </p:nvSpPr>
        <p:spPr>
          <a:xfrm>
            <a:off x="4530851" y="2282708"/>
            <a:ext cx="199704" cy="171175"/>
          </a:xfrm>
          <a:prstGeom prst="donu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Donut 18"/>
          <p:cNvSpPr/>
          <p:nvPr/>
        </p:nvSpPr>
        <p:spPr>
          <a:xfrm>
            <a:off x="4687763" y="2282708"/>
            <a:ext cx="199704" cy="171175"/>
          </a:xfrm>
          <a:prstGeom prst="donut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3666744" y="1920240"/>
            <a:ext cx="329184" cy="32918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3863" y="2926080"/>
            <a:ext cx="24505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500" b="1">
                <a:solidFill>
                  <a:srgbClr val="10203C"/>
                </a:solidFill>
              </a:defRPr>
            </a:pPr>
            <a:r>
              <a:t>링크 공유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66744" y="3291840"/>
            <a:ext cx="2084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5A6B87"/>
                </a:solidFill>
              </a:defRPr>
            </a:pPr>
            <a:r>
              <a:t>설치·가입 없이 닉네임만</a:t>
            </a:r>
          </a:p>
        </p:txBody>
      </p:sp>
      <p:sp>
        <p:nvSpPr>
          <p:cNvPr id="23" name="Chevron 22"/>
          <p:cNvSpPr/>
          <p:nvPr/>
        </p:nvSpPr>
        <p:spPr>
          <a:xfrm>
            <a:off x="5957316" y="2779776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236207" y="1783080"/>
            <a:ext cx="2450592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7104888" y="201168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7340254" y="2189988"/>
            <a:ext cx="242498" cy="242498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Isosceles Triangle 26"/>
          <p:cNvSpPr/>
          <p:nvPr/>
        </p:nvSpPr>
        <p:spPr>
          <a:xfrm rot="10800000">
            <a:off x="7393746" y="2375428"/>
            <a:ext cx="135514" cy="156911"/>
          </a:xfrm>
          <a:prstGeom prst="triangl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7418710" y="2268443"/>
            <a:ext cx="85587" cy="855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419088" y="1920240"/>
            <a:ext cx="329184" cy="32918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7" y="2926080"/>
            <a:ext cx="24505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500" b="1">
                <a:solidFill>
                  <a:srgbClr val="10203C"/>
                </a:solidFill>
              </a:defRPr>
            </a:pPr>
            <a:r>
              <a:t>출발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3291840"/>
            <a:ext cx="2084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5A6B87"/>
                </a:solidFill>
              </a:defRPr>
            </a:pPr>
            <a:r>
              <a:t>위치와 ETA 공유 시작</a:t>
            </a:r>
          </a:p>
        </p:txBody>
      </p:sp>
      <p:sp>
        <p:nvSpPr>
          <p:cNvPr id="32" name="Chevron 31"/>
          <p:cNvSpPr/>
          <p:nvPr/>
        </p:nvSpPr>
        <p:spPr>
          <a:xfrm>
            <a:off x="8709659" y="2779776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988552" y="1783080"/>
            <a:ext cx="2450592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9857232" y="201168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10035540" y="2189988"/>
            <a:ext cx="356616" cy="356616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939528" y="2167128"/>
            <a:ext cx="5486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14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7" name="Oval 36"/>
          <p:cNvSpPr/>
          <p:nvPr/>
        </p:nvSpPr>
        <p:spPr>
          <a:xfrm>
            <a:off x="9171432" y="1920240"/>
            <a:ext cx="329184" cy="32918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88552" y="2926080"/>
            <a:ext cx="24505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500" b="1">
                <a:solidFill>
                  <a:srgbClr val="10203C"/>
                </a:solidFill>
              </a:defRPr>
            </a:pPr>
            <a:r>
              <a:t>도착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71432" y="3291840"/>
            <a:ext cx="2084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5A6B87"/>
                </a:solidFill>
              </a:defRPr>
            </a:pPr>
            <a:r>
              <a:t>자동 종료 · 명단 반영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28032"/>
            <a:ext cx="1072865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50" b="1">
                <a:solidFill>
                  <a:srgbClr val="1348C0"/>
                </a:solidFill>
              </a:defRPr>
            </a:pPr>
            <a:r>
              <a:t>상시 공유가 아니라는 점이 심리적 수용성을 만든다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230368"/>
            <a:ext cx="107286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150" b="0">
                <a:solidFill>
                  <a:srgbClr val="5A6B87"/>
                </a:solidFill>
              </a:defRPr>
            </a:pPr>
            <a:r>
              <a:t>초대된 사람 = 공유 대상   ·   모임이 끝나면 공유도 끝난다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6720840" y="1417320"/>
            <a:ext cx="2091202" cy="4206240"/>
          </a:xfrm>
          <a:prstGeom prst="roundRect">
            <a:avLst>
              <a:gd name="adj" fmla="val 9000"/>
            </a:avLst>
          </a:prstGeom>
          <a:solidFill>
            <a:srgbClr val="EFF5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154680" y="1417320"/>
            <a:ext cx="2091202" cy="4206240"/>
          </a:xfrm>
          <a:prstGeom prst="roundRect">
            <a:avLst>
              <a:gd name="adj" fmla="val 9000"/>
            </a:avLst>
          </a:prstGeom>
          <a:solidFill>
            <a:srgbClr val="EFF5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48000">
                <a:srgbClr val="FFFFFF"/>
              </a:gs>
              <a:gs pos="100000">
                <a:srgbClr val="DBE8F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03 · 서비스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모임을 만들고 링크를 보낸다</a:t>
            </a:r>
          </a:p>
        </p:txBody>
      </p:sp>
      <p:pic>
        <p:nvPicPr>
          <p:cNvPr id="5" name="Picture 4" descr="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554480"/>
            <a:ext cx="1816882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97480" y="57607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150" b="0">
                <a:solidFill>
                  <a:srgbClr val="5A6B87"/>
                </a:solidFill>
              </a:defRPr>
            </a:pPr>
            <a:r>
              <a:t>모임 생성 / 링크 참여</a:t>
            </a:r>
          </a:p>
        </p:txBody>
      </p:sp>
      <p:pic>
        <p:nvPicPr>
          <p:cNvPr id="8" name="Picture 7" descr="2-cre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554480"/>
            <a:ext cx="1816882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63640" y="57607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150" b="0">
                <a:solidFill>
                  <a:srgbClr val="5A6B87"/>
                </a:solidFill>
              </a:defRPr>
            </a:pPr>
            <a:r>
              <a:t>장소·날짜·시간 지정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ounded Rectangle 10"/>
          <p:cNvSpPr/>
          <p:nvPr/>
        </p:nvSpPr>
        <p:spPr>
          <a:xfrm>
            <a:off x="6720840" y="1417320"/>
            <a:ext cx="2091202" cy="4206240"/>
          </a:xfrm>
          <a:prstGeom prst="roundRect">
            <a:avLst>
              <a:gd name="adj" fmla="val 9000"/>
            </a:avLst>
          </a:prstGeom>
          <a:solidFill>
            <a:srgbClr val="EFF5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3154680" y="1417320"/>
            <a:ext cx="2091202" cy="4206240"/>
          </a:xfrm>
          <a:prstGeom prst="roundRect">
            <a:avLst>
              <a:gd name="adj" fmla="val 9000"/>
            </a:avLst>
          </a:prstGeom>
          <a:solidFill>
            <a:srgbClr val="EFF5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-2743200" y="-2926080"/>
            <a:ext cx="7680960" cy="7680960"/>
          </a:xfrm>
          <a:prstGeom prst="ellipse">
            <a:avLst/>
          </a:prstGeom>
          <a:gradFill rotWithShape="1">
            <a:gsLst>
              <a:gs pos="0">
                <a:srgbClr val="DBE8FE"/>
              </a:gs>
              <a:gs pos="82000">
                <a:srgbClr val="FFFFFF"/>
              </a:gs>
              <a:gs pos="100000">
                <a:srgbClr val="FFFFFF"/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BE8FE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03 · 서비스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받은 사람은 닉네임만 입력한다</a:t>
            </a:r>
          </a:p>
        </p:txBody>
      </p:sp>
      <p:pic>
        <p:nvPicPr>
          <p:cNvPr id="7" name="Picture 6" descr="3-inv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554480"/>
            <a:ext cx="1816882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57607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150" b="0">
                <a:solidFill>
                  <a:srgbClr val="5A6B87"/>
                </a:solidFill>
              </a:defRPr>
            </a:pPr>
            <a:r>
              <a:t>초대 링크 공유</a:t>
            </a:r>
          </a:p>
        </p:txBody>
      </p:sp>
      <p:pic>
        <p:nvPicPr>
          <p:cNvPr id="10" name="Picture 9" descr="4-jo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554480"/>
            <a:ext cx="1816882" cy="3931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57607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150" b="0">
                <a:solidFill>
                  <a:srgbClr val="5A6B87"/>
                </a:solidFill>
              </a:defRPr>
            </a:pPr>
            <a:r>
              <a:t>설치·가입 없이 참여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ounded Rectangle 6"/>
          <p:cNvSpPr/>
          <p:nvPr/>
        </p:nvSpPr>
        <p:spPr>
          <a:xfrm>
            <a:off x="1417320" y="1325880"/>
            <a:ext cx="2429227" cy="4937759"/>
          </a:xfrm>
          <a:prstGeom prst="roundRect">
            <a:avLst>
              <a:gd name="adj" fmla="val 9000"/>
            </a:avLst>
          </a:prstGeom>
          <a:solidFill>
            <a:srgbClr val="EFF5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-1645920" y="4023360"/>
            <a:ext cx="15544800" cy="6217920"/>
          </a:xfrm>
          <a:prstGeom prst="ellipse">
            <a:avLst/>
          </a:prstGeom>
          <a:gradFill rotWithShape="1">
            <a:gsLst>
              <a:gs pos="0">
                <a:srgbClr val="DBE8FE"/>
              </a:gs>
              <a:gs pos="82000">
                <a:srgbClr val="FFFFFF"/>
              </a:gs>
              <a:gs pos="100000">
                <a:srgbClr val="FFFFFF"/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03 · 서비스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당일, 지도 하나로 상황이 정리된다</a:t>
            </a:r>
          </a:p>
        </p:txBody>
      </p:sp>
      <p:pic>
        <p:nvPicPr>
          <p:cNvPr id="6" name="Picture 5" descr="5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463040"/>
            <a:ext cx="2154907" cy="466344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309360" y="2066543"/>
            <a:ext cx="146304" cy="14630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38544" y="1965960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0">
                <a:solidFill>
                  <a:srgbClr val="10203C"/>
                </a:solidFill>
              </a:defRPr>
            </a:pPr>
            <a:r>
              <a:t>목적지와 참여자 위치를 한 화면에서 본다</a:t>
            </a:r>
          </a:p>
        </p:txBody>
      </p:sp>
      <p:sp>
        <p:nvSpPr>
          <p:cNvPr id="10" name="Oval 9"/>
          <p:cNvSpPr/>
          <p:nvPr/>
        </p:nvSpPr>
        <p:spPr>
          <a:xfrm>
            <a:off x="6309360" y="2724912"/>
            <a:ext cx="146304" cy="14630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38544" y="2624328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0">
                <a:solidFill>
                  <a:srgbClr val="10203C"/>
                </a:solidFill>
              </a:defRPr>
            </a:pPr>
            <a:r>
              <a:t>‘출발’을 눌러야 내 위치가 공유된다</a:t>
            </a:r>
          </a:p>
        </p:txBody>
      </p:sp>
      <p:sp>
        <p:nvSpPr>
          <p:cNvPr id="12" name="Oval 11"/>
          <p:cNvSpPr/>
          <p:nvPr/>
        </p:nvSpPr>
        <p:spPr>
          <a:xfrm>
            <a:off x="6309360" y="3383279"/>
            <a:ext cx="146304" cy="14630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38544" y="3282696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0">
                <a:solidFill>
                  <a:srgbClr val="10203C"/>
                </a:solidFill>
              </a:defRPr>
            </a:pPr>
            <a:r>
              <a:t>‘오는 중’과 ‘도착’으로 자동 정리된다</a:t>
            </a:r>
          </a:p>
        </p:txBody>
      </p:sp>
      <p:sp>
        <p:nvSpPr>
          <p:cNvPr id="14" name="Oval 13"/>
          <p:cNvSpPr/>
          <p:nvPr/>
        </p:nvSpPr>
        <p:spPr>
          <a:xfrm>
            <a:off x="6309360" y="4041648"/>
            <a:ext cx="146304" cy="14630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638544" y="3941064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0">
                <a:solidFill>
                  <a:srgbClr val="10203C"/>
                </a:solidFill>
              </a:defRPr>
            </a:pPr>
            <a:r>
              <a:t>도착 반경에 들어오면 공유가 스스로 꺼진다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0" y="4700016"/>
            <a:ext cx="146304" cy="146304"/>
          </a:xfrm>
          <a:prstGeom prst="ellipse">
            <a:avLst/>
          </a:prstGeom>
          <a:solidFill>
            <a:srgbClr val="134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38544" y="4599431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50" b="1">
                <a:solidFill>
                  <a:srgbClr val="10203C"/>
                </a:solidFill>
              </a:defRPr>
            </a:pPr>
            <a:r>
              <a:t>먼저 온 사람이 기다릴지 이동할지 판단한다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463040" y="-1645920"/>
            <a:ext cx="9875520" cy="9875520"/>
          </a:xfrm>
          <a:prstGeom prst="ellipse">
            <a:avLst/>
          </a:prstGeom>
          <a:gradFill rotWithShape="1">
            <a:gsLst>
              <a:gs pos="0">
                <a:srgbClr val="DBE8FE"/>
              </a:gs>
              <a:gs pos="82000">
                <a:srgbClr val="FFFFFF"/>
              </a:gs>
              <a:gs pos="100000">
                <a:srgbClr val="FFFFFF"/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04 · 경쟁 지형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비어 있는 자리 — 모임 단위 × 무마찰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1691640"/>
            <a:ext cx="6492240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425696" y="1892808"/>
            <a:ext cx="18288" cy="3392424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389888" y="3579876"/>
            <a:ext cx="6089903" cy="18288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88720" y="1380744"/>
            <a:ext cx="6492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50" b="1">
                <a:solidFill>
                  <a:srgbClr val="9FADC4"/>
                </a:solidFill>
              </a:defRPr>
            </a:pPr>
            <a:r>
              <a:t>모임 단위 공유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541264"/>
            <a:ext cx="6492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50" b="1">
                <a:solidFill>
                  <a:srgbClr val="9FADC4"/>
                </a:solidFill>
              </a:defRPr>
            </a:pPr>
            <a:r>
              <a:t>상시(always-on) 공유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643884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>
                <a:solidFill>
                  <a:srgbClr val="9FADC4"/>
                </a:solidFill>
              </a:defRPr>
            </a:pPr>
            <a:r>
              <a:t>← 마찰 높음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643884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1">
                <a:solidFill>
                  <a:srgbClr val="9FADC4"/>
                </a:solidFill>
              </a:defRPr>
            </a:pPr>
            <a:r>
              <a:t>마찰 낮음 →</a:t>
            </a:r>
          </a:p>
        </p:txBody>
      </p:sp>
      <p:sp>
        <p:nvSpPr>
          <p:cNvPr id="13" name="Oval 12"/>
          <p:cNvSpPr/>
          <p:nvPr/>
        </p:nvSpPr>
        <p:spPr>
          <a:xfrm>
            <a:off x="5774436" y="2394813"/>
            <a:ext cx="566928" cy="566928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69179" y="3025749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100" b="1">
                <a:solidFill>
                  <a:srgbClr val="1348C0"/>
                </a:solidFill>
              </a:defRPr>
            </a:pPr>
            <a:r>
              <a:t>어디쯤</a:t>
            </a:r>
          </a:p>
        </p:txBody>
      </p:sp>
      <p:sp>
        <p:nvSpPr>
          <p:cNvPr id="15" name="Oval 14"/>
          <p:cNvSpPr/>
          <p:nvPr/>
        </p:nvSpPr>
        <p:spPr>
          <a:xfrm>
            <a:off x="3120847" y="3758183"/>
            <a:ext cx="420624" cy="420624"/>
          </a:xfrm>
          <a:prstGeom prst="ellipse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142439" y="424281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1">
                <a:solidFill>
                  <a:srgbClr val="1348C0"/>
                </a:solidFill>
              </a:defRPr>
            </a:pPr>
            <a:r>
              <a:t>카카오맵 친구위치</a:t>
            </a:r>
          </a:p>
        </p:txBody>
      </p:sp>
      <p:sp>
        <p:nvSpPr>
          <p:cNvPr id="17" name="Oval 16"/>
          <p:cNvSpPr/>
          <p:nvPr/>
        </p:nvSpPr>
        <p:spPr>
          <a:xfrm>
            <a:off x="2192731" y="4752594"/>
            <a:ext cx="329184" cy="329184"/>
          </a:xfrm>
          <a:prstGeom prst="ellipse">
            <a:avLst/>
          </a:prstGeom>
          <a:solidFill>
            <a:srgbClr val="EF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68603" y="514578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1">
                <a:solidFill>
                  <a:srgbClr val="5A6B87"/>
                </a:solidFill>
              </a:defRPr>
            </a:pPr>
            <a:r>
              <a:t>iSharing</a:t>
            </a:r>
          </a:p>
        </p:txBody>
      </p:sp>
      <p:sp>
        <p:nvSpPr>
          <p:cNvPr id="19" name="Oval 18"/>
          <p:cNvSpPr/>
          <p:nvPr/>
        </p:nvSpPr>
        <p:spPr>
          <a:xfrm>
            <a:off x="4140403" y="4790541"/>
            <a:ext cx="329184" cy="329184"/>
          </a:xfrm>
          <a:prstGeom prst="ellipse">
            <a:avLst/>
          </a:prstGeom>
          <a:solidFill>
            <a:srgbClr val="EF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116275" y="5183733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1">
                <a:solidFill>
                  <a:srgbClr val="5A6B87"/>
                </a:solidFill>
              </a:defRPr>
            </a:pPr>
            <a:r>
              <a:t>Life360</a:t>
            </a:r>
          </a:p>
        </p:txBody>
      </p:sp>
      <p:sp>
        <p:nvSpPr>
          <p:cNvPr id="21" name="Oval 20"/>
          <p:cNvSpPr/>
          <p:nvPr/>
        </p:nvSpPr>
        <p:spPr>
          <a:xfrm>
            <a:off x="5716828" y="4429353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FA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674412" y="4785969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1">
                <a:solidFill>
                  <a:srgbClr val="9FADC4"/>
                </a:solidFill>
              </a:defRPr>
            </a:pPr>
            <a:r>
              <a:t>Zenly (종료)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2286000"/>
            <a:ext cx="327355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8458200" y="2523744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5-Point Star 24"/>
          <p:cNvSpPr/>
          <p:nvPr/>
        </p:nvSpPr>
        <p:spPr>
          <a:xfrm>
            <a:off x="8618219" y="2683764"/>
            <a:ext cx="320040" cy="320040"/>
          </a:xfrm>
          <a:prstGeom prst="star5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58200" y="3310128"/>
            <a:ext cx="27432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450" b="1">
                <a:solidFill>
                  <a:srgbClr val="10203C"/>
                </a:solidFill>
              </a:defRPr>
            </a:pPr>
            <a:r>
              <a:t>모임 단위이면서</a:t>
            </a:r>
          </a:p>
          <a:p>
            <a:pPr algn="l">
              <a:lnSpc>
                <a:spcPct val="125000"/>
              </a:lnSpc>
              <a:defRPr sz="1450" b="1">
                <a:solidFill>
                  <a:srgbClr val="10203C"/>
                </a:solidFill>
              </a:defRPr>
            </a:pPr>
            <a:r>
              <a:t>마찰이 없는 서비스가 없다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950208"/>
            <a:ext cx="2743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050" b="0">
                <a:solidFill>
                  <a:srgbClr val="5A6B87"/>
                </a:solidFill>
              </a:defRPr>
            </a:pPr>
            <a:r>
              <a:t>기존 서비스는 모두 상시 공유이거나 앱 설치·친구 관계를 전제한다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6583680" y="-3291840"/>
            <a:ext cx="8046720" cy="8046720"/>
          </a:xfrm>
          <a:prstGeom prst="ellipse">
            <a:avLst/>
          </a:prstGeom>
          <a:gradFill rotWithShape="1">
            <a:gsLst>
              <a:gs pos="0">
                <a:srgbClr val="DBE8FE"/>
              </a:gs>
              <a:gs pos="82000">
                <a:srgbClr val="FFFFFF"/>
              </a:gs>
              <a:gs pos="100000">
                <a:srgbClr val="FFFFFF"/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04 · 경쟁 지형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카카오가 채우지 못하는 세 가지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64208"/>
            <a:ext cx="338328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1051560" y="192024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249070" y="2132380"/>
            <a:ext cx="109728" cy="109728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475841" y="2132380"/>
            <a:ext cx="109728" cy="109728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355140" y="2103120"/>
            <a:ext cx="124358" cy="124358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1303934" y="2264054"/>
            <a:ext cx="226771" cy="146304"/>
          </a:xfrm>
          <a:prstGeom prst="roundRect">
            <a:avLst>
              <a:gd name="adj" fmla="val 45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85292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500" b="1">
                <a:solidFill>
                  <a:srgbClr val="10203C"/>
                </a:solidFill>
              </a:defRPr>
            </a:pPr>
            <a:r>
              <a:t>친구 관계 전제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4747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5A6B87"/>
                </a:solidFill>
              </a:defRPr>
            </a:pPr>
            <a:r>
              <a:t>카카오톡 친구 + 앱 설치가 필요하다.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5A6B87"/>
                </a:solidFill>
              </a:defRPr>
            </a:pPr>
            <a:r>
              <a:t>오픈채팅으로 모인 그룹, 처음 만난 사람,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5A6B87"/>
                </a:solidFill>
              </a:defRPr>
            </a:pPr>
            <a:r>
              <a:t>외국인 참여자는 사실상 쓰기 어렵다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7" y="1664208"/>
            <a:ext cx="338328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4727447" y="192024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ntagon 15"/>
          <p:cNvSpPr/>
          <p:nvPr/>
        </p:nvSpPr>
        <p:spPr>
          <a:xfrm rot="5400000">
            <a:off x="4932273" y="2103120"/>
            <a:ext cx="321868" cy="365760"/>
          </a:xfrm>
          <a:prstGeom prst="homePlat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818888" y="2077516"/>
            <a:ext cx="5486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4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7" y="285292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500" b="1">
                <a:solidFill>
                  <a:srgbClr val="10203C"/>
                </a:solidFill>
              </a:defRPr>
            </a:pPr>
            <a:r>
              <a:t>모임 단위 본인확인 부재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7" y="34747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5A6B87"/>
                </a:solidFill>
              </a:defRPr>
            </a:pPr>
            <a:r>
              <a:t>친구 관계만 요구하고 참여자 확인 절차는 없다.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5A6B87"/>
                </a:solidFill>
              </a:defRPr>
            </a:pPr>
            <a:r>
              <a:t>신뢰가 필요한 행사·기관 단위 활용에는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5A6B87"/>
                </a:solidFill>
              </a:defRPr>
            </a:pPr>
            <a:r>
              <a:t>적합하지 않다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664208"/>
            <a:ext cx="338328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03336" y="192024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8666683" y="2103120"/>
            <a:ext cx="204825" cy="365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794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732520" y="2136038"/>
            <a:ext cx="73152" cy="25603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8743492" y="2384755"/>
            <a:ext cx="51206" cy="51206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403336" y="285292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500" b="1">
                <a:solidFill>
                  <a:srgbClr val="10203C"/>
                </a:solidFill>
              </a:defRPr>
            </a:pPr>
            <a:r>
              <a:t>내비와 동시 사용 제약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3336" y="34747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5A6B87"/>
                </a:solidFill>
              </a:defRPr>
            </a:pPr>
            <a:r>
              <a:t>주행 중 친구 위치 화면으로 이동하면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5A6B87"/>
                </a:solidFill>
              </a:defRPr>
            </a:pPr>
            <a:r>
              <a:t>길안내가 중단된다.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5A6B87"/>
                </a:solidFill>
              </a:defRPr>
            </a:pPr>
            <a:r>
              <a:t>내비와 친구 위치를 함께 볼 수 없다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956048"/>
            <a:ext cx="1072865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1">
                <a:solidFill>
                  <a:srgbClr val="1348C0"/>
                </a:solidFill>
              </a:defRPr>
            </a:pPr>
            <a:r>
              <a:t>세 가지 모두 “카카오톡 친구끼리, 상시로”라는 전제에서 나온다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58384"/>
            <a:ext cx="107286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150" b="0">
                <a:solidFill>
                  <a:srgbClr val="5A6B87"/>
                </a:solidFill>
              </a:defRPr>
            </a:pPr>
            <a:r>
              <a:t>그 전제를 쓰지 않는 서비스라면 겹치지 않는 자리를 잡을 수 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7040880" y="0"/>
            <a:ext cx="5212080" cy="6858000"/>
          </a:xfrm>
          <a:prstGeom prst="roundRect">
            <a:avLst>
              <a:gd name="adj" fmla="val 3000"/>
            </a:avLst>
          </a:prstGeom>
          <a:gradFill rotWithShape="1">
            <a:gsLst>
              <a:gs pos="0">
                <a:srgbClr val="DBE8FE"/>
              </a:gs>
              <a:gs pos="100000">
                <a:srgbClr val="FFFFFF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05 · 전략적 적합성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왜 우리 회사가 하기에 맞는가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1072865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0">
                <a:solidFill>
                  <a:srgbClr val="5A6B87"/>
                </a:solidFill>
              </a:defRPr>
            </a:pPr>
            <a:r>
              <a:t>이 자리를 잡으려면 본인확인·배포 채널·규제 대응이 동시에 필요하다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38528"/>
            <a:ext cx="33832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051560" y="2157984"/>
            <a:ext cx="694944" cy="694944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Block Arc 8"/>
          <p:cNvSpPr/>
          <p:nvPr/>
        </p:nvSpPr>
        <p:spPr>
          <a:xfrm>
            <a:off x="1305214" y="2331720"/>
            <a:ext cx="187634" cy="194584"/>
          </a:xfrm>
          <a:prstGeom prst="blockArc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1273942" y="2477658"/>
            <a:ext cx="250179" cy="194584"/>
          </a:xfrm>
          <a:prstGeom prst="roundRect">
            <a:avLst>
              <a:gd name="adj" fmla="val 16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374708" y="2547152"/>
            <a:ext cx="48646" cy="4864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96265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10203C"/>
                </a:solidFill>
              </a:defRPr>
            </a:pPr>
            <a:r>
              <a:t>PASS 본인확인 인프라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46704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defRPr sz="1100" b="0">
                <a:solidFill>
                  <a:srgbClr val="5A6B87"/>
                </a:solidFill>
              </a:defRPr>
            </a:pPr>
            <a:r>
              <a:t>카카오가 제공하지 않는 차별점을</a:t>
            </a:r>
          </a:p>
          <a:p>
            <a:pPr algn="l">
              <a:lnSpc>
                <a:spcPct val="135000"/>
              </a:lnSpc>
              <a:defRPr sz="1100" b="0">
                <a:solidFill>
                  <a:srgbClr val="5A6B87"/>
                </a:solidFill>
              </a:defRPr>
            </a:pPr>
            <a:r>
              <a:t>내부 역량으로 결합할 수 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7" y="1938528"/>
            <a:ext cx="33832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4727447" y="2157984"/>
            <a:ext cx="694944" cy="694944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4915082" y="2359517"/>
            <a:ext cx="104241" cy="104241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130515" y="2359517"/>
            <a:ext cx="104241" cy="104241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015849" y="2331720"/>
            <a:ext cx="118140" cy="118140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4967203" y="2484607"/>
            <a:ext cx="215432" cy="138988"/>
          </a:xfrm>
          <a:prstGeom prst="roundRect">
            <a:avLst>
              <a:gd name="adj" fmla="val 45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727447" y="296265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10203C"/>
                </a:solidFill>
              </a:defRPr>
            </a:pPr>
            <a:r>
              <a:t>U+ PASS 채널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7" y="3346704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defRPr sz="1100" b="0">
                <a:solidFill>
                  <a:srgbClr val="5A6B87"/>
                </a:solidFill>
              </a:defRPr>
            </a:pPr>
            <a:r>
              <a:t>PASS 3사 합산 약 2,600만 이용자.</a:t>
            </a:r>
          </a:p>
          <a:p>
            <a:pPr algn="l">
              <a:lnSpc>
                <a:spcPct val="135000"/>
              </a:lnSpc>
              <a:defRPr sz="1100" b="0">
                <a:solidFill>
                  <a:srgbClr val="5A6B87"/>
                </a:solidFill>
              </a:defRPr>
            </a:pPr>
            <a:r>
              <a:t>3사 협의 없이 U+ 단독으로 시작 가능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3296" y="1938528"/>
            <a:ext cx="33832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8403336" y="2157984"/>
            <a:ext cx="694944" cy="694944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Pentagon 23"/>
          <p:cNvSpPr/>
          <p:nvPr/>
        </p:nvSpPr>
        <p:spPr>
          <a:xfrm rot="5400000">
            <a:off x="8597920" y="2331720"/>
            <a:ext cx="305775" cy="347472"/>
          </a:xfrm>
          <a:prstGeom prst="homePlat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476488" y="2297338"/>
            <a:ext cx="5486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988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3336" y="296265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>
                <a:solidFill>
                  <a:srgbClr val="10203C"/>
                </a:solidFill>
              </a:defRPr>
            </a:pPr>
            <a:r>
              <a:t>위치정보·보안 심사 대응력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6" y="3346704"/>
            <a:ext cx="2788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defRPr sz="1100" b="0">
                <a:solidFill>
                  <a:srgbClr val="5A6B87"/>
                </a:solidFill>
              </a:defRPr>
            </a:pPr>
            <a:r>
              <a:t>신규 진입자에게 가장 높은 벽을</a:t>
            </a:r>
          </a:p>
          <a:p>
            <a:pPr algn="l">
              <a:lnSpc>
                <a:spcPct val="135000"/>
              </a:lnSpc>
              <a:defRPr sz="1100" b="0">
                <a:solidFill>
                  <a:srgbClr val="5A6B87"/>
                </a:solidFill>
              </a:defRPr>
            </a:pPr>
            <a:r>
              <a:t>이미 넘을 수 있는 조직이다</a:t>
            </a:r>
          </a:p>
        </p:txBody>
      </p:sp>
      <p:sp>
        <p:nvSpPr>
          <p:cNvPr id="28" name="Chevron 27"/>
          <p:cNvSpPr/>
          <p:nvPr/>
        </p:nvSpPr>
        <p:spPr>
          <a:xfrm rot="5400000">
            <a:off x="2295144" y="4133088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Chevron 28"/>
          <p:cNvSpPr/>
          <p:nvPr/>
        </p:nvSpPr>
        <p:spPr>
          <a:xfrm rot="5400000">
            <a:off x="5971032" y="4133088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Chevron 29"/>
          <p:cNvSpPr/>
          <p:nvPr/>
        </p:nvSpPr>
        <p:spPr>
          <a:xfrm rot="5400000">
            <a:off x="9646919" y="4133088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731520" y="4681728"/>
            <a:ext cx="10728655" cy="1115568"/>
          </a:xfrm>
          <a:prstGeom prst="roundRect">
            <a:avLst>
              <a:gd name="adj" fmla="val 9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31520" y="4937760"/>
            <a:ext cx="107286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세 자산이 동시에 필요하다 — 그래서 아무나 할 수 없다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358384"/>
            <a:ext cx="107286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150" b="0">
                <a:solidFill>
                  <a:srgbClr val="DBE8FE"/>
                </a:solidFill>
              </a:defRPr>
            </a:pPr>
            <a:r>
              <a:t>본인확인 · 통신사 채널 · 규제 대응이 이 아이디어의 방어선이 된다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-2194560" y="-237744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DBE8FE"/>
              </a:gs>
              <a:gs pos="82000">
                <a:srgbClr val="FFFFFF"/>
              </a:gs>
              <a:gs pos="100000">
                <a:srgbClr val="FFFFFF"/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680960" y="2560320"/>
            <a:ext cx="7315200" cy="7315200"/>
          </a:xfrm>
          <a:prstGeom prst="ellipse">
            <a:avLst/>
          </a:prstGeom>
          <a:gradFill rotWithShape="1">
            <a:gsLst>
              <a:gs pos="0">
                <a:srgbClr val="DBE8FE"/>
              </a:gs>
              <a:gs pos="82000">
                <a:srgbClr val="FFFFFF"/>
              </a:gs>
              <a:gs pos="100000">
                <a:srgbClr val="FFFFFF"/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06 · 채널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3채널의 역할 분담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52144"/>
            <a:ext cx="1072865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0">
                <a:solidFill>
                  <a:srgbClr val="5A6B87"/>
                </a:solidFill>
              </a:defRPr>
            </a:pPr>
            <a:r>
              <a:t>같은 기능을 세 채널에 복제하지 않고, 채널마다 임무를 나눈다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01952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2039112" y="2139696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2231136" y="2377805"/>
            <a:ext cx="384048" cy="2918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794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231136" y="2377805"/>
            <a:ext cx="384048" cy="69128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2261859" y="2397008"/>
            <a:ext cx="24963" cy="2496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2304105" y="2397008"/>
            <a:ext cx="24963" cy="2496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2346350" y="2397008"/>
            <a:ext cx="24963" cy="2496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" y="3054096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600" b="1">
                <a:solidFill>
                  <a:srgbClr val="10203C"/>
                </a:solidFill>
              </a:defRPr>
            </a:pPr>
            <a:r>
              <a:t>모바일 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3438144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50" b="1">
                <a:solidFill>
                  <a:srgbClr val="1348C0"/>
                </a:solidFill>
              </a:defRPr>
            </a:pPr>
            <a:r>
              <a:t>초대받은 사람의 진입로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95020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defRPr sz="1050" b="0">
                <a:solidFill>
                  <a:srgbClr val="5A6B87"/>
                </a:solidFill>
              </a:defRPr>
            </a:pPr>
            <a:r>
              <a:t>참석자는 통신사가 섞여 있다.</a:t>
            </a:r>
          </a:p>
          <a:p>
            <a:pPr algn="l">
              <a:lnSpc>
                <a:spcPct val="135000"/>
              </a:lnSpc>
              <a:defRPr sz="1050" b="0">
                <a:solidFill>
                  <a:srgbClr val="5A6B87"/>
                </a:solidFill>
              </a:defRPr>
            </a:pPr>
            <a:r>
              <a:t>누구나 링크로 들어올 경로가 필요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407" y="1901952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5714999" y="2139696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5907023" y="2331720"/>
            <a:ext cx="384048" cy="384048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824727" y="2322575"/>
            <a:ext cx="5486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92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7" y="3054096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600" b="1">
                <a:solidFill>
                  <a:srgbClr val="10203C"/>
                </a:solidFill>
              </a:defRPr>
            </a:pPr>
            <a:r>
              <a:t>PASS 인앱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81727" y="3438144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50" b="1">
                <a:solidFill>
                  <a:srgbClr val="1348C0"/>
                </a:solidFill>
              </a:defRPr>
            </a:pPr>
            <a:r>
              <a:t>본인확인이 필요한 모임·행사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7" y="395020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defRPr sz="1050" b="0">
                <a:solidFill>
                  <a:srgbClr val="5A6B87"/>
                </a:solidFill>
              </a:defRPr>
            </a:pPr>
            <a:r>
              <a:t>주최자 경로로 한정한다.</a:t>
            </a:r>
          </a:p>
          <a:p>
            <a:pPr algn="l">
              <a:lnSpc>
                <a:spcPct val="135000"/>
              </a:lnSpc>
              <a:defRPr sz="1050" b="0">
                <a:solidFill>
                  <a:srgbClr val="5A6B87"/>
                </a:solidFill>
              </a:defRPr>
            </a:pPr>
            <a:r>
              <a:t>초대받는 쪽을 유도하면 강점이 사라진다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3296" y="1901952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9390888" y="2139696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9667402" y="2331720"/>
            <a:ext cx="215066" cy="3840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794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9736531" y="2366284"/>
            <a:ext cx="76809" cy="25603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748052" y="2627436"/>
            <a:ext cx="53766" cy="53766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083296" y="3054096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600" b="1">
                <a:solidFill>
                  <a:srgbClr val="10203C"/>
                </a:solidFill>
              </a:defRPr>
            </a:pPr>
            <a:r>
              <a:t>자체 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57616" y="3438144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050" b="1">
                <a:solidFill>
                  <a:srgbClr val="1348C0"/>
                </a:solidFill>
              </a:defRPr>
            </a:pPr>
            <a:r>
              <a:t>이동 중 지속 공유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03336" y="395020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defRPr sz="1050" b="0">
                <a:solidFill>
                  <a:srgbClr val="5A6B87"/>
                </a:solidFill>
              </a:defRPr>
            </a:pPr>
            <a:r>
              <a:t>웹은 백그라운드 추적이 불가하다.</a:t>
            </a:r>
          </a:p>
          <a:p>
            <a:pPr algn="l">
              <a:lnSpc>
                <a:spcPct val="135000"/>
              </a:lnSpc>
              <a:defRPr sz="1050" b="0">
                <a:solidFill>
                  <a:srgbClr val="5A6B87"/>
                </a:solidFill>
              </a:defRPr>
            </a:pPr>
            <a:r>
              <a:t>운전자 시나리오는 네이티브가 필요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956048"/>
            <a:ext cx="1072865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50" b="1">
                <a:solidFill>
                  <a:srgbClr val="1348C0"/>
                </a:solidFill>
              </a:defRPr>
            </a:pPr>
            <a:r>
              <a:t>웹은 진입, PASS는 신뢰, 자체 앱은 지속 — 겹치지 않는다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E8FE"/>
              </a:gs>
              <a:gs pos="58000">
                <a:srgbClr val="FFFFFF"/>
              </a:gs>
              <a:gs pos="100000">
                <a:srgbClr val="FFFFFF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86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07 · 기대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무엇을 얻을 수 있는가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50592" cy="2926080"/>
          </a:xfrm>
          <a:prstGeom prst="roundRect">
            <a:avLst>
              <a:gd name="adj" fmla="val 6000"/>
            </a:avLst>
          </a:prstGeom>
          <a:solidFill>
            <a:srgbClr val="1C60EF"/>
          </a:solidFill>
          <a:ln w="1270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005840" y="2084831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175004" y="2253996"/>
            <a:ext cx="338328" cy="338328"/>
          </a:xfrm>
          <a:prstGeom prst="ellipse">
            <a:avLst/>
          </a:prstGeom>
          <a:noFill/>
          <a:ln w="2794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325880" y="2304745"/>
            <a:ext cx="36576" cy="236829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279885" y="2372410"/>
            <a:ext cx="128564" cy="32004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279885" y="2446842"/>
            <a:ext cx="128564" cy="32004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2359152" y="2194560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900" b="1">
                <a:solidFill>
                  <a:srgbClr val="1C60EF"/>
                </a:solidFill>
              </a:defRPr>
            </a:pPr>
            <a:r>
              <a:t>핵심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62656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1">
                <a:solidFill>
                  <a:srgbClr val="FFFFFF"/>
                </a:solidFill>
              </a:defRPr>
            </a:pPr>
            <a:r>
              <a:t>신규 B2B 라인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21024"/>
            <a:ext cx="1965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defRPr sz="1050" b="0">
                <a:solidFill>
                  <a:srgbClr val="DBE8FE"/>
                </a:solidFill>
              </a:defRPr>
            </a:pPr>
            <a:r>
              <a:t>행사·모임 주최 대상</a:t>
            </a:r>
          </a:p>
          <a:p>
            <a:pPr algn="l">
              <a:lnSpc>
                <a:spcPct val="135000"/>
              </a:lnSpc>
              <a:defRPr sz="1050" b="0">
                <a:solidFill>
                  <a:srgbClr val="DBE8FE"/>
                </a:solidFill>
              </a:defRPr>
            </a:pPr>
            <a:r>
              <a:t>본인확인이 결합된 위치 공유는 대체재가 없다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3863" y="1828800"/>
            <a:ext cx="2450592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3758183" y="2084831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3927348" y="2253996"/>
            <a:ext cx="338328" cy="338328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822191" y="2221991"/>
            <a:ext cx="5486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961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8183" y="2962656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1">
                <a:solidFill>
                  <a:srgbClr val="10203C"/>
                </a:solidFill>
              </a:defRPr>
            </a:pPr>
            <a:r>
              <a:t>PASS 인증 건수 증대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8183" y="3621024"/>
            <a:ext cx="1965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defRPr sz="1050" b="0">
                <a:solidFill>
                  <a:srgbClr val="5A6B87"/>
                </a:solidFill>
              </a:defRPr>
            </a:pPr>
            <a:r>
              <a:t>모임 참여마다 본인확인이 발생한다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7" y="1828800"/>
            <a:ext cx="2450592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510527" y="2084831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679692" y="2294595"/>
            <a:ext cx="338328" cy="25712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794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79692" y="2294595"/>
            <a:ext cx="338328" cy="60899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706758" y="2311511"/>
            <a:ext cx="21991" cy="2199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743974" y="2311511"/>
            <a:ext cx="21991" cy="2199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6781190" y="2311511"/>
            <a:ext cx="21991" cy="2199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10527" y="2962656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1">
                <a:solidFill>
                  <a:srgbClr val="10203C"/>
                </a:solidFill>
              </a:defRPr>
            </a:pPr>
            <a:r>
              <a:t>PASS 채널 가치 확장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7" y="3621024"/>
            <a:ext cx="1965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defRPr sz="1050" b="0">
                <a:solidFill>
                  <a:srgbClr val="5A6B87"/>
                </a:solidFill>
              </a:defRPr>
            </a:pPr>
            <a:r>
              <a:t>인증 외 생활 영역으로 이용 목적을 넓힌다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88552" y="1828800"/>
            <a:ext cx="2450592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9262872" y="2084831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9465868" y="2470525"/>
            <a:ext cx="71048" cy="121798"/>
          </a:xfrm>
          <a:prstGeom prst="roundRect">
            <a:avLst>
              <a:gd name="adj" fmla="val 25000"/>
            </a:avLst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9570750" y="2375794"/>
            <a:ext cx="71048" cy="216529"/>
          </a:xfrm>
          <a:prstGeom prst="roundRect">
            <a:avLst>
              <a:gd name="adj" fmla="val 25000"/>
            </a:avLst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9675632" y="2281062"/>
            <a:ext cx="71048" cy="311261"/>
          </a:xfrm>
          <a:prstGeom prst="roundRect">
            <a:avLst>
              <a:gd name="adj" fmla="val 25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262872" y="2962656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1">
                <a:solidFill>
                  <a:srgbClr val="10203C"/>
                </a:solidFill>
              </a:defRPr>
            </a:pPr>
            <a:r>
              <a:t>위치기반 신사업 진입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2872" y="3621024"/>
            <a:ext cx="1965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defRPr sz="1050" b="0">
                <a:solidFill>
                  <a:srgbClr val="5A6B87"/>
                </a:solidFill>
              </a:defRPr>
            </a:pPr>
            <a:r>
              <a:t>모임·행사 데이터를 축적하는 첫 접점이 된다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074920"/>
            <a:ext cx="1072865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1">
                <a:solidFill>
                  <a:srgbClr val="1348C0"/>
                </a:solidFill>
              </a:defRPr>
            </a:pPr>
            <a:r>
              <a:t>B2C 광고 단독 모델이 아니라, 신뢰가 필요한 영역에서 값을 받는 구조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2377440" y="3566160"/>
            <a:ext cx="8046720" cy="8046720"/>
          </a:xfrm>
          <a:prstGeom prst="ellipse">
            <a:avLst/>
          </a:prstGeom>
          <a:gradFill rotWithShape="1">
            <a:gsLst>
              <a:gs pos="0">
                <a:srgbClr val="DBE8FE"/>
              </a:gs>
              <a:gs pos="82000">
                <a:srgbClr val="FFFFFF"/>
              </a:gs>
              <a:gs pos="100000">
                <a:srgbClr val="FFFFFF"/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5884712" y="1298448"/>
            <a:ext cx="410382" cy="410382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Isosceles Triangle 4"/>
          <p:cNvSpPr/>
          <p:nvPr/>
        </p:nvSpPr>
        <p:spPr>
          <a:xfrm rot="10800000">
            <a:off x="5975238" y="1612270"/>
            <a:ext cx="229331" cy="265541"/>
          </a:xfrm>
          <a:prstGeom prst="triangl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6017483" y="1431218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2212848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3000" b="1">
                <a:solidFill>
                  <a:srgbClr val="10203C"/>
                </a:solidFill>
              </a:defRPr>
            </a:pPr>
            <a:r>
              <a:t>모임 단위 위치 공유는 카카오가 비워둔 자리다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62656"/>
            <a:ext cx="107286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600" b="0">
                <a:solidFill>
                  <a:srgbClr val="5A6B87"/>
                </a:solidFill>
              </a:defRPr>
            </a:pPr>
            <a:r>
              <a:t>그리고 그 자리를 채우는 데 필요한 것을, 우리는 이미 갖고 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3886200"/>
            <a:ext cx="21031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Block Arc 9"/>
          <p:cNvSpPr/>
          <p:nvPr/>
        </p:nvSpPr>
        <p:spPr>
          <a:xfrm>
            <a:off x="4193987" y="4087368"/>
            <a:ext cx="207385" cy="215066"/>
          </a:xfrm>
          <a:prstGeom prst="blockArc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159422" y="4248668"/>
            <a:ext cx="276514" cy="215066"/>
          </a:xfrm>
          <a:prstGeom prst="roundRect">
            <a:avLst>
              <a:gd name="adj" fmla="val 16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270796" y="4325477"/>
            <a:ext cx="53766" cy="5376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246120" y="4626864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50" b="1">
                <a:solidFill>
                  <a:srgbClr val="10203C"/>
                </a:solidFill>
              </a:defRPr>
            </a:pPr>
            <a:r>
              <a:t>본인확인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3886200"/>
            <a:ext cx="21031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955657" y="4118091"/>
            <a:ext cx="115214" cy="115214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7193767" y="4118091"/>
            <a:ext cx="115214" cy="115214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067031" y="4087368"/>
            <a:ext cx="130576" cy="130576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7013265" y="4256349"/>
            <a:ext cx="238109" cy="153619"/>
          </a:xfrm>
          <a:prstGeom prst="roundRect">
            <a:avLst>
              <a:gd name="adj" fmla="val 45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80760" y="4626864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50" b="1">
                <a:solidFill>
                  <a:srgbClr val="10203C"/>
                </a:solidFill>
              </a:defRPr>
            </a:pPr>
            <a:r>
              <a:t>통신사 채널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3886200"/>
            <a:ext cx="21031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ntagon 20"/>
          <p:cNvSpPr/>
          <p:nvPr/>
        </p:nvSpPr>
        <p:spPr>
          <a:xfrm rot="5400000">
            <a:off x="9797978" y="4087368"/>
            <a:ext cx="337962" cy="384048"/>
          </a:xfrm>
          <a:prstGeom prst="homePlat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0" y="4070543"/>
            <a:ext cx="5486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92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4626864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50" b="1">
                <a:solidFill>
                  <a:srgbClr val="10203C"/>
                </a:solidFill>
              </a:defRPr>
            </a:pPr>
            <a:r>
              <a:t>규제 대응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7784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150" b="0">
                <a:solidFill>
                  <a:srgbClr val="9FADC4"/>
                </a:solidFill>
              </a:defRPr>
            </a:pPr>
            <a:r>
              <a:t>어디쯤 × 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