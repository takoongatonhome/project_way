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3"/>
    <p:restoredTop sz="94647"/>
  </p:normalViewPr>
  <p:slideViewPr>
    <p:cSldViewPr snapToGrid="0" snapToObjects="1">
      <p:cViewPr varScale="1">
        <p:scale>
          <a:sx n="141" d="100"/>
          <a:sy n="141" d="100"/>
        </p:scale>
        <p:origin x="3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0515600" cy="1470025"/>
          </a:xfrm>
        </p:spPr>
        <p:txBody>
          <a:bodyPr/>
          <a:lstStyle/>
          <a:p>
            <a:pPr>
              <a:defRPr sz="4600" b="1">
                <a:solidFill>
                  <a:srgbClr val="1E2A4A"/>
                </a:solidFill>
              </a:defRPr>
            </a:pPr>
            <a:r>
              <a:rPr dirty="0" err="1"/>
              <a:t>어디쯤</a:t>
            </a:r>
            <a:r>
              <a:rPr dirty="0"/>
              <a:t> × PASS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525A72"/>
                </a:solidFill>
              </a:defRPr>
            </a:pPr>
            <a:r>
              <a:t>모임 참석자의 실시간 위치·도착 예정 시간(ETA) 공유 서비스를</a:t>
            </a:r>
          </a:p>
          <a:p>
            <a:pPr>
              <a:defRPr sz="1600">
                <a:solidFill>
                  <a:srgbClr val="525A72"/>
                </a:solidFill>
              </a:defRPr>
            </a:pPr>
            <a:r>
              <a:t>PASS 본인확인 인프라와 U+ PASS 채널을 활용해 사업화하는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868EA4"/>
                </a:solidFill>
              </a:defRPr>
            </a:pPr>
            <a:r>
              <a:t>사내 사업 제안 · 타당성 검토 요청     |     1차 검토 대상: 사업기획·전략     |     현 단계: 프로토타입 동작 검증 완료     |     2026-09-08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881360" cy="731520"/>
          </a:xfrm>
        </p:spPr>
        <p:txBody>
          <a:bodyPr wrap="square" anchor="t"/>
          <a:lstStyle/>
          <a:p>
            <a:pPr algn="l">
              <a:defRPr sz="2600" b="1">
                <a:solidFill>
                  <a:srgbClr val="1E2A4A"/>
                </a:solidFill>
              </a:defRPr>
            </a:pPr>
            <a:r>
              <a:t>핵심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"/>
            <a:ext cx="7315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 b="1">
                <a:solidFill>
                  <a:srgbClr val="868EA4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881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1. 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문제는</a:t>
            </a:r>
            <a:r>
              <a:rPr dirty="0"/>
              <a:t> </a:t>
            </a:r>
            <a:r>
              <a:rPr dirty="0" err="1"/>
              <a:t>실재하는</a:t>
            </a:r>
            <a:r>
              <a:rPr dirty="0"/>
              <a:t> </a:t>
            </a:r>
            <a:r>
              <a:rPr dirty="0" err="1"/>
              <a:t>불편이다</a:t>
            </a:r>
            <a:r>
              <a:rPr dirty="0"/>
              <a:t> —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도착한</a:t>
            </a:r>
            <a:r>
              <a:rPr dirty="0"/>
              <a:t> </a:t>
            </a:r>
            <a:r>
              <a:rPr dirty="0" err="1"/>
              <a:t>사람은</a:t>
            </a:r>
            <a:r>
              <a:rPr dirty="0"/>
              <a:t> </a:t>
            </a:r>
            <a:r>
              <a:rPr dirty="0" err="1"/>
              <a:t>늦는</a:t>
            </a:r>
            <a:r>
              <a:rPr dirty="0"/>
              <a:t> </a:t>
            </a:r>
            <a:r>
              <a:rPr dirty="0" err="1"/>
              <a:t>사람이</a:t>
            </a:r>
            <a:r>
              <a:rPr dirty="0"/>
              <a:t> </a:t>
            </a:r>
            <a:r>
              <a:rPr dirty="0" err="1"/>
              <a:t>언제</a:t>
            </a:r>
            <a:r>
              <a:rPr dirty="0"/>
              <a:t> </a:t>
            </a:r>
            <a:r>
              <a:rPr dirty="0" err="1"/>
              <a:t>오는지</a:t>
            </a:r>
            <a:r>
              <a:rPr dirty="0"/>
              <a:t> </a:t>
            </a:r>
            <a:r>
              <a:rPr dirty="0" err="1"/>
              <a:t>몰라</a:t>
            </a:r>
            <a:r>
              <a:rPr dirty="0"/>
              <a:t> </a:t>
            </a:r>
            <a:r>
              <a:rPr dirty="0" err="1"/>
              <a:t>기다릴지</a:t>
            </a:r>
            <a:r>
              <a:rPr dirty="0"/>
              <a:t> </a:t>
            </a:r>
            <a:r>
              <a:rPr dirty="0" err="1"/>
              <a:t>이동할지</a:t>
            </a:r>
            <a:r>
              <a:rPr dirty="0"/>
              <a:t> </a:t>
            </a:r>
            <a:r>
              <a:rPr dirty="0" err="1"/>
              <a:t>판단하지</a:t>
            </a:r>
            <a:r>
              <a:rPr dirty="0"/>
              <a:t> </a:t>
            </a:r>
            <a:r>
              <a:rPr dirty="0" err="1"/>
              <a:t>못한다</a:t>
            </a:r>
            <a:endParaRPr dirty="0"/>
          </a:p>
          <a:p>
            <a:pPr>
              <a:spcAft>
                <a:spcPts val="16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2.  </a:t>
            </a:r>
            <a:r>
              <a:rPr dirty="0" err="1"/>
              <a:t>동작하는</a:t>
            </a:r>
            <a:r>
              <a:rPr dirty="0"/>
              <a:t> </a:t>
            </a:r>
            <a:r>
              <a:rPr dirty="0" err="1"/>
              <a:t>프로토타입이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있다</a:t>
            </a:r>
            <a:r>
              <a:rPr dirty="0"/>
              <a:t> — </a:t>
            </a:r>
            <a:r>
              <a:rPr dirty="0" err="1"/>
              <a:t>지도·GPS·실시간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릴레이·ETA·도착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처리까지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완료</a:t>
            </a:r>
            <a:endParaRPr dirty="0"/>
          </a:p>
          <a:p>
            <a:pPr>
              <a:spcAft>
                <a:spcPts val="16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3.  </a:t>
            </a:r>
            <a:r>
              <a:rPr dirty="0" err="1"/>
              <a:t>카카오가</a:t>
            </a:r>
            <a:r>
              <a:rPr dirty="0"/>
              <a:t> </a:t>
            </a:r>
            <a:r>
              <a:rPr dirty="0" err="1"/>
              <a:t>채우지</a:t>
            </a:r>
            <a:r>
              <a:rPr dirty="0"/>
              <a:t> </a:t>
            </a:r>
            <a:r>
              <a:rPr dirty="0" err="1"/>
              <a:t>못하는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개의</a:t>
            </a:r>
            <a:r>
              <a:rPr dirty="0"/>
              <a:t> </a:t>
            </a:r>
            <a:r>
              <a:rPr dirty="0" err="1"/>
              <a:t>빈틈이</a:t>
            </a:r>
            <a:r>
              <a:rPr dirty="0"/>
              <a:t> </a:t>
            </a:r>
            <a:r>
              <a:rPr dirty="0" err="1"/>
              <a:t>있다</a:t>
            </a:r>
            <a:r>
              <a:rPr dirty="0"/>
              <a:t> — </a:t>
            </a:r>
            <a:r>
              <a:rPr dirty="0" err="1"/>
              <a:t>친구</a:t>
            </a:r>
            <a:r>
              <a:rPr dirty="0"/>
              <a:t> </a:t>
            </a:r>
            <a:r>
              <a:rPr dirty="0" err="1"/>
              <a:t>관계</a:t>
            </a:r>
            <a:r>
              <a:rPr dirty="0"/>
              <a:t> </a:t>
            </a:r>
            <a:r>
              <a:rPr dirty="0" err="1"/>
              <a:t>전제</a:t>
            </a:r>
            <a:r>
              <a:rPr dirty="0"/>
              <a:t>, </a:t>
            </a:r>
            <a:r>
              <a:rPr dirty="0" err="1"/>
              <a:t>모임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본인확인</a:t>
            </a:r>
            <a:r>
              <a:rPr dirty="0"/>
              <a:t> </a:t>
            </a:r>
            <a:r>
              <a:rPr dirty="0" err="1"/>
              <a:t>부재</a:t>
            </a:r>
            <a:r>
              <a:rPr dirty="0"/>
              <a:t>, </a:t>
            </a:r>
            <a:r>
              <a:rPr dirty="0" err="1"/>
              <a:t>내비게이션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제약</a:t>
            </a:r>
            <a:endParaRPr dirty="0"/>
          </a:p>
          <a:p>
            <a:pPr>
              <a:spcAft>
                <a:spcPts val="16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4. 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빈틈이</a:t>
            </a:r>
            <a:r>
              <a:rPr dirty="0"/>
              <a:t> </a:t>
            </a:r>
            <a:r>
              <a:rPr dirty="0" err="1"/>
              <a:t>우리</a:t>
            </a:r>
            <a:r>
              <a:rPr dirty="0"/>
              <a:t> </a:t>
            </a:r>
            <a:r>
              <a:rPr dirty="0" err="1"/>
              <a:t>자산과</a:t>
            </a:r>
            <a:r>
              <a:rPr dirty="0"/>
              <a:t> </a:t>
            </a:r>
            <a:r>
              <a:rPr dirty="0" err="1"/>
              <a:t>겹친다</a:t>
            </a:r>
            <a:r>
              <a:rPr dirty="0"/>
              <a:t> — PASS </a:t>
            </a:r>
            <a:r>
              <a:rPr dirty="0" err="1"/>
              <a:t>본인확인</a:t>
            </a:r>
            <a:r>
              <a:rPr dirty="0"/>
              <a:t> </a:t>
            </a:r>
            <a:r>
              <a:rPr dirty="0" err="1"/>
              <a:t>인프라</a:t>
            </a:r>
            <a:r>
              <a:rPr dirty="0"/>
              <a:t>, U+ PASS </a:t>
            </a:r>
            <a:r>
              <a:rPr dirty="0" err="1"/>
              <a:t>채널</a:t>
            </a:r>
            <a:r>
              <a:rPr dirty="0"/>
              <a:t>, </a:t>
            </a:r>
            <a:r>
              <a:rPr dirty="0" err="1"/>
              <a:t>위치정보·보안</a:t>
            </a:r>
            <a:r>
              <a:rPr dirty="0"/>
              <a:t>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대응력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40080" y="4892040"/>
            <a:ext cx="10908792" cy="12344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요청사항 — 내부 검토·타당성 조사 착수 및 담당자 지정</a:t>
            </a:r>
          </a:p>
          <a:p>
            <a:pPr>
              <a:spcBef>
                <a:spcPts val="600"/>
              </a:spcBef>
              <a:defRPr sz="1250">
                <a:solidFill>
                  <a:srgbClr val="DDE1EC"/>
                </a:solidFill>
              </a:defRPr>
            </a:pPr>
            <a:r>
              <a:t>이 단계에서 예산·인력 배정은 요청하지 않습니다. 프로토타입이 동작하므로 개발 착수 없이 시연과 자료 확인만으로 검토를 시작할 수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881360" cy="731520"/>
          </a:xfrm>
        </p:spPr>
        <p:txBody>
          <a:bodyPr wrap="square" anchor="t"/>
          <a:lstStyle/>
          <a:p>
            <a:pPr algn="l">
              <a:defRPr sz="2600" b="1">
                <a:solidFill>
                  <a:srgbClr val="1E2A4A"/>
                </a:solidFill>
              </a:defRPr>
            </a:pPr>
            <a:r>
              <a:t>해결하려는 문제와 서비스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"/>
            <a:ext cx="7315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 b="1">
                <a:solidFill>
                  <a:srgbClr val="868EA4"/>
                </a:solidFill>
              </a:defRPr>
            </a:pPr>
            <a:r>
              <a:t>01 · 제안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9293706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41A2B"/>
                </a:solidFill>
              </a:defRPr>
            </a:pPr>
            <a:r>
              <a:rPr dirty="0" err="1"/>
              <a:t>문제</a:t>
            </a:r>
            <a:endParaRPr dirty="0"/>
          </a:p>
          <a:p>
            <a:pPr>
              <a:spcAft>
                <a:spcPts val="9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—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도착한</a:t>
            </a:r>
            <a:r>
              <a:rPr dirty="0"/>
              <a:t> </a:t>
            </a:r>
            <a:r>
              <a:rPr dirty="0" err="1"/>
              <a:t>사람은</a:t>
            </a:r>
            <a:r>
              <a:rPr dirty="0"/>
              <a:t> </a:t>
            </a:r>
            <a:r>
              <a:rPr dirty="0" err="1"/>
              <a:t>늦는</a:t>
            </a:r>
            <a:r>
              <a:rPr dirty="0"/>
              <a:t> </a:t>
            </a:r>
            <a:r>
              <a:rPr dirty="0" err="1"/>
              <a:t>사람의</a:t>
            </a:r>
            <a:r>
              <a:rPr dirty="0"/>
              <a:t> </a:t>
            </a:r>
            <a:r>
              <a:rPr dirty="0" err="1"/>
              <a:t>도착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몰라</a:t>
            </a:r>
            <a:r>
              <a:rPr dirty="0"/>
              <a:t> </a:t>
            </a:r>
            <a:r>
              <a:rPr dirty="0" err="1"/>
              <a:t>대기와</a:t>
            </a:r>
            <a:r>
              <a:rPr dirty="0"/>
              <a:t> </a:t>
            </a:r>
            <a:r>
              <a:rPr dirty="0" err="1"/>
              <a:t>이동</a:t>
            </a:r>
            <a:r>
              <a:rPr dirty="0"/>
              <a:t> </a:t>
            </a:r>
            <a:r>
              <a:rPr dirty="0" err="1"/>
              <a:t>사이에서</a:t>
            </a:r>
            <a:r>
              <a:rPr dirty="0"/>
              <a:t> </a:t>
            </a:r>
            <a:r>
              <a:rPr dirty="0" err="1"/>
              <a:t>판단하지</a:t>
            </a:r>
            <a:r>
              <a:rPr dirty="0"/>
              <a:t> </a:t>
            </a:r>
            <a:r>
              <a:rPr dirty="0" err="1"/>
              <a:t>못한다</a:t>
            </a:r>
            <a:endParaRPr dirty="0"/>
          </a:p>
          <a:p>
            <a:pPr>
              <a:spcAft>
                <a:spcPts val="9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— </a:t>
            </a:r>
            <a:r>
              <a:rPr dirty="0" err="1"/>
              <a:t>출발</a:t>
            </a:r>
            <a:r>
              <a:rPr dirty="0"/>
              <a:t> </a:t>
            </a:r>
            <a:r>
              <a:rPr dirty="0" err="1"/>
              <a:t>여부·현재</a:t>
            </a:r>
            <a:r>
              <a:rPr dirty="0"/>
              <a:t> </a:t>
            </a:r>
            <a:r>
              <a:rPr dirty="0" err="1"/>
              <a:t>위치는</a:t>
            </a:r>
            <a:r>
              <a:rPr dirty="0"/>
              <a:t> </a:t>
            </a:r>
            <a:r>
              <a:rPr dirty="0" err="1"/>
              <a:t>매번</a:t>
            </a:r>
            <a:r>
              <a:rPr dirty="0"/>
              <a:t> </a:t>
            </a:r>
            <a:r>
              <a:rPr dirty="0" err="1"/>
              <a:t>물어봐야</a:t>
            </a:r>
            <a:r>
              <a:rPr dirty="0"/>
              <a:t> </a:t>
            </a:r>
            <a:r>
              <a:rPr dirty="0" err="1"/>
              <a:t>알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</a:t>
            </a:r>
            <a:r>
              <a:rPr dirty="0" err="1"/>
              <a:t>이동</a:t>
            </a:r>
            <a:r>
              <a:rPr dirty="0"/>
              <a:t> </a:t>
            </a:r>
            <a:r>
              <a:rPr dirty="0" err="1"/>
              <a:t>중인</a:t>
            </a:r>
            <a:r>
              <a:rPr dirty="0"/>
              <a:t> </a:t>
            </a:r>
            <a:r>
              <a:rPr dirty="0" err="1"/>
              <a:t>사람은</a:t>
            </a:r>
            <a:r>
              <a:rPr dirty="0"/>
              <a:t> </a:t>
            </a:r>
            <a:r>
              <a:rPr dirty="0" err="1"/>
              <a:t>답하기</a:t>
            </a:r>
            <a:r>
              <a:rPr dirty="0"/>
              <a:t> </a:t>
            </a:r>
            <a:r>
              <a:rPr dirty="0" err="1"/>
              <a:t>번거롭다</a:t>
            </a:r>
            <a:endParaRPr dirty="0"/>
          </a:p>
          <a:p>
            <a:pPr>
              <a:spcAft>
                <a:spcPts val="9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— </a:t>
            </a:r>
            <a:r>
              <a:rPr dirty="0" err="1"/>
              <a:t>따라서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정보는</a:t>
            </a:r>
            <a:r>
              <a:rPr dirty="0"/>
              <a:t> </a:t>
            </a:r>
            <a:r>
              <a:rPr dirty="0" err="1"/>
              <a:t>정확한</a:t>
            </a:r>
            <a:r>
              <a:rPr dirty="0"/>
              <a:t> </a:t>
            </a:r>
            <a:r>
              <a:rPr dirty="0" err="1"/>
              <a:t>위치가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'</a:t>
            </a:r>
            <a:r>
              <a:rPr dirty="0" err="1"/>
              <a:t>목적지까지</a:t>
            </a:r>
            <a:r>
              <a:rPr dirty="0"/>
              <a:t> </a:t>
            </a:r>
            <a:r>
              <a:rPr dirty="0" err="1"/>
              <a:t>남은</a:t>
            </a:r>
            <a:r>
              <a:rPr dirty="0"/>
              <a:t> </a:t>
            </a:r>
            <a:r>
              <a:rPr dirty="0" err="1"/>
              <a:t>시간'이다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3753294"/>
            <a:ext cx="7791539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41A2B"/>
                </a:solidFill>
              </a:defRPr>
            </a:pP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구조</a:t>
            </a:r>
            <a:endParaRPr dirty="0"/>
          </a:p>
          <a:p>
            <a:pPr>
              <a:spcAft>
                <a:spcPts val="9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— </a:t>
            </a:r>
            <a:r>
              <a:rPr dirty="0" err="1"/>
              <a:t>모임</a:t>
            </a:r>
            <a:r>
              <a:rPr dirty="0"/>
              <a:t>(</a:t>
            </a:r>
            <a:r>
              <a:rPr dirty="0" err="1"/>
              <a:t>장소·날짜·시간</a:t>
            </a:r>
            <a:r>
              <a:rPr dirty="0"/>
              <a:t>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 </a:t>
            </a:r>
            <a:r>
              <a:rPr dirty="0" err="1"/>
              <a:t>초대</a:t>
            </a:r>
            <a:r>
              <a:rPr dirty="0"/>
              <a:t> </a:t>
            </a:r>
            <a:r>
              <a:rPr dirty="0" err="1"/>
              <a:t>링크를</a:t>
            </a:r>
            <a:r>
              <a:rPr dirty="0"/>
              <a:t> </a:t>
            </a:r>
            <a:r>
              <a:rPr dirty="0" err="1"/>
              <a:t>공유한다</a:t>
            </a:r>
            <a:endParaRPr dirty="0"/>
          </a:p>
          <a:p>
            <a:pPr>
              <a:spcAft>
                <a:spcPts val="9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— </a:t>
            </a:r>
            <a:r>
              <a:rPr dirty="0" err="1"/>
              <a:t>참석자는</a:t>
            </a:r>
            <a:r>
              <a:rPr dirty="0"/>
              <a:t> </a:t>
            </a:r>
            <a:r>
              <a:rPr dirty="0" err="1"/>
              <a:t>설치·가입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닉네임만으로</a:t>
            </a:r>
            <a:r>
              <a:rPr dirty="0"/>
              <a:t> </a:t>
            </a:r>
            <a:r>
              <a:rPr dirty="0" err="1"/>
              <a:t>참여한다</a:t>
            </a:r>
            <a:endParaRPr dirty="0"/>
          </a:p>
          <a:p>
            <a:pPr>
              <a:spcAft>
                <a:spcPts val="9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— </a:t>
            </a: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공유는</a:t>
            </a:r>
            <a:r>
              <a:rPr dirty="0"/>
              <a:t> '</a:t>
            </a:r>
            <a:r>
              <a:rPr dirty="0" err="1"/>
              <a:t>출발'을</a:t>
            </a:r>
            <a:r>
              <a:rPr dirty="0"/>
              <a:t> </a:t>
            </a:r>
            <a:r>
              <a:rPr dirty="0" err="1"/>
              <a:t>눌러야</a:t>
            </a:r>
            <a:r>
              <a:rPr dirty="0"/>
              <a:t> </a:t>
            </a:r>
            <a:r>
              <a:rPr dirty="0" err="1"/>
              <a:t>시작된다</a:t>
            </a:r>
            <a:endParaRPr dirty="0"/>
          </a:p>
          <a:p>
            <a:pPr>
              <a:spcAft>
                <a:spcPts val="9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— </a:t>
            </a:r>
            <a:r>
              <a:rPr dirty="0" err="1"/>
              <a:t>목적지</a:t>
            </a:r>
            <a:r>
              <a:rPr dirty="0"/>
              <a:t> </a:t>
            </a:r>
            <a:r>
              <a:rPr dirty="0" err="1"/>
              <a:t>반경</a:t>
            </a:r>
            <a:r>
              <a:rPr dirty="0"/>
              <a:t> </a:t>
            </a:r>
            <a:r>
              <a:rPr dirty="0" err="1"/>
              <a:t>진입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종료되고</a:t>
            </a:r>
            <a:r>
              <a:rPr dirty="0"/>
              <a:t> </a:t>
            </a:r>
            <a:r>
              <a:rPr dirty="0" err="1"/>
              <a:t>도착</a:t>
            </a:r>
            <a:r>
              <a:rPr dirty="0"/>
              <a:t> </a:t>
            </a:r>
            <a:r>
              <a:rPr dirty="0" err="1"/>
              <a:t>명단에</a:t>
            </a:r>
            <a:r>
              <a:rPr dirty="0"/>
              <a:t> </a:t>
            </a:r>
            <a:r>
              <a:rPr dirty="0" err="1"/>
              <a:t>반영된다</a:t>
            </a:r>
            <a:endParaRPr dirty="0"/>
          </a:p>
          <a:p>
            <a:pPr>
              <a:spcAft>
                <a:spcPts val="9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— </a:t>
            </a:r>
            <a:r>
              <a:rPr dirty="0" err="1"/>
              <a:t>상시</a:t>
            </a:r>
            <a:r>
              <a:rPr dirty="0"/>
              <a:t> </a:t>
            </a:r>
            <a:r>
              <a:rPr dirty="0" err="1"/>
              <a:t>공유가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모임</a:t>
            </a:r>
            <a:r>
              <a:rPr dirty="0"/>
              <a:t> </a:t>
            </a:r>
            <a:r>
              <a:rPr dirty="0" err="1"/>
              <a:t>단위로</a:t>
            </a:r>
            <a:r>
              <a:rPr dirty="0"/>
              <a:t> </a:t>
            </a:r>
            <a:r>
              <a:rPr dirty="0" err="1"/>
              <a:t>켜지고</a:t>
            </a:r>
            <a:r>
              <a:rPr dirty="0"/>
              <a:t> </a:t>
            </a:r>
            <a:r>
              <a:rPr dirty="0" err="1"/>
              <a:t>꺼지는</a:t>
            </a:r>
            <a:r>
              <a:rPr dirty="0"/>
              <a:t> </a:t>
            </a:r>
            <a:r>
              <a:rPr dirty="0" err="1"/>
              <a:t>구조가</a:t>
            </a:r>
            <a:r>
              <a:rPr dirty="0"/>
              <a:t> </a:t>
            </a:r>
            <a:r>
              <a:rPr dirty="0" err="1"/>
              <a:t>수용성을</a:t>
            </a:r>
            <a:r>
              <a:rPr dirty="0"/>
              <a:t> </a:t>
            </a:r>
            <a:r>
              <a:rPr dirty="0" err="1"/>
              <a:t>만든다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881360" cy="731520"/>
          </a:xfrm>
        </p:spPr>
        <p:txBody>
          <a:bodyPr wrap="square" anchor="t"/>
          <a:lstStyle/>
          <a:p>
            <a:pPr algn="l">
              <a:defRPr sz="2600" b="1">
                <a:solidFill>
                  <a:srgbClr val="1E2A4A"/>
                </a:solidFill>
              </a:defRPr>
            </a:pPr>
            <a:r>
              <a:rPr dirty="0" err="1"/>
              <a:t>붐비는</a:t>
            </a:r>
            <a:r>
              <a:rPr dirty="0"/>
              <a:t> </a:t>
            </a:r>
            <a:r>
              <a:rPr dirty="0" err="1"/>
              <a:t>위치공유</a:t>
            </a:r>
            <a:r>
              <a:rPr dirty="0"/>
              <a:t> </a:t>
            </a:r>
            <a:r>
              <a:rPr dirty="0" err="1"/>
              <a:t>시장</a:t>
            </a:r>
            <a:r>
              <a:rPr dirty="0"/>
              <a:t>, </a:t>
            </a:r>
            <a:r>
              <a:rPr dirty="0" err="1"/>
              <a:t>비어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모임</a:t>
            </a:r>
            <a:r>
              <a:rPr dirty="0"/>
              <a:t> </a:t>
            </a:r>
            <a:r>
              <a:rPr dirty="0" err="1"/>
              <a:t>단위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146304"/>
            <a:ext cx="7315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 b="1">
                <a:solidFill>
                  <a:srgbClr val="868EA4"/>
                </a:solidFill>
              </a:defRPr>
            </a:pPr>
            <a:r>
              <a:t>02 · 시장·경쟁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501531"/>
              </p:ext>
            </p:extLst>
          </p:nvPr>
        </p:nvGraphicFramePr>
        <p:xfrm>
          <a:off x="640080" y="1463040"/>
          <a:ext cx="1088136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서비스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공유 방식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진입 조건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4F46E5"/>
                          </a:solidFill>
                        </a:defRPr>
                      </a:pPr>
                      <a:r>
                        <a:rPr dirty="0" err="1"/>
                        <a:t>어디쯤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제안</a:t>
                      </a:r>
                      <a:r>
                        <a:rPr dirty="0"/>
                        <a:t>)</a:t>
                      </a:r>
                    </a:p>
                  </a:txBody>
                  <a:tcPr marL="109728" marR="109728" marT="54864" marB="54864" anchor="ctr">
                    <a:solidFill>
                      <a:srgbClr val="E8E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모임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단위</a:t>
                      </a:r>
                      <a:r>
                        <a:rPr dirty="0"/>
                        <a:t> · </a:t>
                      </a:r>
                      <a:r>
                        <a:rPr dirty="0" err="1"/>
                        <a:t>출발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시작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도착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자동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종료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E8E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초대 링크만 — 설치·가입·친구관계 불필요</a:t>
                      </a:r>
                    </a:p>
                  </a:txBody>
                  <a:tcPr marL="109728" marR="109728" marT="54864" marB="54864" anchor="ctr">
                    <a:solidFill>
                      <a:srgbClr val="E8E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본인확인 결합 시 신뢰 기반 확보</a:t>
                      </a:r>
                    </a:p>
                  </a:txBody>
                  <a:tcPr marL="109728" marR="109728" marT="54864" marB="54864" anchor="ctr">
                    <a:solidFill>
                      <a:srgbClr val="E8E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카카오맵 친구위치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상시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또는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시간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지정</a:t>
                      </a:r>
                      <a:r>
                        <a:rPr dirty="0"/>
                        <a:t> · </a:t>
                      </a:r>
                      <a:r>
                        <a:rPr dirty="0" err="1"/>
                        <a:t>도착·근접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알림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카카오톡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친구</a:t>
                      </a:r>
                      <a:r>
                        <a:rPr dirty="0"/>
                        <a:t> + </a:t>
                      </a:r>
                      <a:r>
                        <a:rPr dirty="0" err="1"/>
                        <a:t>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설치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최대 경쟁자. 배포망·경로 ETA 우위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iSharing</a:t>
                      </a:r>
                      <a:r>
                        <a:rPr dirty="0"/>
                        <a:t> · </a:t>
                      </a:r>
                      <a:r>
                        <a:rPr dirty="0" err="1"/>
                        <a:t>도와줘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상시(always-on)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설치</a:t>
                      </a:r>
                      <a:r>
                        <a:rPr dirty="0"/>
                        <a:t> + </a:t>
                      </a:r>
                      <a:r>
                        <a:rPr dirty="0" err="1"/>
                        <a:t>가입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Zenly 종료 이후 반사이익 흡수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Life360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상시 + Meet-up(랠리포인트)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설치</a:t>
                      </a:r>
                      <a:r>
                        <a:rPr dirty="0"/>
                        <a:t> + Circle </a:t>
                      </a:r>
                      <a:r>
                        <a:rPr dirty="0" err="1"/>
                        <a:t>초대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가족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안전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포지셔닝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구독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모델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Zenly (2023 종료)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상시 · 캐주얼 위치공유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앱 설치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바이럴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성공에도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수익화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실패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6692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5A72"/>
                </a:solidFill>
              </a:defRPr>
            </a:pPr>
            <a:r>
              <a:t>Zenly 사례는 이 시장에서 B2C 단독 수익화가 어렵다는 반증 사례로 함께 검토해야 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881360" cy="731520"/>
          </a:xfrm>
        </p:spPr>
        <p:txBody>
          <a:bodyPr wrap="square" anchor="t"/>
          <a:lstStyle/>
          <a:p>
            <a:pPr algn="l">
              <a:defRPr sz="2600" b="1">
                <a:solidFill>
                  <a:srgbClr val="1E2A4A"/>
                </a:solidFill>
              </a:defRPr>
            </a:pPr>
            <a:r>
              <a:t>카카오가 채우지 못하는 세 개의 빈틈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"/>
            <a:ext cx="7315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 b="1">
                <a:solidFill>
                  <a:srgbClr val="868EA4"/>
                </a:solidFill>
              </a:defRPr>
            </a:pPr>
            <a:r>
              <a:t>02 · 시장·경쟁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770444"/>
              </p:ext>
            </p:extLst>
          </p:nvPr>
        </p:nvGraphicFramePr>
        <p:xfrm>
          <a:off x="640080" y="1463040"/>
          <a:ext cx="10881360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빈틈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내용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확인 수준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친구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관계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전제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카카오톡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친구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관계와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설치가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전제</a:t>
                      </a:r>
                      <a:r>
                        <a:rPr dirty="0"/>
                        <a:t>. </a:t>
                      </a:r>
                      <a:r>
                        <a:rPr dirty="0" err="1"/>
                        <a:t>오픈채팅으로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모인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그룹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처음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만난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사람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외국인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참여자는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사실상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사용이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어렵다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공식 확인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모임 단위 본인확인 부재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친구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관계만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요구하며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참여자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본인확인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절차는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없다</a:t>
                      </a:r>
                      <a:r>
                        <a:rPr dirty="0"/>
                        <a:t>. </a:t>
                      </a:r>
                      <a:r>
                        <a:rPr dirty="0" err="1"/>
                        <a:t>신뢰가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필요한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행사·기관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단위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활용에는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부적합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공식 확인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내비게이션 동시 사용 제약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카카오내비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공식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기능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목록에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친구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위치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조회가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없다</a:t>
                      </a:r>
                      <a:r>
                        <a:rPr dirty="0"/>
                        <a:t>. </a:t>
                      </a:r>
                      <a:r>
                        <a:rPr dirty="0" err="1"/>
                        <a:t>카카오맵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내장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길안내로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주행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중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친구위치로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이동하면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안내가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중단되는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현상을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자체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실측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자체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실측</a:t>
                      </a:r>
                      <a:r>
                        <a:rPr dirty="0"/>
                        <a:t> · </a:t>
                      </a:r>
                      <a:r>
                        <a:rPr dirty="0" err="1"/>
                        <a:t>원인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확정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필요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4406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5A72"/>
                </a:solidFill>
              </a:defRPr>
            </a:pPr>
            <a:r>
              <a:t>세 번째 항목의 원인이 내장 안내의 구조적 배타성인지 백그라운드 절전 설정인지는 재현 조건 확정이 필요하며, 검토 항목에 포함했습니다.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881360" cy="731520"/>
          </a:xfrm>
        </p:spPr>
        <p:txBody>
          <a:bodyPr wrap="square" anchor="t"/>
          <a:lstStyle/>
          <a:p>
            <a:pPr algn="l">
              <a:defRPr sz="2600" b="1">
                <a:solidFill>
                  <a:srgbClr val="1E2A4A"/>
                </a:solidFill>
              </a:defRPr>
            </a:pPr>
            <a:r>
              <a:rPr dirty="0" err="1"/>
              <a:t>왜</a:t>
            </a:r>
            <a:r>
              <a:rPr dirty="0"/>
              <a:t> </a:t>
            </a:r>
            <a:r>
              <a:rPr dirty="0" err="1"/>
              <a:t>우리</a:t>
            </a:r>
            <a:r>
              <a:rPr dirty="0"/>
              <a:t> </a:t>
            </a:r>
            <a:r>
              <a:rPr dirty="0" err="1"/>
              <a:t>회사가</a:t>
            </a:r>
            <a:r>
              <a:rPr dirty="0"/>
              <a:t> </a:t>
            </a:r>
            <a:r>
              <a:rPr dirty="0" err="1"/>
              <a:t>해야</a:t>
            </a:r>
            <a:r>
              <a:rPr dirty="0"/>
              <a:t> </a:t>
            </a:r>
            <a:r>
              <a:t>하는가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146304"/>
            <a:ext cx="7315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 b="1">
                <a:solidFill>
                  <a:srgbClr val="868EA4"/>
                </a:solidFill>
              </a:defRPr>
            </a:pPr>
            <a:r>
              <a:t>03 · 전략적 적합성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525A72"/>
                </a:solidFill>
              </a:defRPr>
            </a:pPr>
            <a:r>
              <a:rPr dirty="0" err="1"/>
              <a:t>위</a:t>
            </a:r>
            <a:r>
              <a:rPr dirty="0"/>
              <a:t> </a:t>
            </a:r>
            <a:r>
              <a:rPr dirty="0" err="1"/>
              <a:t>빈틈을</a:t>
            </a:r>
            <a:r>
              <a:rPr dirty="0"/>
              <a:t> </a:t>
            </a:r>
            <a:r>
              <a:rPr dirty="0" err="1"/>
              <a:t>메우려면</a:t>
            </a:r>
            <a:r>
              <a:rPr dirty="0"/>
              <a:t> </a:t>
            </a:r>
            <a:r>
              <a:rPr dirty="0" err="1"/>
              <a:t>본인확인·배포</a:t>
            </a:r>
            <a:r>
              <a:rPr dirty="0"/>
              <a:t> </a:t>
            </a:r>
            <a:r>
              <a:rPr dirty="0" err="1"/>
              <a:t>채널·규제</a:t>
            </a:r>
            <a:r>
              <a:rPr dirty="0"/>
              <a:t> </a:t>
            </a:r>
            <a:r>
              <a:rPr dirty="0" err="1"/>
              <a:t>대응이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필요하다</a:t>
            </a:r>
            <a:r>
              <a:rPr dirty="0"/>
              <a:t>.</a:t>
            </a:r>
            <a:r>
              <a:rPr lang="ko-KR" altLang="en-US"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조합은</a:t>
            </a:r>
            <a:r>
              <a:rPr dirty="0"/>
              <a:t> </a:t>
            </a:r>
            <a:r>
              <a:rPr dirty="0" err="1"/>
              <a:t>개인</a:t>
            </a:r>
            <a:r>
              <a:rPr dirty="0"/>
              <a:t> </a:t>
            </a:r>
            <a:r>
              <a:rPr dirty="0" err="1"/>
              <a:t>개발자나</a:t>
            </a:r>
            <a:r>
              <a:rPr dirty="0"/>
              <a:t>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스타트업이</a:t>
            </a:r>
            <a:r>
              <a:rPr dirty="0"/>
              <a:t> </a:t>
            </a:r>
            <a:r>
              <a:rPr dirty="0" err="1"/>
              <a:t>확보하기</a:t>
            </a:r>
            <a:r>
              <a:rPr dirty="0"/>
              <a:t> </a:t>
            </a:r>
            <a:r>
              <a:rPr dirty="0" err="1"/>
              <a:t>어렵고</a:t>
            </a:r>
            <a:r>
              <a:rPr dirty="0"/>
              <a:t>, </a:t>
            </a:r>
            <a:r>
              <a:rPr dirty="0" err="1"/>
              <a:t>우리는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보유하고</a:t>
            </a:r>
            <a:r>
              <a:rPr dirty="0"/>
              <a:t> </a:t>
            </a:r>
            <a:r>
              <a:rPr dirty="0" err="1"/>
              <a:t>있다</a:t>
            </a:r>
            <a:r>
              <a:rPr dirty="0"/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723501"/>
              </p:ext>
            </p:extLst>
          </p:nvPr>
        </p:nvGraphicFramePr>
        <p:xfrm>
          <a:off x="640080" y="2057400"/>
          <a:ext cx="10881360" cy="2679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보유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자산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제안 사업에서의 역할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이 자산이 없으면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rPr dirty="0"/>
                        <a:t>PASS </a:t>
                      </a:r>
                      <a:r>
                        <a:rPr dirty="0" err="1"/>
                        <a:t>본인확인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인프라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모임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단위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본인확인은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카카오가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제공하지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않는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유일한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차별점</a:t>
                      </a:r>
                      <a:r>
                        <a:rPr dirty="0"/>
                        <a:t>. </a:t>
                      </a:r>
                      <a:r>
                        <a:rPr dirty="0" err="1"/>
                        <a:t>벤더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협상이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아니라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내부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역량으로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결합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가능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익명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참여의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신뢰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문제를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해결할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없어</a:t>
                      </a:r>
                      <a:r>
                        <a:rPr dirty="0"/>
                        <a:t> B2B·기관 </a:t>
                      </a:r>
                      <a:r>
                        <a:rPr dirty="0" err="1"/>
                        <a:t>시장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진입이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불가능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U+ PASS 채널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/>
                        <a:t>PASS 3사 </a:t>
                      </a:r>
                      <a:r>
                        <a:rPr dirty="0" err="1"/>
                        <a:t>합산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이용자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약</a:t>
                      </a:r>
                      <a:r>
                        <a:rPr dirty="0"/>
                        <a:t> 2,600만, </a:t>
                      </a:r>
                      <a:r>
                        <a:rPr dirty="0" err="1"/>
                        <a:t>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인증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약</a:t>
                      </a:r>
                      <a:r>
                        <a:rPr dirty="0"/>
                        <a:t> 1억 2천만 </a:t>
                      </a:r>
                      <a:r>
                        <a:rPr dirty="0" err="1"/>
                        <a:t>건</a:t>
                      </a:r>
                      <a:r>
                        <a:rPr dirty="0"/>
                        <a:t>. 3사 </a:t>
                      </a:r>
                      <a:r>
                        <a:rPr dirty="0" err="1"/>
                        <a:t>동시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협의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없이</a:t>
                      </a:r>
                      <a:r>
                        <a:rPr dirty="0"/>
                        <a:t> U+ </a:t>
                      </a:r>
                      <a:r>
                        <a:rPr dirty="0" err="1"/>
                        <a:t>단독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파일럿으로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시작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가능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신규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서비스는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배포망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확보에만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수년이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소요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위치정보·보안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심사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대응력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위치정보사업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규제와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통신사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보안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심사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기준을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사전에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알고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역산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설계할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있음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규제·심사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대응만으로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초기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자원이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소진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4406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5A72"/>
                </a:solidFill>
              </a:defRPr>
            </a:pPr>
            <a:r>
              <a:t>U+ 무선 점유율은 2026년 1분기 기준 약 23.9%. PASS 전체 대비 U+ 단독 커버리지는 추정치이며 내부 데이터 확인이 필요합니다.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881360" cy="731520"/>
          </a:xfrm>
        </p:spPr>
        <p:txBody>
          <a:bodyPr wrap="square" anchor="t"/>
          <a:lstStyle/>
          <a:p>
            <a:pPr algn="l">
              <a:defRPr sz="2600" b="1">
                <a:solidFill>
                  <a:srgbClr val="1E2A4A"/>
                </a:solidFill>
              </a:defRPr>
            </a:pPr>
            <a:r>
              <a:t>3채널의 역할 분담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"/>
            <a:ext cx="7315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 b="1">
                <a:solidFill>
                  <a:srgbClr val="868EA4"/>
                </a:solidFill>
              </a:defRPr>
            </a:pPr>
            <a:r>
              <a:t>04 · 채널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525A72"/>
                </a:solidFill>
              </a:defRPr>
            </a:pPr>
            <a:r>
              <a:t>동일 기능을 세 채널에 복제하면 위치 권한·백그라운드 동작이 채널마다 다르게 동작해 검증 비용이 급증한다. 채널별 임무를 분리한다.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979590"/>
              </p:ext>
            </p:extLst>
          </p:nvPr>
        </p:nvGraphicFramePr>
        <p:xfrm>
          <a:off x="640080" y="2057400"/>
          <a:ext cx="10881360" cy="2679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채널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임무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이유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모바일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웹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초대받은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사람의</a:t>
                      </a:r>
                      <a:r>
                        <a:rPr dirty="0"/>
                        <a:t> 1회성 </a:t>
                      </a:r>
                      <a:r>
                        <a:rPr dirty="0" err="1"/>
                        <a:t>진입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모임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참석자는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통신사가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섞여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있어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누구나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링크로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들어올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있는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경로가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반드시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필요하다</a:t>
                      </a:r>
                      <a:r>
                        <a:rPr dirty="0"/>
                        <a:t>. </a:t>
                      </a:r>
                      <a:r>
                        <a:rPr dirty="0" err="1"/>
                        <a:t>마찰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최소화가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존재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이유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PASS 인앱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본인확인이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필요한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모임·행사</a:t>
                      </a:r>
                      <a:r>
                        <a:rPr dirty="0"/>
                        <a:t>(B2B·기관) </a:t>
                      </a:r>
                      <a:r>
                        <a:rPr dirty="0" err="1"/>
                        <a:t>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반복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사용자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주최자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경로로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설계해야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한다</a:t>
                      </a:r>
                      <a:r>
                        <a:rPr dirty="0"/>
                        <a:t>. </a:t>
                      </a:r>
                      <a:r>
                        <a:rPr dirty="0" err="1"/>
                        <a:t>초대받는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쪽을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PASS로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유도하면</a:t>
                      </a:r>
                      <a:r>
                        <a:rPr dirty="0"/>
                        <a:t> '</a:t>
                      </a:r>
                      <a:r>
                        <a:rPr dirty="0" err="1"/>
                        <a:t>링크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번'이라는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강점이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훼손된다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자체 앱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백그라운드 위치가 필요한 이동 시나리오(운전·장거리)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모바일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웹은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백그라운드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위치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추적이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불가하다</a:t>
                      </a:r>
                      <a:r>
                        <a:rPr dirty="0"/>
                        <a:t>. </a:t>
                      </a:r>
                      <a:r>
                        <a:rPr dirty="0" err="1"/>
                        <a:t>운전자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시나리오는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네이티브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없이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성립하지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않는다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881360" cy="731520"/>
          </a:xfrm>
        </p:spPr>
        <p:txBody>
          <a:bodyPr wrap="square" anchor="t"/>
          <a:lstStyle/>
          <a:p>
            <a:pPr algn="l">
              <a:defRPr sz="2600" b="1">
                <a:solidFill>
                  <a:srgbClr val="1E2A4A"/>
                </a:solidFill>
              </a:defRPr>
            </a:pPr>
            <a:r>
              <a:t>구현 화면 (1) — 모임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"/>
            <a:ext cx="7315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 b="1">
                <a:solidFill>
                  <a:srgbClr val="868EA4"/>
                </a:solidFill>
              </a:defRPr>
            </a:pPr>
            <a:r>
              <a:t>05 · 프로토타입 현황</a:t>
            </a:r>
          </a:p>
        </p:txBody>
      </p:sp>
      <p:pic>
        <p:nvPicPr>
          <p:cNvPr id="4" name="Picture 3" descr="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1901389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56235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5A72"/>
                </a:solidFill>
              </a:defRPr>
            </a:pPr>
            <a:r>
              <a:t>01 · 홈 — 모임 생성 / 링크 참여</a:t>
            </a:r>
          </a:p>
        </p:txBody>
      </p:sp>
      <p:pic>
        <p:nvPicPr>
          <p:cNvPr id="6" name="Picture 5" descr="2-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71600"/>
            <a:ext cx="1901389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56235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5A72"/>
                </a:solidFill>
              </a:defRPr>
            </a:pPr>
            <a:r>
              <a:t>02 · 생성 — 5분 단위 일시 선택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881360" cy="731520"/>
          </a:xfrm>
        </p:spPr>
        <p:txBody>
          <a:bodyPr wrap="square" anchor="t"/>
          <a:lstStyle/>
          <a:p>
            <a:pPr algn="l">
              <a:defRPr sz="2600" b="1">
                <a:solidFill>
                  <a:srgbClr val="1E2A4A"/>
                </a:solidFill>
              </a:defRPr>
            </a:pPr>
            <a:r>
              <a:t>구현 화면 (2) — 초대와 참여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"/>
            <a:ext cx="7315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 b="1">
                <a:solidFill>
                  <a:srgbClr val="868EA4"/>
                </a:solidFill>
              </a:defRPr>
            </a:pPr>
            <a:r>
              <a:t>05 · 프로토타입 현황</a:t>
            </a:r>
          </a:p>
        </p:txBody>
      </p:sp>
      <p:pic>
        <p:nvPicPr>
          <p:cNvPr id="4" name="Picture 3" descr="3-inv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1901389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5623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5A72"/>
                </a:solidFill>
              </a:defRPr>
            </a:pPr>
            <a:r>
              <a:t>03 · 초대 — 토큰 포함 링크 공유</a:t>
            </a:r>
          </a:p>
        </p:txBody>
      </p:sp>
      <p:pic>
        <p:nvPicPr>
          <p:cNvPr id="6" name="Picture 5" descr="4-jo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71600"/>
            <a:ext cx="1901389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56235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5A72"/>
                </a:solidFill>
              </a:defRPr>
            </a:pPr>
            <a:r>
              <a:t>04 · 참여 — 설치·가입 없이 닉네임만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881360" cy="731520"/>
          </a:xfrm>
        </p:spPr>
        <p:txBody>
          <a:bodyPr wrap="square" anchor="t"/>
          <a:lstStyle/>
          <a:p>
            <a:pPr algn="l">
              <a:defRPr sz="2600" b="1">
                <a:solidFill>
                  <a:srgbClr val="1E2A4A"/>
                </a:solidFill>
              </a:defRPr>
            </a:pPr>
            <a:r>
              <a:t>구현 화면 (3) — 당일 실시간 지도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"/>
            <a:ext cx="7315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 b="1">
                <a:solidFill>
                  <a:srgbClr val="868EA4"/>
                </a:solidFill>
              </a:defRPr>
            </a:pPr>
            <a:r>
              <a:t>05 · 프로토타입 현황</a:t>
            </a:r>
          </a:p>
        </p:txBody>
      </p:sp>
      <p:pic>
        <p:nvPicPr>
          <p:cNvPr id="4" name="Picture 3" descr="5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62" y="1325880"/>
            <a:ext cx="2239413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828800"/>
            <a:ext cx="6126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— </a:t>
            </a: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위에</a:t>
            </a:r>
            <a:r>
              <a:rPr dirty="0"/>
              <a:t> </a:t>
            </a:r>
            <a:r>
              <a:rPr dirty="0" err="1"/>
              <a:t>목적지와</a:t>
            </a:r>
            <a:r>
              <a:rPr dirty="0"/>
              <a:t> </a:t>
            </a:r>
            <a:r>
              <a:rPr dirty="0" err="1"/>
              <a:t>참여자</a:t>
            </a:r>
            <a:r>
              <a:rPr dirty="0"/>
              <a:t> </a:t>
            </a:r>
            <a:r>
              <a:rPr dirty="0" err="1"/>
              <a:t>위치를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표시</a:t>
            </a:r>
            <a:endParaRPr dirty="0"/>
          </a:p>
          <a:p>
            <a:pPr>
              <a:spcAft>
                <a:spcPts val="14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— '</a:t>
            </a:r>
            <a:r>
              <a:rPr dirty="0" err="1"/>
              <a:t>출발'을</a:t>
            </a:r>
            <a:r>
              <a:rPr dirty="0"/>
              <a:t> </a:t>
            </a:r>
            <a:r>
              <a:rPr dirty="0" err="1"/>
              <a:t>눌러야</a:t>
            </a:r>
            <a:r>
              <a:rPr dirty="0"/>
              <a:t> </a:t>
            </a:r>
            <a:r>
              <a:rPr dirty="0" err="1"/>
              <a:t>내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공유가</a:t>
            </a:r>
            <a:r>
              <a:rPr dirty="0"/>
              <a:t> </a:t>
            </a:r>
            <a:r>
              <a:rPr dirty="0" err="1"/>
              <a:t>시작된다</a:t>
            </a:r>
            <a:endParaRPr dirty="0"/>
          </a:p>
          <a:p>
            <a:pPr>
              <a:spcAft>
                <a:spcPts val="14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— </a:t>
            </a:r>
            <a:r>
              <a:rPr dirty="0" err="1"/>
              <a:t>참여자는</a:t>
            </a:r>
            <a:r>
              <a:rPr dirty="0"/>
              <a:t> '</a:t>
            </a:r>
            <a:r>
              <a:rPr dirty="0" err="1"/>
              <a:t>오는</a:t>
            </a:r>
            <a:r>
              <a:rPr dirty="0"/>
              <a:t> </a:t>
            </a:r>
            <a:r>
              <a:rPr dirty="0" err="1"/>
              <a:t>중'과</a:t>
            </a:r>
            <a:r>
              <a:rPr dirty="0"/>
              <a:t> '</a:t>
            </a:r>
            <a:r>
              <a:rPr dirty="0" err="1"/>
              <a:t>도착</a:t>
            </a:r>
            <a:r>
              <a:rPr dirty="0"/>
              <a:t>'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그룹으로</a:t>
            </a:r>
            <a:r>
              <a:rPr dirty="0"/>
              <a:t> </a:t>
            </a:r>
            <a:r>
              <a:rPr dirty="0" err="1"/>
              <a:t>정리된다</a:t>
            </a:r>
            <a:endParaRPr dirty="0"/>
          </a:p>
          <a:p>
            <a:pPr>
              <a:spcAft>
                <a:spcPts val="14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— </a:t>
            </a:r>
            <a:r>
              <a:rPr dirty="0" err="1"/>
              <a:t>도착</a:t>
            </a:r>
            <a:r>
              <a:rPr dirty="0"/>
              <a:t> </a:t>
            </a:r>
            <a:r>
              <a:rPr dirty="0" err="1"/>
              <a:t>반경</a:t>
            </a:r>
            <a:r>
              <a:rPr dirty="0"/>
              <a:t> </a:t>
            </a:r>
            <a:r>
              <a:rPr dirty="0" err="1"/>
              <a:t>진입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참여자</a:t>
            </a:r>
            <a:r>
              <a:rPr dirty="0"/>
              <a:t> </a:t>
            </a:r>
            <a:r>
              <a:rPr dirty="0" err="1"/>
              <a:t>공유는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종료</a:t>
            </a:r>
            <a:endParaRPr dirty="0"/>
          </a:p>
          <a:p>
            <a:pPr>
              <a:spcAft>
                <a:spcPts val="1400"/>
              </a:spcAft>
              <a:defRPr sz="1500">
                <a:solidFill>
                  <a:srgbClr val="141A2B"/>
                </a:solidFill>
              </a:defRPr>
            </a:pPr>
            <a:r>
              <a:rPr dirty="0"/>
              <a:t>— </a:t>
            </a:r>
            <a:r>
              <a:rPr dirty="0" err="1"/>
              <a:t>ETA는</a:t>
            </a:r>
            <a:r>
              <a:rPr dirty="0"/>
              <a:t> </a:t>
            </a:r>
            <a:r>
              <a:rPr dirty="0" err="1"/>
              <a:t>거리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추정</a:t>
            </a:r>
            <a:r>
              <a:rPr dirty="0"/>
              <a:t>, </a:t>
            </a:r>
            <a:r>
              <a:rPr dirty="0" err="1"/>
              <a:t>경로</a:t>
            </a:r>
            <a:r>
              <a:rPr dirty="0"/>
              <a:t> </a:t>
            </a:r>
            <a:r>
              <a:rPr dirty="0" err="1"/>
              <a:t>기반으로</a:t>
            </a:r>
            <a:r>
              <a:rPr dirty="0"/>
              <a:t> </a:t>
            </a:r>
            <a:r>
              <a:rPr dirty="0" err="1"/>
              <a:t>확장</a:t>
            </a:r>
            <a:r>
              <a:rPr dirty="0"/>
              <a:t> </a:t>
            </a:r>
            <a:r>
              <a:rPr dirty="0" err="1"/>
              <a:t>예정</a:t>
            </a:r>
            <a:endParaRPr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33CC3E9-4BD1-A850-53A4-0319FAF6B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454" y="1325880"/>
            <a:ext cx="238950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881360" cy="731520"/>
          </a:xfrm>
        </p:spPr>
        <p:txBody>
          <a:bodyPr wrap="square" anchor="t"/>
          <a:lstStyle/>
          <a:p>
            <a:pPr algn="l">
              <a:defRPr sz="2600" b="1">
                <a:solidFill>
                  <a:srgbClr val="1E2A4A"/>
                </a:solidFill>
              </a:defRPr>
            </a:pPr>
            <a:r>
              <a:t>프로토타입 검증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"/>
            <a:ext cx="7315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 b="1">
                <a:solidFill>
                  <a:srgbClr val="868EA4"/>
                </a:solidFill>
              </a:defRPr>
            </a:pPr>
            <a:r>
              <a:t>05 · 프로토타입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411636"/>
              </p:ext>
            </p:extLst>
          </p:nvPr>
        </p:nvGraphicFramePr>
        <p:xfrm>
          <a:off x="640080" y="1463040"/>
          <a:ext cx="1088136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항목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상태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지도·GPS·실시간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위치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릴레이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동작 확인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지도 SDK + WebSocket 기반 다중 참여자 위치 동기화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거리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기반</a:t>
                      </a:r>
                      <a:r>
                        <a:rPr dirty="0"/>
                        <a:t> ETA · </a:t>
                      </a:r>
                      <a:r>
                        <a:rPr dirty="0" err="1"/>
                        <a:t>도착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자동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처리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동작 확인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도착 반경 진입 시 개인 공유 자동 종료 및 명단 반영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초대 링크 보안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동작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확인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링크 토큰 검증 및 반복 실패 시 IP 단위 제한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실제 경로 기반 ETA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연동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준비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외부 길찾기 API 연동 구조는 준비, 활성화·검증 미완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영속성·감사 로그·암호화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보완 필요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현재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파일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저장</a:t>
                      </a:r>
                      <a:r>
                        <a:rPr dirty="0"/>
                        <a:t> — </a:t>
                      </a:r>
                      <a:r>
                        <a:rPr dirty="0" err="1"/>
                        <a:t>심사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대응을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위한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정식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인프라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전환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필수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백그라운드 위치 공유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웹 한계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네이티브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또는</a:t>
                      </a:r>
                      <a:r>
                        <a:rPr dirty="0"/>
                        <a:t> PASS </a:t>
                      </a:r>
                      <a:r>
                        <a:rPr dirty="0" err="1"/>
                        <a:t>인앱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네이티브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사양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필요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881360" cy="731520"/>
          </a:xfrm>
        </p:spPr>
        <p:txBody>
          <a:bodyPr wrap="square" anchor="t"/>
          <a:lstStyle/>
          <a:p>
            <a:pPr algn="l">
              <a:defRPr sz="2600" b="1">
                <a:solidFill>
                  <a:srgbClr val="1E2A4A"/>
                </a:solidFill>
              </a:defRPr>
            </a:pPr>
            <a:r>
              <a:t>수익 가설과 검증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"/>
            <a:ext cx="7315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 b="1">
                <a:solidFill>
                  <a:srgbClr val="868EA4"/>
                </a:solidFill>
              </a:defRPr>
            </a:pPr>
            <a:r>
              <a:t>06 · 사업 모델 가설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525A72"/>
                </a:solidFill>
              </a:defRPr>
            </a:pPr>
            <a:r>
              <a:t>현 단계에서는 확정 모델이 아니라 검증할 가설로 제시한다. B2C 광고 단독 모델은 위험이 높고, 우리 자산이 유효한 영역은 신뢰 기반 B2B로 판단한다.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428224"/>
              </p:ext>
            </p:extLst>
          </p:nvPr>
        </p:nvGraphicFramePr>
        <p:xfrm>
          <a:off x="640080" y="2057400"/>
          <a:ext cx="10881360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가설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근거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검증 방법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rPr dirty="0"/>
                        <a:t>B2B — </a:t>
                      </a:r>
                      <a:r>
                        <a:rPr dirty="0" err="1"/>
                        <a:t>행사·모임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주최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대상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다인원 행사는 참가자 위치·도착 현황 파악 수요가 있고, 본인확인이 결합되면 대체재가 없다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주최사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인터뷰</a:t>
                      </a:r>
                      <a:r>
                        <a:rPr dirty="0"/>
                        <a:t> 5~10건으로 </a:t>
                      </a:r>
                      <a:r>
                        <a:rPr dirty="0" err="1"/>
                        <a:t>지불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의사·필수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기능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확인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rPr dirty="0"/>
                        <a:t>PASS </a:t>
                      </a:r>
                      <a:r>
                        <a:rPr dirty="0" err="1"/>
                        <a:t>인증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건수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증대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모임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참여마다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본인확인이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발생하면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인증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트래픽이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증가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모임당 예상 인증 건수 × 이용 빈도 추정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rPr dirty="0"/>
                        <a:t>U+ </a:t>
                      </a:r>
                      <a:r>
                        <a:rPr dirty="0" err="1"/>
                        <a:t>채널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부가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가치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/>
                        <a:t>PASS </a:t>
                      </a:r>
                      <a:r>
                        <a:rPr dirty="0" err="1"/>
                        <a:t>앱의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이용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목적을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인증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생활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영역으로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확장하는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소재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U+ 담당 부서와 지면 정책·기대 효과 협의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B2C 광고·부가 기능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채널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트래픽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보조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수익</a:t>
                      </a:r>
                      <a:r>
                        <a:rPr dirty="0"/>
                        <a:t>. </a:t>
                      </a:r>
                      <a:r>
                        <a:rPr dirty="0" err="1"/>
                        <a:t>단독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수익원으로는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부적합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파일럿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트래픽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재검토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후순위</a:t>
                      </a:r>
                      <a:r>
                        <a:rPr dirty="0"/>
                        <a:t>)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881360" cy="731520"/>
          </a:xfrm>
        </p:spPr>
        <p:txBody>
          <a:bodyPr wrap="square" anchor="t"/>
          <a:lstStyle/>
          <a:p>
            <a:pPr algn="l">
              <a:defRPr sz="2600" b="1">
                <a:solidFill>
                  <a:srgbClr val="1E2A4A"/>
                </a:solidFill>
              </a:defRPr>
            </a:pPr>
            <a:r>
              <a:t>리스크와 대응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"/>
            <a:ext cx="7315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 b="1">
                <a:solidFill>
                  <a:srgbClr val="868EA4"/>
                </a:solidFill>
              </a:defRPr>
            </a:pPr>
            <a:r>
              <a:t>07 · 리스크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054732"/>
              </p:ext>
            </p:extLst>
          </p:nvPr>
        </p:nvGraphicFramePr>
        <p:xfrm>
          <a:off x="640080" y="1463040"/>
          <a:ext cx="1088136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리스크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영향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대응 방향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카카오와의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기능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중복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높음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범용 B2C 정면 경쟁을 피하고, 친구 관계가 성립하지 않는 모임과 본인확인이 필요한 B2B로 진입 범위 한정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rPr dirty="0"/>
                        <a:t>U+ </a:t>
                      </a:r>
                      <a:r>
                        <a:rPr dirty="0" err="1"/>
                        <a:t>단독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커버리지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한계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중간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초대 경로는 웹으로 유지해 통신사 무관 참여 보장. PASS는 주최자 경로로 한정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자사·U+ 기존 위치 상품과의 관계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중간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상시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위치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상품이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아닌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모임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단위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일회성으로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포지셔닝</a:t>
                      </a:r>
                      <a:r>
                        <a:rPr dirty="0"/>
                        <a:t>. </a:t>
                      </a:r>
                      <a:r>
                        <a:rPr dirty="0" err="1"/>
                        <a:t>상품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담당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부서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의견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필요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위치정보 규제 준수 부담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중간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신고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요건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보관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최소화·파기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정책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접근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감사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로그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동의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절차를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설계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단계부터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반영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인앱 백그라운드 위치 사양 불확실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중간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/>
                        <a:t>PASS </a:t>
                      </a:r>
                      <a:r>
                        <a:rPr dirty="0" err="1"/>
                        <a:t>인앱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네이티브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위치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사용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가능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여부를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최우선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자체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우선순위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확정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프로토타입 인프라 미비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t>중간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파일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저장을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정식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DB로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전환하고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암호화·감사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로그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추가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75488"/>
            <a:ext cx="10881360" cy="731520"/>
          </a:xfrm>
        </p:spPr>
        <p:txBody>
          <a:bodyPr wrap="square" anchor="t"/>
          <a:lstStyle/>
          <a:p>
            <a:pPr algn="l">
              <a:defRPr sz="2600" b="1">
                <a:solidFill>
                  <a:srgbClr val="1E2A4A"/>
                </a:solidFill>
              </a:defRPr>
            </a:pPr>
            <a:r>
              <a:rPr dirty="0" err="1"/>
              <a:t>요청사항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 </a:t>
            </a:r>
            <a:r>
              <a:rPr dirty="0" err="1"/>
              <a:t>범위</a:t>
            </a:r>
            <a:r>
              <a:rPr dirty="0"/>
              <a:t> </a:t>
            </a:r>
            <a:r>
              <a:rPr dirty="0" err="1"/>
              <a:t>제안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146304"/>
            <a:ext cx="7315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 b="1">
                <a:solidFill>
                  <a:srgbClr val="868EA4"/>
                </a:solidFill>
              </a:defRPr>
            </a:pPr>
            <a:r>
              <a:t>08 · 요청사항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08792" cy="1005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검토·타당성</a:t>
            </a:r>
            <a:r>
              <a:rPr dirty="0"/>
              <a:t> </a:t>
            </a:r>
            <a:r>
              <a:rPr dirty="0" err="1"/>
              <a:t>조사</a:t>
            </a:r>
            <a:r>
              <a:rPr dirty="0"/>
              <a:t> </a:t>
            </a:r>
            <a:r>
              <a:rPr dirty="0" err="1"/>
              <a:t>착수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담당자</a:t>
            </a:r>
            <a:r>
              <a:rPr dirty="0"/>
              <a:t> </a:t>
            </a:r>
            <a:r>
              <a:rPr dirty="0" err="1"/>
              <a:t>지정</a:t>
            </a:r>
            <a:endParaRPr dirty="0"/>
          </a:p>
          <a:p>
            <a:pPr>
              <a:spcBef>
                <a:spcPts val="600"/>
              </a:spcBef>
              <a:defRPr sz="1250">
                <a:solidFill>
                  <a:srgbClr val="DDE1EC"/>
                </a:solidFill>
              </a:defRPr>
            </a:pPr>
            <a:r>
              <a:rPr dirty="0" err="1"/>
              <a:t>예산·인력</a:t>
            </a:r>
            <a:r>
              <a:rPr dirty="0"/>
              <a:t> </a:t>
            </a:r>
            <a:r>
              <a:rPr dirty="0" err="1"/>
              <a:t>배정은</a:t>
            </a:r>
            <a:r>
              <a:rPr dirty="0"/>
              <a:t> </a:t>
            </a:r>
            <a:r>
              <a:rPr dirty="0" err="1"/>
              <a:t>요청하지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 </a:t>
            </a:r>
            <a:r>
              <a:rPr dirty="0" err="1"/>
              <a:t>아래</a:t>
            </a:r>
            <a:r>
              <a:rPr dirty="0"/>
              <a:t> </a:t>
            </a:r>
            <a:r>
              <a:rPr dirty="0" err="1"/>
              <a:t>여섯</a:t>
            </a:r>
            <a:r>
              <a:rPr dirty="0"/>
              <a:t> </a:t>
            </a:r>
            <a:r>
              <a:rPr dirty="0" err="1"/>
              <a:t>항목은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답을</a:t>
            </a:r>
            <a:r>
              <a:rPr dirty="0"/>
              <a:t> </a:t>
            </a:r>
            <a:r>
              <a:rPr dirty="0" err="1"/>
              <a:t>확정하지</a:t>
            </a:r>
            <a:r>
              <a:rPr dirty="0"/>
              <a:t> </a:t>
            </a:r>
            <a:r>
              <a:rPr dirty="0" err="1"/>
              <a:t>못한</a:t>
            </a:r>
            <a:r>
              <a:rPr dirty="0"/>
              <a:t> </a:t>
            </a:r>
            <a:r>
              <a:rPr dirty="0" err="1"/>
              <a:t>질문이며</a:t>
            </a:r>
            <a:r>
              <a:rPr dirty="0"/>
              <a:t>,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 </a:t>
            </a:r>
            <a:r>
              <a:rPr dirty="0" err="1"/>
              <a:t>범위로</a:t>
            </a:r>
            <a:r>
              <a:rPr dirty="0"/>
              <a:t> </a:t>
            </a:r>
            <a:r>
              <a:rPr dirty="0" err="1"/>
              <a:t>제안합니다</a:t>
            </a:r>
            <a:r>
              <a:rPr dirty="0"/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603804"/>
              </p:ext>
            </p:extLst>
          </p:nvPr>
        </p:nvGraphicFramePr>
        <p:xfrm>
          <a:off x="640080" y="2514600"/>
          <a:ext cx="1088136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#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검토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항목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확인 주체</a:t>
                      </a:r>
                    </a:p>
                  </a:txBody>
                  <a:tcPr marL="109728" marR="109728" marT="54864" marB="54864" anchor="ctr"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/>
                        <a:t>PASS </a:t>
                      </a:r>
                      <a:r>
                        <a:rPr dirty="0" err="1"/>
                        <a:t>인앱에서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서드파티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서비스가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네이티브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위치·백그라운드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기능을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사용할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있는지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채널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역할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확정의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전제</a:t>
                      </a:r>
                      <a:r>
                        <a:rPr dirty="0"/>
                        <a:t>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/>
                        <a:t>PASS </a:t>
                      </a:r>
                      <a:r>
                        <a:rPr dirty="0" err="1"/>
                        <a:t>운영·개발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/>
                        <a:t>U+ PASS </a:t>
                      </a:r>
                      <a:r>
                        <a:rPr dirty="0" err="1"/>
                        <a:t>지면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입점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정책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심사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기준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소요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기간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/>
                        <a:t>U+ </a:t>
                      </a:r>
                      <a:r>
                        <a:rPr dirty="0" err="1"/>
                        <a:t>협의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담당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자사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및</a:t>
                      </a:r>
                      <a:r>
                        <a:rPr dirty="0"/>
                        <a:t> U+ </a:t>
                      </a:r>
                      <a:r>
                        <a:rPr dirty="0" err="1"/>
                        <a:t>기존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위치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관련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상품과의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중복·시너지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여부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상품·전략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위치기반서비스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사업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신고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요건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기술적·관리적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보호조치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범위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법무·보안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/>
                        <a:t>B2B </a:t>
                      </a:r>
                      <a:r>
                        <a:rPr dirty="0" err="1"/>
                        <a:t>초기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수요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확인</a:t>
                      </a:r>
                      <a:r>
                        <a:rPr dirty="0"/>
                        <a:t> — </a:t>
                      </a:r>
                      <a:r>
                        <a:rPr dirty="0" err="1"/>
                        <a:t>행사·모임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주최사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인터뷰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사업기획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41A2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파일럿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수행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예상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개발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범위·기간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산정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프로토타입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증분</a:t>
                      </a:r>
                      <a:r>
                        <a:rPr dirty="0"/>
                        <a:t>)</a:t>
                      </a:r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1A2B"/>
                          </a:solidFill>
                        </a:defRPr>
                      </a:pPr>
                      <a:r>
                        <a:rPr dirty="0" err="1"/>
                        <a:t>개발</a:t>
                      </a:r>
                      <a:endParaRPr dirty="0"/>
                    </a:p>
                  </a:txBody>
                  <a:tcPr marL="109728" marR="109728" marT="54864" marB="54864" anchor="ctr"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8704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25A72"/>
                </a:solidFill>
              </a:defRPr>
            </a:pPr>
            <a:r>
              <a:t>1번 항목은 사내에서 단기간에 확인 가능하며, 결과에 따라 3채널 로드맵 우선순위가 확정됩니다. 검토 착수 시 최우선 처리를 권합니다.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1491</Words>
  <Application>Microsoft Macintosh PowerPoint</Application>
  <PresentationFormat>와이드스크린</PresentationFormat>
  <Paragraphs>202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어디쯤 × PASS</vt:lpstr>
      <vt:lpstr>핵심 요약</vt:lpstr>
      <vt:lpstr>해결하려는 문제와 서비스 구조</vt:lpstr>
      <vt:lpstr>붐비는 위치공유 시장, 비어 있는 모임 단위</vt:lpstr>
      <vt:lpstr>카카오가 채우지 못하는 세 개의 빈틈</vt:lpstr>
      <vt:lpstr>왜 우리 회사가 해야 하는가</vt:lpstr>
      <vt:lpstr>3채널의 역할 분담</vt:lpstr>
      <vt:lpstr>구현 화면 (1) — 모임 생성</vt:lpstr>
      <vt:lpstr>구현 화면 (2) — 초대와 참여</vt:lpstr>
      <vt:lpstr>구현 화면 (3) — 당일 실시간 지도</vt:lpstr>
      <vt:lpstr>프로토타입 검증 상태</vt:lpstr>
      <vt:lpstr>수익 가설과 검증 방법</vt:lpstr>
      <vt:lpstr>리스크와 대응 방향</vt:lpstr>
      <vt:lpstr>요청사항 및 검토 범위 제안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 강철</cp:lastModifiedBy>
  <cp:revision>2</cp:revision>
  <dcterms:created xsi:type="dcterms:W3CDTF">2013-01-27T09:14:16Z</dcterms:created>
  <dcterms:modified xsi:type="dcterms:W3CDTF">2026-09-08T01:18:48Z</dcterms:modified>
  <cp:category/>
</cp:coreProperties>
</file>