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47"/>
  </p:normalViewPr>
  <p:slideViewPr>
    <p:cSldViewPr snapToGrid="0" snapToObjects="1">
      <p:cViewPr varScale="1">
        <p:scale>
          <a:sx n="136" d="100"/>
          <a:sy n="136" d="100"/>
        </p:scale>
        <p:origin x="1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8229600" y="1097280"/>
            <a:ext cx="2302468" cy="46634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769193" y="402335"/>
            <a:ext cx="198973" cy="19897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Isosceles Triangle 3"/>
          <p:cNvSpPr/>
          <p:nvPr/>
        </p:nvSpPr>
        <p:spPr>
          <a:xfrm rot="10800000">
            <a:off x="813084" y="554492"/>
            <a:ext cx="111191" cy="128747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33567" y="466709"/>
            <a:ext cx="70225" cy="7022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48612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어디쯤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8893"/>
            <a:ext cx="54864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C60EF"/>
                </a:solidFill>
              </a:defRPr>
            </a:pPr>
            <a:r>
              <a:t>신규 서비스 기획안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1610"/>
            <a:ext cx="6949440" cy="800219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4600" b="1">
                <a:solidFill>
                  <a:srgbClr val="10203C"/>
                </a:solidFill>
              </a:rPr>
              <a:t>어디쯤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44368"/>
            <a:ext cx="1005840" cy="4114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469689"/>
            <a:ext cx="6309360" cy="6135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5000"/>
              </a:lnSpc>
              <a:defRPr sz="1450" b="0">
                <a:solidFill>
                  <a:srgbClr val="5A6B87"/>
                </a:solidFill>
              </a:defRPr>
            </a:pPr>
            <a:r>
              <a:t>모임을 만들고 링크를 보내면, 당일 참석자들의 실시간 위치와</a:t>
            </a:r>
          </a:p>
          <a:p>
            <a:pPr algn="l">
              <a:lnSpc>
                <a:spcPct val="145000"/>
              </a:lnSpc>
              <a:defRPr sz="1450" b="0">
                <a:solidFill>
                  <a:srgbClr val="5A6B87"/>
                </a:solidFill>
              </a:defRPr>
            </a:pPr>
            <a:r>
              <a:t>도착까지 남은 시간을 한 화면에서 함께 보는 모바일 서비스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모임 단위 공유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475488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출발~도착 구간만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75488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링크 참여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84641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0">
                <a:solidFill>
                  <a:srgbClr val="9FADC4"/>
                </a:solidFill>
              </a:defRPr>
            </a:pPr>
            <a:r>
              <a:t>2026-09-10</a:t>
            </a:r>
          </a:p>
        </p:txBody>
      </p:sp>
      <p:pic>
        <p:nvPicPr>
          <p:cNvPr id="15" name="Picture 14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3444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8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01 · 서비스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무엇을 만드는가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41248"/>
          </a:xfrm>
          <a:prstGeom prst="roundRect">
            <a:avLst>
              <a:gd name="adj" fmla="val 1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65266"/>
            <a:ext cx="10728655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50" b="1">
                <a:solidFill>
                  <a:srgbClr val="1348C0"/>
                </a:solidFill>
              </a:defRPr>
            </a:pPr>
            <a:r>
              <a:t>모임을 만들고 링크를 보내면, 참석자들의 위치와 남은 시간을 한 화면에서 본다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037" y="2494666"/>
            <a:ext cx="52120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2416" y="27249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이런 서비스입니다</a:t>
            </a:r>
          </a:p>
        </p:txBody>
      </p:sp>
      <p:sp>
        <p:nvSpPr>
          <p:cNvPr id="9" name="Oval 8"/>
          <p:cNvSpPr/>
          <p:nvPr/>
        </p:nvSpPr>
        <p:spPr>
          <a:xfrm>
            <a:off x="1098129" y="3320970"/>
            <a:ext cx="274320" cy="27432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97618" y="3398114"/>
            <a:ext cx="75341" cy="1200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6185" y="336195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모임 단위로만 위치를 공유한다</a:t>
            </a:r>
          </a:p>
        </p:txBody>
      </p:sp>
      <p:sp>
        <p:nvSpPr>
          <p:cNvPr id="12" name="Oval 11"/>
          <p:cNvSpPr/>
          <p:nvPr/>
        </p:nvSpPr>
        <p:spPr>
          <a:xfrm>
            <a:off x="1098129" y="3833034"/>
            <a:ext cx="274320" cy="27432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7618" y="3910177"/>
            <a:ext cx="75341" cy="1200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rPr dirty="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6185" y="3874014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‘출발’부터 ‘도착’까지만 공유한다</a:t>
            </a:r>
          </a:p>
        </p:txBody>
      </p:sp>
      <p:sp>
        <p:nvSpPr>
          <p:cNvPr id="15" name="Oval 14"/>
          <p:cNvSpPr/>
          <p:nvPr/>
        </p:nvSpPr>
        <p:spPr>
          <a:xfrm>
            <a:off x="1098129" y="4345098"/>
            <a:ext cx="274320" cy="27432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618" y="4422242"/>
            <a:ext cx="75341" cy="1200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6185" y="4386078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설치·가입 없이 링크로 참여한다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487168"/>
            <a:ext cx="52120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56248" y="272491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9FADC4"/>
                </a:solidFill>
              </a:defRPr>
            </a:pPr>
            <a:r>
              <a:t>이런 서비스가 아닙니다</a:t>
            </a:r>
          </a:p>
        </p:txBody>
      </p:sp>
      <p:sp>
        <p:nvSpPr>
          <p:cNvPr id="20" name="Oval 19"/>
          <p:cNvSpPr/>
          <p:nvPr/>
        </p:nvSpPr>
        <p:spPr>
          <a:xfrm>
            <a:off x="6611960" y="3320970"/>
            <a:ext cx="274320" cy="274320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4656" y="3407347"/>
            <a:ext cx="68929" cy="1015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0017" y="3361950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9FADC4"/>
                </a:solidFill>
              </a:defRPr>
            </a:pPr>
            <a:r>
              <a:t>상시 위치 추적 서비스가 아니다</a:t>
            </a:r>
          </a:p>
        </p:txBody>
      </p:sp>
      <p:sp>
        <p:nvSpPr>
          <p:cNvPr id="23" name="Oval 22"/>
          <p:cNvSpPr/>
          <p:nvPr/>
        </p:nvSpPr>
        <p:spPr>
          <a:xfrm>
            <a:off x="6611960" y="3833034"/>
            <a:ext cx="274320" cy="274320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14656" y="3919411"/>
            <a:ext cx="68929" cy="1015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0017" y="3874014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9FADC4"/>
                </a:solidFill>
              </a:defRPr>
            </a:pPr>
            <a:r>
              <a:t>친구 관계 기반 SNS가 아니다</a:t>
            </a:r>
          </a:p>
        </p:txBody>
      </p:sp>
      <p:sp>
        <p:nvSpPr>
          <p:cNvPr id="26" name="Oval 25"/>
          <p:cNvSpPr/>
          <p:nvPr/>
        </p:nvSpPr>
        <p:spPr>
          <a:xfrm>
            <a:off x="6611960" y="4345098"/>
            <a:ext cx="274320" cy="274320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4656" y="4431475"/>
            <a:ext cx="68929" cy="1015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66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0017" y="4386078"/>
            <a:ext cx="4206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9FADC4"/>
                </a:solidFill>
              </a:defRPr>
            </a:pPr>
            <a:r>
              <a:t>내비게이션을 대체하지 않는다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82525"/>
            <a:ext cx="107286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50" b="1">
                <a:solidFill>
                  <a:srgbClr val="10203C"/>
                </a:solidFill>
              </a:defRPr>
            </a:pPr>
            <a:r>
              <a:t>핵심 정보는 위치가 아니라 “도착까지 남은 시간”이다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48000">
                <a:srgbClr val="FFFF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02 ·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먼저 도착한 사람에게는 판단 근거가 없다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9791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170432" y="2162508"/>
            <a:ext cx="329184" cy="329184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22222" y="2274431"/>
            <a:ext cx="25603" cy="10533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35024" y="2314299"/>
            <a:ext cx="8887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223226"/>
            <a:ext cx="21945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출발했는지 모른다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3088" y="21990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7407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81727" y="199791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46320" y="2195427"/>
            <a:ext cx="329184" cy="2633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12156" y="2195427"/>
            <a:ext cx="20116" cy="263347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2317042"/>
            <a:ext cx="329184" cy="20117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81285" y="2297474"/>
            <a:ext cx="59253" cy="5925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4991160" y="2304057"/>
            <a:ext cx="39502" cy="46085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4688" y="2223226"/>
            <a:ext cx="21945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어디쯤인지 모른다</a:t>
            </a:r>
          </a:p>
        </p:txBody>
      </p:sp>
      <p:sp>
        <p:nvSpPr>
          <p:cNvPr id="20" name="Chevron 19"/>
          <p:cNvSpPr/>
          <p:nvPr/>
        </p:nvSpPr>
        <p:spPr>
          <a:xfrm>
            <a:off x="7808975" y="21990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83296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357616" y="199791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35375" y="2240015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39469" y="2240015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30838" y="2233431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85574" y="2366558"/>
            <a:ext cx="204094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9180576" y="2223226"/>
            <a:ext cx="21945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매번 물어봐야 안다</a:t>
            </a:r>
          </a:p>
        </p:txBody>
      </p:sp>
      <p:sp>
        <p:nvSpPr>
          <p:cNvPr id="28" name="Chevron 27"/>
          <p:cNvSpPr/>
          <p:nvPr/>
        </p:nvSpPr>
        <p:spPr>
          <a:xfrm rot="5400000">
            <a:off x="5943600" y="3163824"/>
            <a:ext cx="292608" cy="292608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54680" y="3639312"/>
            <a:ext cx="5897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958236"/>
            <a:ext cx="58978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결과 — 애매한 대기로 시간을 낭비한다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4919472"/>
            <a:ext cx="7178040" cy="804672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14600" y="5202544"/>
            <a:ext cx="7178040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50" b="1">
                <a:solidFill>
                  <a:srgbClr val="1348C0"/>
                </a:solidFill>
              </a:defRPr>
            </a:pPr>
            <a:r>
              <a:t>이 서비스가 답해야 할 질문 — “몇 분 남았는가”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44000">
                <a:srgbClr val="FFFFFF"/>
              </a:gs>
              <a:gs pos="100000">
                <a:srgbClr val="FFFFF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타깃 사용자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누구를 위해 만드는가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1차 타깃의 이동수단이 서비스 설계를 결정한다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1C60E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2176272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29868" y="2433035"/>
            <a:ext cx="356616" cy="149778"/>
          </a:xfrm>
          <a:prstGeom prst="roundRect">
            <a:avLst>
              <a:gd name="adj" fmla="val 3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86926" y="2361712"/>
            <a:ext cx="242498" cy="106984"/>
          </a:xfrm>
          <a:prstGeom prst="roundRect">
            <a:avLst>
              <a:gd name="adj" fmla="val 30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279794" y="2561417"/>
            <a:ext cx="78455" cy="78455"/>
          </a:xfrm>
          <a:prstGeom prst="ellipse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58102" y="2561417"/>
            <a:ext cx="78455" cy="78455"/>
          </a:xfrm>
          <a:prstGeom prst="ellipse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08960" y="2386584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1C60EF"/>
                </a:solidFill>
              </a:defRPr>
            </a:pPr>
            <a:r>
              <a:t>1차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58623"/>
            <a:ext cx="274320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FFFFFF"/>
                </a:solidFill>
              </a:defRPr>
            </a:pPr>
            <a:r>
              <a:t>자가용으로 함께 모이는 다인원 모임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96361"/>
            <a:ext cx="2788920" cy="6563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  <a:defRPr sz="1050" b="0">
                <a:solidFill>
                  <a:srgbClr val="DBE8FE"/>
                </a:solidFill>
              </a:defRPr>
            </a:pPr>
            <a:r>
              <a:t>동호회·단체 이동·행사 참석.</a:t>
            </a:r>
          </a:p>
          <a:p>
            <a:pPr algn="l">
              <a:lnSpc>
                <a:spcPct val="140000"/>
              </a:lnSpc>
              <a:defRPr sz="1050" b="0">
                <a:solidFill>
                  <a:srgbClr val="DBE8FE"/>
                </a:solidFill>
              </a:defRPr>
            </a:pPr>
            <a:r>
              <a:t>운전자는 내비를 켠 채 이동하므로</a:t>
            </a:r>
          </a:p>
          <a:p>
            <a:pPr algn="l">
              <a:lnSpc>
                <a:spcPct val="140000"/>
              </a:lnSpc>
              <a:defRPr sz="1050" b="0">
                <a:solidFill>
                  <a:srgbClr val="DBE8FE"/>
                </a:solidFill>
              </a:defRPr>
            </a:pPr>
            <a:r>
              <a:t>다른 앱을 열기 어렵다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192024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27447" y="2176272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20020" y="2383109"/>
            <a:ext cx="106984" cy="10698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41122" y="2383109"/>
            <a:ext cx="106984" cy="10698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23439" y="2354580"/>
            <a:ext cx="121249" cy="121249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73513" y="2511491"/>
            <a:ext cx="221101" cy="142646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84848" y="2386584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9FADC4"/>
                </a:solidFill>
              </a:defRPr>
            </a:pPr>
            <a:r>
              <a:t>2차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7" y="3258623"/>
            <a:ext cx="274320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20~30대 친구 모임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7" y="3896361"/>
            <a:ext cx="2788920" cy="6563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  <a:defRPr sz="1050" b="0">
                <a:solidFill>
                  <a:srgbClr val="5A6B87"/>
                </a:solidFill>
              </a:defRPr>
            </a:pPr>
            <a:r>
              <a:t>앱 설치에 거부감이 크고,</a:t>
            </a:r>
          </a:p>
          <a:p>
            <a:pPr algn="l">
              <a:lnSpc>
                <a:spcPct val="140000"/>
              </a:lnSpc>
              <a:defRPr sz="1050" b="0">
                <a:solidFill>
                  <a:srgbClr val="5A6B87"/>
                </a:solidFill>
              </a:defRPr>
            </a:pPr>
            <a:r>
              <a:t>위치 공유는 ‘모임 때만’이면</a:t>
            </a:r>
          </a:p>
          <a:p>
            <a:pPr algn="l">
              <a:lnSpc>
                <a:spcPct val="140000"/>
              </a:lnSpc>
              <a:defRPr sz="1050" b="0">
                <a:solidFill>
                  <a:srgbClr val="5A6B87"/>
                </a:solidFill>
              </a:defRPr>
            </a:pPr>
            <a:r>
              <a:t>수용할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92024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03336" y="2176272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Pentagon 25"/>
          <p:cNvSpPr/>
          <p:nvPr/>
        </p:nvSpPr>
        <p:spPr>
          <a:xfrm rot="5400000">
            <a:off x="8603040" y="2354580"/>
            <a:ext cx="313822" cy="356616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11060" y="2447721"/>
            <a:ext cx="97784" cy="1560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014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0736" y="2386584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9FADC4"/>
                </a:solidFill>
              </a:defRPr>
            </a:pPr>
            <a:r>
              <a:t>3차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258623"/>
            <a:ext cx="274320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신원 확인이 필요한 모임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3896361"/>
            <a:ext cx="2788920" cy="6563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  <a:defRPr sz="1050" b="0">
                <a:solidFill>
                  <a:srgbClr val="5A6B87"/>
                </a:solidFill>
              </a:defRPr>
            </a:pPr>
            <a:r>
              <a:t>행사·기관 단위 모임.</a:t>
            </a:r>
          </a:p>
          <a:p>
            <a:pPr algn="l">
              <a:lnSpc>
                <a:spcPct val="140000"/>
              </a:lnSpc>
              <a:defRPr sz="1050" b="0">
                <a:solidFill>
                  <a:srgbClr val="5A6B87"/>
                </a:solidFill>
              </a:defRPr>
            </a:pPr>
            <a:r>
              <a:t>참가자가 명부와 일치하는지</a:t>
            </a:r>
          </a:p>
          <a:p>
            <a:pPr algn="l">
              <a:lnSpc>
                <a:spcPct val="140000"/>
              </a:lnSpc>
              <a:defRPr sz="1050" b="0">
                <a:solidFill>
                  <a:srgbClr val="5A6B87"/>
                </a:solidFill>
              </a:defRPr>
            </a:pPr>
            <a:r>
              <a:t>확인이 필요하다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03492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1348C0"/>
                </a:solidFill>
              </a:defRPr>
            </a:pPr>
            <a:r>
              <a:t>자가용 이동이 1차라면 “내비를 켠 상태에서도 확인 가능해야 한다”가 설계 제약이 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DBE8FE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04 · 사용자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두 역할, 하나의 화면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93392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주최자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847088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2624328" y="2084831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2" y="1979508"/>
            <a:ext cx="1920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모임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291352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장소·일시·이동수단</a:t>
            </a:r>
          </a:p>
        </p:txBody>
      </p:sp>
      <p:sp>
        <p:nvSpPr>
          <p:cNvPr id="10" name="Chevron 9"/>
          <p:cNvSpPr/>
          <p:nvPr/>
        </p:nvSpPr>
        <p:spPr>
          <a:xfrm>
            <a:off x="5148072" y="2121408"/>
            <a:ext cx="237744" cy="237744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8968" y="1847088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0136" y="2084831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1979508"/>
            <a:ext cx="1920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링크 공유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2291352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단톡방에 붙여넣기</a:t>
            </a:r>
          </a:p>
        </p:txBody>
      </p:sp>
      <p:sp>
        <p:nvSpPr>
          <p:cNvPr id="15" name="Chevron 14"/>
          <p:cNvSpPr/>
          <p:nvPr/>
        </p:nvSpPr>
        <p:spPr>
          <a:xfrm>
            <a:off x="8183879" y="2121408"/>
            <a:ext cx="237744" cy="237744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94776" y="1847088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95944" y="2084831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1979508"/>
            <a:ext cx="19202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현황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291352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누가 오는 중인지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75887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50" b="1">
                <a:solidFill>
                  <a:srgbClr val="1348C0"/>
                </a:solidFill>
              </a:defRPr>
            </a:pPr>
            <a:r>
              <a:t>참여자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529584"/>
            <a:ext cx="1956816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2606040" y="3767328"/>
            <a:ext cx="310896" cy="310896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1C60EF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3662004"/>
            <a:ext cx="13716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링크 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397384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설치 없음</a:t>
            </a:r>
          </a:p>
        </p:txBody>
      </p:sp>
      <p:sp>
        <p:nvSpPr>
          <p:cNvPr id="25" name="Chevron 24"/>
          <p:cNvSpPr/>
          <p:nvPr/>
        </p:nvSpPr>
        <p:spPr>
          <a:xfrm>
            <a:off x="4434840" y="3813048"/>
            <a:ext cx="219456" cy="219456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09160" y="3529584"/>
            <a:ext cx="1956816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92040" y="3767328"/>
            <a:ext cx="310896" cy="310896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1C60E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3662004"/>
            <a:ext cx="13716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참여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397384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닉네임 입력</a:t>
            </a:r>
          </a:p>
        </p:txBody>
      </p:sp>
      <p:sp>
        <p:nvSpPr>
          <p:cNvPr id="30" name="Chevron 29"/>
          <p:cNvSpPr/>
          <p:nvPr/>
        </p:nvSpPr>
        <p:spPr>
          <a:xfrm>
            <a:off x="6720840" y="3813048"/>
            <a:ext cx="219456" cy="219456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995160" y="3529584"/>
            <a:ext cx="1956816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7178040" y="3767328"/>
            <a:ext cx="310896" cy="310896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1C60EF"/>
                </a:solidFill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3662004"/>
            <a:ext cx="13716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출발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397384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공유 시작</a:t>
            </a:r>
          </a:p>
        </p:txBody>
      </p:sp>
      <p:sp>
        <p:nvSpPr>
          <p:cNvPr id="35" name="Chevron 34"/>
          <p:cNvSpPr/>
          <p:nvPr/>
        </p:nvSpPr>
        <p:spPr>
          <a:xfrm>
            <a:off x="9006840" y="3813048"/>
            <a:ext cx="219456" cy="219456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281160" y="3529584"/>
            <a:ext cx="1956816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9464040" y="3767328"/>
            <a:ext cx="310896" cy="310896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1C60EF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8088" y="3662004"/>
            <a:ext cx="13716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도착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397384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자동 종료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736592"/>
            <a:ext cx="10728655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5048044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10203C"/>
                </a:solidFill>
              </a:defRPr>
            </a:pPr>
            <a:r>
              <a:t>주최자도 참여자가 되어 같은 화면을 본다 — 별도 관리자 화면은 1차 범위에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기능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① 모임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주최자가 모임의 조건을 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9872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1">
                <a:solidFill>
                  <a:srgbClr val="9FADC4"/>
                </a:solidFill>
              </a:defRPr>
            </a:pPr>
            <a: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79872"/>
            <a:ext cx="6035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1">
                <a:solidFill>
                  <a:srgbClr val="9FADC4"/>
                </a:solidFill>
              </a:defRPr>
            </a:pPr>
            <a:r>
              <a:t>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79872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1">
                <a:solidFill>
                  <a:srgbClr val="9FADC4"/>
                </a:solidFill>
              </a:defRPr>
            </a:pPr>
            <a:r>
              <a:t>범위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39696"/>
            <a:ext cx="10728655" cy="137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428581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391837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목적지 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99531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rPr dirty="0" err="1"/>
              <a:t>지도에서</a:t>
            </a:r>
            <a:r>
              <a:rPr dirty="0"/>
              <a:t> </a:t>
            </a: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장소를</a:t>
            </a:r>
            <a:r>
              <a:rPr dirty="0"/>
              <a:t> </a:t>
            </a:r>
            <a:r>
              <a:rPr dirty="0" err="1"/>
              <a:t>선택한다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692640" y="235085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43784"/>
            <a:ext cx="10728655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105803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069059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일시 지정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76753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날짜와 시간을 선택한다 (시간은 5분 단위)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3028079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02152"/>
            <a:ext cx="10728655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3764171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3727427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이동수단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35121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자가용·대중교통·도보 — 도착 시간 계산의 기준이 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68644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10728655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4422538"/>
            <a:ext cx="118872" cy="118872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" y="4385794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경유지 추가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393488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최종 목적지 외에 여러 경유지를 등록한다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434481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9FADC4"/>
                </a:solidFill>
              </a:defRPr>
            </a:pPr>
            <a:r>
              <a:t>이후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18888"/>
            <a:ext cx="10728655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" y="5033772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" y="4997028"/>
            <a:ext cx="22860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모임 이름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04722"/>
            <a:ext cx="61264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선택 입력. 비우면 기본값을 쓴다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49560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96403"/>
            <a:ext cx="107286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1348C0"/>
                </a:solidFill>
              </a:defRPr>
            </a:pPr>
            <a:r>
              <a:t>이동수단을 먼저 받는 것이 이 서비스의 전제 — 같은 거리라도 도착 시간이 달라진다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기능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② 참여와 동승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받은 사람이 어떻게 들어오는가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2167127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Donut 7"/>
          <p:cNvSpPr/>
          <p:nvPr/>
        </p:nvSpPr>
        <p:spPr>
          <a:xfrm>
            <a:off x="1197864" y="2431206"/>
            <a:ext cx="194584" cy="166786"/>
          </a:xfrm>
          <a:prstGeom prst="donu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Donut 8"/>
          <p:cNvSpPr/>
          <p:nvPr/>
        </p:nvSpPr>
        <p:spPr>
          <a:xfrm>
            <a:off x="1350751" y="2431206"/>
            <a:ext cx="194584" cy="166786"/>
          </a:xfrm>
          <a:prstGeom prst="donut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01952" y="2233141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rPr dirty="0" err="1"/>
              <a:t>링크</a:t>
            </a:r>
            <a:r>
              <a:rPr dirty="0"/>
              <a:t> </a:t>
            </a:r>
            <a:r>
              <a:rPr dirty="0" err="1"/>
              <a:t>참여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138928" y="2185415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735632"/>
            <a:ext cx="384048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닉네임만 입력해 즉시 참여한다.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설치·가입·친구 관계가 필요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74519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37960" y="2167127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Block Arc 14"/>
          <p:cNvSpPr/>
          <p:nvPr/>
        </p:nvSpPr>
        <p:spPr>
          <a:xfrm>
            <a:off x="6791614" y="2340863"/>
            <a:ext cx="187634" cy="194584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60342" y="2486802"/>
            <a:ext cx="250179" cy="194584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61108" y="2556296"/>
            <a:ext cx="48646" cy="48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15783" y="2233141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본인확인 참여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52760" y="2185415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9FADC4"/>
                </a:solidFill>
              </a:defRPr>
            </a:pPr>
            <a:r>
              <a:t>이후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3" y="2735632"/>
            <a:ext cx="384048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PASS 본인확인으로 참여한다.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신원 확인이 필요한 모임에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85031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4128" y="3977639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97864" y="4227819"/>
            <a:ext cx="347472" cy="145938"/>
          </a:xfrm>
          <a:prstGeom prst="roundRect">
            <a:avLst>
              <a:gd name="adj" fmla="val 3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253459" y="4158325"/>
            <a:ext cx="236280" cy="104241"/>
          </a:xfrm>
          <a:prstGeom prst="roundRect">
            <a:avLst>
              <a:gd name="adj" fmla="val 30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46510" y="4352909"/>
            <a:ext cx="76443" cy="76443"/>
          </a:xfrm>
          <a:prstGeom prst="ellipse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1420246" y="4352909"/>
            <a:ext cx="76443" cy="76443"/>
          </a:xfrm>
          <a:prstGeom prst="ellipse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01952" y="4043653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rPr dirty="0" err="1"/>
              <a:t>동승자</a:t>
            </a:r>
            <a:r>
              <a:rPr dirty="0"/>
              <a:t>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등록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5138928" y="399592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4546144"/>
            <a:ext cx="384048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명이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인원을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등록한다</a:t>
            </a:r>
            <a:r>
              <a:rPr dirty="0"/>
              <a:t>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동승자는</a:t>
            </a:r>
            <a:r>
              <a:rPr dirty="0"/>
              <a:t> </a:t>
            </a:r>
            <a:r>
              <a:rPr dirty="0" err="1"/>
              <a:t>각자</a:t>
            </a:r>
            <a:r>
              <a:rPr dirty="0"/>
              <a:t> </a:t>
            </a:r>
            <a:r>
              <a:rPr dirty="0" err="1"/>
              <a:t>공유하지</a:t>
            </a:r>
            <a:r>
              <a:rPr dirty="0"/>
              <a:t> </a:t>
            </a:r>
            <a:r>
              <a:rPr dirty="0" err="1"/>
              <a:t>않아도</a:t>
            </a:r>
            <a:r>
              <a:rPr dirty="0"/>
              <a:t> </a:t>
            </a:r>
            <a:r>
              <a:rPr dirty="0" err="1"/>
              <a:t>된다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6245352" y="3685031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37960" y="3977639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25594" y="4179173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41027" y="4179173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26361" y="4151375"/>
            <a:ext cx="118140" cy="11814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777715" y="4304263"/>
            <a:ext cx="215432" cy="138988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15783" y="4043653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참여 현황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52760" y="3995927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5783" y="4660406"/>
            <a:ext cx="3840480" cy="2072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현재 참여 인원과 동승 구성을 표시한다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28548"/>
            <a:ext cx="1072865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348C0"/>
                </a:solidFill>
              </a:defRPr>
            </a:pPr>
            <a:r>
              <a:t>동승자 대표 등록은 “전원이 위치를 켜야 한다”는 부담을 없애는 장치다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6000">
                <a:srgbClr val="FFFFFF"/>
              </a:gs>
              <a:gs pos="100000">
                <a:srgbClr val="DBE8F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기능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③ 당일 이동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출발부터 도착까지 무엇이 동작하는가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47088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212140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247424" y="2290572"/>
            <a:ext cx="230063" cy="23006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Isosceles Triangle 8"/>
          <p:cNvSpPr/>
          <p:nvPr/>
        </p:nvSpPr>
        <p:spPr>
          <a:xfrm rot="10800000">
            <a:off x="1298173" y="2466502"/>
            <a:ext cx="128564" cy="148864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321856" y="2365004"/>
            <a:ext cx="81198" cy="811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73552" y="215798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689" y="2986797"/>
            <a:ext cx="291538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rPr dirty="0" err="1"/>
              <a:t>출발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80689" y="3303978"/>
            <a:ext cx="2963975" cy="191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t>‘출발’을 눌러야 공유가 시작된다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847088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00016" y="212140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9180" y="2324404"/>
            <a:ext cx="338328" cy="2706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6845" y="2324404"/>
            <a:ext cx="20116" cy="27066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69180" y="2459736"/>
            <a:ext cx="338328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07894" y="2412370"/>
            <a:ext cx="60899" cy="60899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5018044" y="2466502"/>
            <a:ext cx="40599" cy="47365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0" y="215798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6577" y="2986797"/>
            <a:ext cx="291538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4756577" y="3303978"/>
            <a:ext cx="2963975" cy="191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rPr dirty="0" err="1"/>
              <a:t>참여자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지도에</a:t>
            </a:r>
            <a:r>
              <a:rPr dirty="0"/>
              <a:t> </a:t>
            </a:r>
            <a:r>
              <a:rPr dirty="0" err="1"/>
              <a:t>표시한다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8083296" y="1847088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75904" y="212140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45067" y="2290572"/>
            <a:ext cx="338328" cy="338328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01430" y="2358237"/>
            <a:ext cx="25603" cy="108264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14232" y="2446934"/>
            <a:ext cx="91348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625328" y="215798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2465" y="2986797"/>
            <a:ext cx="291538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도착 예정 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2465" y="3303978"/>
            <a:ext cx="2963975" cy="191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t>이동수단 기준으로 남은 시간을 계산한다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767328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4128" y="404164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260957" y="4210812"/>
            <a:ext cx="32004" cy="3383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74490" y="4231111"/>
            <a:ext cx="175930" cy="115031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273552" y="40782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9FADC4"/>
                </a:solidFill>
              </a:defRPr>
            </a:pPr>
            <a:r>
              <a:t>이후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689" y="4907037"/>
            <a:ext cx="291538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경유 상태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689" y="5214791"/>
            <a:ext cx="2963975" cy="191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t>누가 어느 경유지를 지났는지 표시한다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7407" y="3767328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700016" y="404164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4869180" y="4210812"/>
            <a:ext cx="338328" cy="3383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91857" y="4306045"/>
            <a:ext cx="92974" cy="14786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61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0" y="40782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6577" y="4907037"/>
            <a:ext cx="291538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도착 처리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6577" y="5214791"/>
            <a:ext cx="2963975" cy="191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rPr dirty="0" err="1"/>
              <a:t>반경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공유가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종료되고</a:t>
            </a:r>
            <a:r>
              <a:rPr dirty="0"/>
              <a:t> </a:t>
            </a:r>
            <a:r>
              <a:rPr dirty="0" err="1"/>
              <a:t>명단에</a:t>
            </a:r>
            <a:r>
              <a:rPr dirty="0"/>
              <a:t> </a:t>
            </a:r>
            <a:r>
              <a:rPr dirty="0" err="1"/>
              <a:t>오른다</a:t>
            </a:r>
            <a:endParaRPr dirty="0"/>
          </a:p>
        </p:txBody>
      </p:sp>
      <p:sp>
        <p:nvSpPr>
          <p:cNvPr id="46" name="Rounded Rectangle 45"/>
          <p:cNvSpPr/>
          <p:nvPr/>
        </p:nvSpPr>
        <p:spPr>
          <a:xfrm>
            <a:off x="8083296" y="3767328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75904" y="404164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8545067" y="4210812"/>
            <a:ext cx="338328" cy="3383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71751" y="4317330"/>
            <a:ext cx="84960" cy="12529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14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25328" y="40782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348C0"/>
                </a:solidFill>
              </a:defRPr>
            </a:pPr>
            <a:r>
              <a:t>1차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2465" y="4907037"/>
            <a:ext cx="291538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세션 종료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2465" y="5214791"/>
            <a:ext cx="2963975" cy="191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t>모임 시각 경과 후 전체 공유가 자동 중단된다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851267"/>
            <a:ext cx="107286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1348C0"/>
                </a:solidFill>
              </a:defRPr>
            </a:pPr>
            <a:r>
              <a:t>켜는 조건과 끄는 조건을 모두 서비스가 정한다 — 사용자가 끄는 것을 잊어도 꺼진다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8833103" y="1600200"/>
            <a:ext cx="1753178" cy="347472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54496" y="1600200"/>
            <a:ext cx="1753178" cy="347472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75887" y="1600200"/>
            <a:ext cx="1753178" cy="347472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600200"/>
            <a:ext cx="1753178" cy="347472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06 ·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화면은 네 단계로만 구성된다</a:t>
            </a:r>
          </a:p>
        </p:txBody>
      </p:sp>
      <p:pic>
        <p:nvPicPr>
          <p:cNvPr id="5" name="Picture 4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37360"/>
            <a:ext cx="1478858" cy="32004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856232" y="5138928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07642"/>
            <a:ext cx="20116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1">
                <a:solidFill>
                  <a:srgbClr val="10203C"/>
                </a:solidFill>
              </a:defRPr>
            </a:pPr>
            <a:r>
              <a:t>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66072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5A6B87"/>
                </a:solidFill>
              </a:defRPr>
            </a:pPr>
            <a:r>
              <a:t>만들기</a:t>
            </a:r>
          </a:p>
        </p:txBody>
      </p:sp>
      <p:sp>
        <p:nvSpPr>
          <p:cNvPr id="10" name="Chevron 9"/>
          <p:cNvSpPr/>
          <p:nvPr/>
        </p:nvSpPr>
        <p:spPr>
          <a:xfrm>
            <a:off x="3191256" y="316382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1737360"/>
            <a:ext cx="1478858" cy="32004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434840" y="5138928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5507642"/>
            <a:ext cx="20116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1">
                <a:solidFill>
                  <a:srgbClr val="10203C"/>
                </a:solidFill>
              </a:defRPr>
            </a:pPr>
            <a:r>
              <a:t>모임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5766072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5A6B87"/>
                </a:solidFill>
              </a:defRPr>
            </a:pPr>
            <a:r>
              <a:t>조건 입력</a:t>
            </a:r>
          </a:p>
        </p:txBody>
      </p:sp>
      <p:sp>
        <p:nvSpPr>
          <p:cNvPr id="16" name="Chevron 15"/>
          <p:cNvSpPr/>
          <p:nvPr/>
        </p:nvSpPr>
        <p:spPr>
          <a:xfrm>
            <a:off x="5769864" y="316382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3-inv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737360"/>
            <a:ext cx="1478858" cy="320040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7013448" y="5138928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5507642"/>
            <a:ext cx="20116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1">
                <a:solidFill>
                  <a:srgbClr val="10203C"/>
                </a:solidFill>
              </a:defRPr>
            </a:pPr>
            <a:r>
              <a:t>초대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5766072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5A6B87"/>
                </a:solidFill>
              </a:defRPr>
            </a:pPr>
            <a:r>
              <a:t>공유</a:t>
            </a:r>
          </a:p>
        </p:txBody>
      </p:sp>
      <p:sp>
        <p:nvSpPr>
          <p:cNvPr id="22" name="Chevron 21"/>
          <p:cNvSpPr/>
          <p:nvPr/>
        </p:nvSpPr>
        <p:spPr>
          <a:xfrm>
            <a:off x="8348471" y="316382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4-jo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3" y="1737360"/>
            <a:ext cx="1478858" cy="320040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9592055" y="5138928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1663" y="5507642"/>
            <a:ext cx="20116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1">
                <a:solidFill>
                  <a:srgbClr val="10203C"/>
                </a:solidFill>
              </a:defRPr>
            </a:pPr>
            <a:r>
              <a:t>닉네임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1663" y="5766072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5A6B87"/>
                </a:solidFill>
              </a:defRPr>
            </a:pPr>
            <a:r>
              <a:rPr dirty="0" err="1"/>
              <a:t>참여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31520" y="6193442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9FADC4"/>
                </a:solidFill>
              </a:defRPr>
            </a:pPr>
            <a:r>
              <a:t>참여자는 2·3번 화면을 보지 않는다 — 링크를 열면 4번부터 시작한다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417320" y="1325880"/>
            <a:ext cx="2429227" cy="4937759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8000">
                <a:srgbClr val="FFFFFF"/>
              </a:gs>
              <a:gs pos="100000">
                <a:srgbClr val="DBE8FE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06 ·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핵심 화면 — 당일 지도</a:t>
            </a:r>
          </a:p>
        </p:txBody>
      </p:sp>
      <p:pic>
        <p:nvPicPr>
          <p:cNvPr id="5" name="Picture 4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63040"/>
            <a:ext cx="2154907" cy="46634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355080" y="1911095"/>
            <a:ext cx="365760" cy="36576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986253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정보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903720" y="2288953"/>
            <a:ext cx="44805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rPr dirty="0" err="1"/>
              <a:t>장소와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항상</a:t>
            </a:r>
            <a:r>
              <a:rPr dirty="0"/>
              <a:t> </a:t>
            </a:r>
            <a:r>
              <a:rPr dirty="0" err="1"/>
              <a:t>상단에</a:t>
            </a:r>
            <a:r>
              <a:rPr dirty="0"/>
              <a:t> </a:t>
            </a:r>
            <a:r>
              <a:rPr dirty="0" err="1"/>
              <a:t>고정</a:t>
            </a:r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6355080" y="2898648"/>
            <a:ext cx="365760" cy="36576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973806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지도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276506"/>
            <a:ext cx="44805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목적지와 참여자 위치를 함께 표시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86200"/>
            <a:ext cx="365760" cy="36576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61358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출발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264058"/>
            <a:ext cx="44805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공유를 시작·중단하는 단일 조작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4873752"/>
            <a:ext cx="365760" cy="36576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948910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참여자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5251610"/>
            <a:ext cx="44805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0">
                <a:solidFill>
                  <a:srgbClr val="5A6B87"/>
                </a:solidFill>
              </a:defRPr>
            </a:pPr>
            <a:r>
              <a:t>‘오는 중’과 ‘도착’을 분리해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996121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0">
                <a:solidFill>
                  <a:srgbClr val="9FADC4"/>
                </a:solidFill>
              </a:defRPr>
            </a:pP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화면에서</a:t>
            </a:r>
            <a:r>
              <a:rPr dirty="0"/>
              <a:t> </a:t>
            </a:r>
            <a:r>
              <a:rPr dirty="0" err="1"/>
              <a:t>판단이</a:t>
            </a:r>
            <a:r>
              <a:rPr dirty="0"/>
              <a:t> </a:t>
            </a:r>
            <a:r>
              <a:rPr dirty="0" err="1"/>
              <a:t>끝나야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 —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이동을</a:t>
            </a:r>
            <a:r>
              <a:rPr dirty="0"/>
              <a:t> </a:t>
            </a:r>
            <a:r>
              <a:rPr dirty="0" err="1"/>
              <a:t>요구하지</a:t>
            </a:r>
            <a:r>
              <a:rPr dirty="0"/>
              <a:t> </a:t>
            </a:r>
            <a:r>
              <a:rPr dirty="0" err="1"/>
              <a:t>않는다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54000">
                <a:srgbClr val="FFFFFF"/>
              </a:gs>
              <a:gs pos="100000">
                <a:srgbClr val="DBE8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07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위치 공유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무엇을, 언제까지, 누구에게 보여주는가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221284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247424" y="2382012"/>
            <a:ext cx="230063" cy="23006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Isosceles Triangle 8"/>
          <p:cNvSpPr/>
          <p:nvPr/>
        </p:nvSpPr>
        <p:spPr>
          <a:xfrm rot="10800000">
            <a:off x="1298173" y="2557942"/>
            <a:ext cx="128564" cy="148864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321856" y="2456444"/>
            <a:ext cx="81198" cy="811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83664" y="2278862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켜는 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2763064"/>
            <a:ext cx="388620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‘출발’을 누른 뒤에만 위치가 공유된다.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모임에 참여만 해도 위치는 보이지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20240"/>
            <a:ext cx="521208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37960" y="2212848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07124" y="2382012"/>
            <a:ext cx="338328" cy="3383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29801" y="2477245"/>
            <a:ext cx="92974" cy="14786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61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278862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끄는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63064"/>
            <a:ext cx="388620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도착 반경에 들어오면 해당 참여자의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공유가 자동으로 종료된다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75887"/>
            <a:ext cx="521208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128" y="3968496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93292" y="4137660"/>
            <a:ext cx="338328" cy="338328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49654" y="4205325"/>
            <a:ext cx="25603" cy="108264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62456" y="4294022"/>
            <a:ext cx="91348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3664" y="4034509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세션 만료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3664" y="4518711"/>
            <a:ext cx="388620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모임 시각 이후 일정 시간이 지나면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전체 공유가 자동 중단된다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3675887"/>
            <a:ext cx="521208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37960" y="3968496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Block Arc 27"/>
          <p:cNvSpPr/>
          <p:nvPr/>
        </p:nvSpPr>
        <p:spPr>
          <a:xfrm>
            <a:off x="6784939" y="4137660"/>
            <a:ext cx="182697" cy="189463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754489" y="4279757"/>
            <a:ext cx="243596" cy="189463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52605" y="4347423"/>
            <a:ext cx="47365" cy="473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97496" y="4034509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열람 범위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4518711"/>
            <a:ext cx="388620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같은 모임 참여자에게만 보인다.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모임 목적 외로 사용하지 않는다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0260"/>
            <a:ext cx="1072865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348C0"/>
                </a:solidFill>
              </a:defRPr>
            </a:pPr>
            <a:r>
              <a:t>“상시 공유가 아니다”는 것이 이 서비스의 전제이자 사용자 수용의 조건이다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34000">
                <a:srgbClr val="FFFFFF"/>
              </a:gs>
              <a:gs pos="70000">
                <a:srgbClr val="FFFFFF"/>
              </a:gs>
              <a:gs pos="100000">
                <a:srgbClr val="DBE8FE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08 · 제공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채널별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같은 기능을 세 채널에 복제하지 않는다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39112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231136" y="2377805"/>
            <a:ext cx="384048" cy="2918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31136" y="2377805"/>
            <a:ext cx="384048" cy="691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2261859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04105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46350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08643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모바일 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초대받은 사람의 진입로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831" y="4016522"/>
            <a:ext cx="2536460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rPr dirty="0" err="1"/>
              <a:t>참석자는</a:t>
            </a:r>
            <a:r>
              <a:rPr dirty="0"/>
              <a:t> </a:t>
            </a:r>
            <a:r>
              <a:rPr dirty="0" err="1"/>
              <a:t>통신사가</a:t>
            </a:r>
            <a:r>
              <a:rPr dirty="0"/>
              <a:t> </a:t>
            </a:r>
            <a:r>
              <a:rPr dirty="0" err="1"/>
              <a:t>섞여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rPr dirty="0" err="1"/>
              <a:t>누구나</a:t>
            </a:r>
            <a:r>
              <a:rPr dirty="0"/>
              <a:t> </a:t>
            </a:r>
            <a:r>
              <a:rPr dirty="0" err="1"/>
              <a:t>링크로</a:t>
            </a:r>
            <a:r>
              <a:rPr dirty="0"/>
              <a:t> </a:t>
            </a:r>
            <a:r>
              <a:rPr dirty="0" err="1"/>
              <a:t>들어올</a:t>
            </a:r>
            <a:r>
              <a:rPr dirty="0"/>
              <a:t> </a:t>
            </a:r>
            <a:r>
              <a:rPr dirty="0" err="1"/>
              <a:t>경로가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407407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14999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07023" y="2331720"/>
            <a:ext cx="384048" cy="38404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46949" y="2439713"/>
            <a:ext cx="104196" cy="16805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092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308643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PASS 인앱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7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본인확인이 필요한 모임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1718" y="4016522"/>
            <a:ext cx="2536460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주최자 경로로 한정한다.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초대받는 쪽을 유도하면 강점이 사라진다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90888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67402" y="2331720"/>
            <a:ext cx="215066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36531" y="2366284"/>
            <a:ext cx="7680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48052" y="2627436"/>
            <a:ext cx="53766" cy="5376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83296" y="308643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자체 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6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이동 중 지속 공유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7607" y="4016522"/>
            <a:ext cx="2536460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웹은 백그라운드 추적이 불가하다.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운전자 시나리오는 네이티브가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16765"/>
            <a:ext cx="107286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50" b="1">
                <a:solidFill>
                  <a:srgbClr val="1348C0"/>
                </a:solidFill>
              </a:defRPr>
            </a:pPr>
            <a:r>
              <a:t>웹은 진입, PASS는 신뢰, 자체 앱은 지속 — 겹치지 않는다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8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09 · 기존 서비스와의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왜 기존 서비스로는 안 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572768"/>
            <a:ext cx="4325112" cy="3968496"/>
          </a:xfrm>
          <a:prstGeom prst="roundRect">
            <a:avLst>
              <a:gd name="adj" fmla="val 5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02288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50" b="1">
                <a:solidFill>
                  <a:srgbClr val="9FADC4"/>
                </a:solidFill>
              </a:defRPr>
            </a:pPr>
            <a: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94594"/>
            <a:ext cx="39776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1">
                <a:solidFill>
                  <a:srgbClr val="5A6B87"/>
                </a:solidFill>
              </a:defRPr>
            </a:pPr>
            <a:r>
              <a:t>카카오맵 친구위치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694594"/>
            <a:ext cx="4233672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1">
                <a:solidFill>
                  <a:srgbClr val="1C60EF"/>
                </a:solidFill>
              </a:defRPr>
            </a:pPr>
            <a:r>
              <a:t>어디쯤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10728655" cy="137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281416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출발 시점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79653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공유를 켜면 그 순간부터 노출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314313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61504" y="2275357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‘출발’을 눌러야 공유가 시작된다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24911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76925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이동수단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75162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구분 없음 — 실시간 속도만 표시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3009822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61504" y="2970866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rPr dirty="0" err="1"/>
              <a:t>자가용·대중교통·도보를</a:t>
            </a:r>
            <a:r>
              <a:rPr dirty="0"/>
              <a:t> </a:t>
            </a:r>
            <a:r>
              <a:rPr dirty="0" err="1"/>
              <a:t>선택한다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731520" y="3401568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53582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동승 인원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651819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rPr dirty="0" err="1"/>
              <a:t>각자</a:t>
            </a:r>
            <a:r>
              <a:rPr dirty="0"/>
              <a:t> </a:t>
            </a:r>
            <a:r>
              <a:rPr dirty="0" err="1"/>
              <a:t>켜야</a:t>
            </a:r>
            <a:r>
              <a:rPr dirty="0"/>
              <a:t> </a:t>
            </a:r>
            <a:r>
              <a:rPr dirty="0" err="1"/>
              <a:t>몇</a:t>
            </a:r>
            <a:r>
              <a:rPr dirty="0"/>
              <a:t> </a:t>
            </a:r>
            <a:r>
              <a:rPr dirty="0" err="1"/>
              <a:t>명이</a:t>
            </a:r>
            <a:r>
              <a:rPr dirty="0"/>
              <a:t> </a:t>
            </a:r>
            <a:r>
              <a:rPr dirty="0" err="1"/>
              <a:t>오는지</a:t>
            </a:r>
            <a:r>
              <a:rPr dirty="0"/>
              <a:t> </a:t>
            </a:r>
            <a:r>
              <a:rPr dirty="0" err="1"/>
              <a:t>알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</a:t>
            </a:r>
            <a:endParaRPr dirty="0"/>
          </a:p>
        </p:txBody>
      </p:sp>
      <p:sp>
        <p:nvSpPr>
          <p:cNvPr id="22" name="Oval 21"/>
          <p:cNvSpPr/>
          <p:nvPr/>
        </p:nvSpPr>
        <p:spPr>
          <a:xfrm>
            <a:off x="7223760" y="3686479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1504" y="3647523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rPr dirty="0" err="1"/>
              <a:t>대표</a:t>
            </a:r>
            <a:r>
              <a:rPr dirty="0"/>
              <a:t> 1명이 </a:t>
            </a:r>
            <a:r>
              <a:rPr dirty="0" err="1"/>
              <a:t>동승자를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등록한다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731520" y="4078224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330238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경유지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328475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rPr dirty="0" err="1"/>
              <a:t>만날</a:t>
            </a:r>
            <a:r>
              <a:rPr dirty="0"/>
              <a:t> </a:t>
            </a:r>
            <a:r>
              <a:rPr dirty="0" err="1"/>
              <a:t>장소</a:t>
            </a:r>
            <a:r>
              <a:rPr dirty="0"/>
              <a:t> 1곳만 </a:t>
            </a:r>
            <a:r>
              <a:rPr dirty="0" err="1"/>
              <a:t>설정</a:t>
            </a:r>
            <a:endParaRPr dirty="0"/>
          </a:p>
        </p:txBody>
      </p:sp>
      <p:sp>
        <p:nvSpPr>
          <p:cNvPr id="27" name="Oval 26"/>
          <p:cNvSpPr/>
          <p:nvPr/>
        </p:nvSpPr>
        <p:spPr>
          <a:xfrm>
            <a:off x="7223760" y="4363135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61504" y="4324179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다중 경유지 + 참여자별 경유 상태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988040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내비 병행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986277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같은 앱이라 길안내가 끊긴다</a:t>
            </a:r>
          </a:p>
        </p:txBody>
      </p:sp>
      <p:sp>
        <p:nvSpPr>
          <p:cNvPr id="32" name="Oval 31"/>
          <p:cNvSpPr/>
          <p:nvPr/>
        </p:nvSpPr>
        <p:spPr>
          <a:xfrm>
            <a:off x="7223760" y="5020937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61504" y="4981981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내비를 유지한 채 확인할 수 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55980"/>
            <a:ext cx="1072865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카카오는 “친구가 지금 어디 있는지”를 다룬다. 어디쯤은 “우리가 어떻게 모이는지”를 다룬다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40880" y="0"/>
            <a:ext cx="5150815" cy="6858000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DBE8FE"/>
              </a:gs>
              <a:gs pos="100000">
                <a:srgbClr val="FFFFFF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09 · 기존 서비스와의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운전자는 둘 중 하나를 포기해야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카카오맵과 카카오내비가 한 앱이기 때문에 생기는 제약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00200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4792" y="2190902"/>
            <a:ext cx="329184" cy="2633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30628" y="2190902"/>
            <a:ext cx="20116" cy="263347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64792" y="2322576"/>
            <a:ext cx="329184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99757" y="2276490"/>
            <a:ext cx="59253" cy="5925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909632" y="2329159"/>
            <a:ext cx="39502" cy="46085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10203C"/>
                </a:solidFill>
              </a:defRPr>
            </a:pPr>
            <a:r>
              <a:t>내비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목적지를 설정하고 출발</a:t>
            </a:r>
          </a:p>
        </p:txBody>
      </p:sp>
      <p:sp>
        <p:nvSpPr>
          <p:cNvPr id="16" name="Chevron 15"/>
          <p:cNvSpPr/>
          <p:nvPr/>
        </p:nvSpPr>
        <p:spPr>
          <a:xfrm>
            <a:off x="3204972" y="26151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83863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52544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30303" y="2184318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34397" y="2184318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25766" y="2157984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9680" y="2302824"/>
            <a:ext cx="204094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83863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10203C"/>
                </a:solidFill>
              </a:defRPr>
            </a:pPr>
            <a:r>
              <a:t>친구 위치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누가 어디쯤인지 보려고 이동</a:t>
            </a:r>
          </a:p>
        </p:txBody>
      </p:sp>
      <p:sp>
        <p:nvSpPr>
          <p:cNvPr id="25" name="Chevron 24"/>
          <p:cNvSpPr/>
          <p:nvPr/>
        </p:nvSpPr>
        <p:spPr>
          <a:xfrm>
            <a:off x="5957316" y="26151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36207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104888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269479" y="2157984"/>
            <a:ext cx="329184" cy="32918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92393" y="2261629"/>
            <a:ext cx="83356" cy="1218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792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9FADC4"/>
                </a:solidFill>
              </a:defRPr>
            </a:pPr>
            <a:r>
              <a:t>길안내 중단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안내가 끊기고 경로가 사라진다</a:t>
            </a:r>
          </a:p>
        </p:txBody>
      </p:sp>
      <p:sp>
        <p:nvSpPr>
          <p:cNvPr id="32" name="Chevron 31"/>
          <p:cNvSpPr/>
          <p:nvPr/>
        </p:nvSpPr>
        <p:spPr>
          <a:xfrm>
            <a:off x="8709659" y="26151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88552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57232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21824" y="2157984"/>
            <a:ext cx="329184" cy="329184"/>
          </a:xfrm>
          <a:prstGeom prst="ellipse">
            <a:avLst/>
          </a:prstGeom>
          <a:noFill/>
          <a:ln w="27940">
            <a:solidFill>
              <a:srgbClr val="9FA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173614" y="2223820"/>
            <a:ext cx="25603" cy="105338"/>
          </a:xfrm>
          <a:prstGeom prst="rect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186415" y="2309774"/>
            <a:ext cx="88879" cy="25603"/>
          </a:xfrm>
          <a:prstGeom prst="rect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88552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9FADC4"/>
                </a:solidFill>
              </a:defRPr>
            </a:pPr>
            <a:r>
              <a:t>목적지 재설정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운전 중에 다시 입력해야 한다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968496"/>
            <a:ext cx="5212080" cy="7498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4251067"/>
            <a:ext cx="5212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9FADC4"/>
                </a:solidFill>
              </a:defRPr>
            </a:pPr>
            <a:r>
              <a:t>우회하려면 티맵·네이버지도로 내비를 갈아타야 한다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45352" y="3968496"/>
            <a:ext cx="5212080" cy="749808"/>
          </a:xfrm>
          <a:prstGeom prst="roundRect">
            <a:avLst>
              <a:gd name="adj" fmla="val 4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45352" y="4251067"/>
            <a:ext cx="5212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1348C0"/>
                </a:solidFill>
              </a:defRPr>
            </a:pPr>
            <a:r>
              <a:t>어디쯤은 내비와 별개 채널 — 안내를 끄지 않는다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974336"/>
            <a:ext cx="10728655" cy="868680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289412"/>
            <a:ext cx="10728655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t>1차 타깃이 자가용 이동이라면, 이 제약을 피하는 것이 설계의 출발점이다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6000">
                <a:srgbClr val="DBE8FE"/>
              </a:gs>
              <a:gs pos="100000">
                <a:srgbClr val="FFFFF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10 ·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무엇을 먼저, 무엇을 나중에, 무엇을 하지 않는가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1C60E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34007"/>
            <a:ext cx="2743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1차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2523744"/>
            <a:ext cx="54864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042416" y="286126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8217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DBE8FE"/>
                </a:solidFill>
              </a:defRPr>
            </a:pPr>
            <a:r>
              <a:t>모임 생성 (목적지·일시·이동수단)</a:t>
            </a:r>
          </a:p>
        </p:txBody>
      </p:sp>
      <p:sp>
        <p:nvSpPr>
          <p:cNvPr id="10" name="Oval 9"/>
          <p:cNvSpPr/>
          <p:nvPr/>
        </p:nvSpPr>
        <p:spPr>
          <a:xfrm>
            <a:off x="1042416" y="331846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2789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DBE8FE"/>
                </a:solidFill>
              </a:defRPr>
            </a:pPr>
            <a:r>
              <a:t>링크 참여 (닉네임)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6" y="377566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7361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DBE8FE"/>
                </a:solidFill>
              </a:defRPr>
            </a:pPr>
            <a:r>
              <a:t>동승자 대표 등록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6" y="423286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1933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DBE8FE"/>
                </a:solidFill>
              </a:defRPr>
            </a:pPr>
            <a:r>
              <a:t>출발 · 실시간 위치 · 도착 예정 시간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" y="469006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6505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DBE8FE"/>
                </a:solidFill>
              </a:defRPr>
            </a:pPr>
            <a:r>
              <a:t>도착 자동 종료 · 세션 만료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182880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0016" y="2134007"/>
            <a:ext cx="2743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500" b="1">
                <a:solidFill>
                  <a:srgbClr val="10203C"/>
                </a:solidFill>
              </a:defRPr>
            </a:pPr>
            <a:r>
              <a:t>이후 확장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0016" y="2523744"/>
            <a:ext cx="548640" cy="2743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18303" y="2861268"/>
            <a:ext cx="100584" cy="1005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7" y="28217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5A6B87"/>
                </a:solidFill>
              </a:defRPr>
            </a:pPr>
            <a:r>
              <a:t>다중 경유지 · 참여자별 경유 상태</a:t>
            </a:r>
          </a:p>
        </p:txBody>
      </p:sp>
      <p:sp>
        <p:nvSpPr>
          <p:cNvPr id="23" name="Oval 22"/>
          <p:cNvSpPr/>
          <p:nvPr/>
        </p:nvSpPr>
        <p:spPr>
          <a:xfrm>
            <a:off x="4718303" y="3318468"/>
            <a:ext cx="100584" cy="1005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56047" y="32789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5A6B87"/>
                </a:solidFill>
              </a:defRPr>
            </a:pPr>
            <a:r>
              <a:t>PASS 본인확인 참여</a:t>
            </a:r>
          </a:p>
        </p:txBody>
      </p:sp>
      <p:sp>
        <p:nvSpPr>
          <p:cNvPr id="25" name="Oval 24"/>
          <p:cNvSpPr/>
          <p:nvPr/>
        </p:nvSpPr>
        <p:spPr>
          <a:xfrm>
            <a:off x="4718303" y="3775668"/>
            <a:ext cx="100584" cy="1005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56047" y="37361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5A6B87"/>
                </a:solidFill>
              </a:defRPr>
            </a:pPr>
            <a:r>
              <a:t>자체 앱 백그라운드 공유</a:t>
            </a:r>
          </a:p>
        </p:txBody>
      </p:sp>
      <p:sp>
        <p:nvSpPr>
          <p:cNvPr id="27" name="Oval 26"/>
          <p:cNvSpPr/>
          <p:nvPr/>
        </p:nvSpPr>
        <p:spPr>
          <a:xfrm>
            <a:off x="4718303" y="4232868"/>
            <a:ext cx="100584" cy="1005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56047" y="41933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5A6B87"/>
                </a:solidFill>
              </a:defRPr>
            </a:pPr>
            <a:r>
              <a:t>주최자용 현황 화면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82880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75904" y="2134007"/>
            <a:ext cx="27432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500" b="1">
                <a:solidFill>
                  <a:srgbClr val="9FADC4"/>
                </a:solidFill>
              </a:defRPr>
            </a:pPr>
            <a:r>
              <a:t>하지 않는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2523744"/>
            <a:ext cx="548640" cy="2743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94192" y="2861268"/>
            <a:ext cx="100584" cy="10058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31936" y="28217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9FADC4"/>
                </a:solidFill>
              </a:defRPr>
            </a:pPr>
            <a:r>
              <a:t>상시 위치 공유</a:t>
            </a:r>
          </a:p>
        </p:txBody>
      </p:sp>
      <p:sp>
        <p:nvSpPr>
          <p:cNvPr id="34" name="Oval 33"/>
          <p:cNvSpPr/>
          <p:nvPr/>
        </p:nvSpPr>
        <p:spPr>
          <a:xfrm>
            <a:off x="8394192" y="3318468"/>
            <a:ext cx="100584" cy="10058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32789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9FADC4"/>
                </a:solidFill>
              </a:defRPr>
            </a:pPr>
            <a:r>
              <a:t>채팅</a:t>
            </a:r>
          </a:p>
        </p:txBody>
      </p:sp>
      <p:sp>
        <p:nvSpPr>
          <p:cNvPr id="36" name="Oval 35"/>
          <p:cNvSpPr/>
          <p:nvPr/>
        </p:nvSpPr>
        <p:spPr>
          <a:xfrm>
            <a:off x="8394192" y="3775668"/>
            <a:ext cx="100584" cy="10058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31936" y="37361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9FADC4"/>
                </a:solidFill>
              </a:defRPr>
            </a:pPr>
            <a:r>
              <a:t>정산</a:t>
            </a:r>
          </a:p>
        </p:txBody>
      </p:sp>
      <p:sp>
        <p:nvSpPr>
          <p:cNvPr id="38" name="Oval 37"/>
          <p:cNvSpPr/>
          <p:nvPr/>
        </p:nvSpPr>
        <p:spPr>
          <a:xfrm>
            <a:off x="8394192" y="4232868"/>
            <a:ext cx="100584" cy="10058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31936" y="4193328"/>
            <a:ext cx="2606040" cy="179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050" b="0">
                <a:solidFill>
                  <a:srgbClr val="9FADC4"/>
                </a:solidFill>
              </a:defRPr>
            </a:pPr>
            <a:r>
              <a:t>장소 추천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44500"/>
            <a:ext cx="1072865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348C0"/>
                </a:solidFill>
              </a:defRPr>
            </a:pPr>
            <a:r>
              <a:t>1차 범위는 “먼저 온 사람이 판단할 수 있게 한다”는 목적에 필요한 것만 담는다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6000">
                <a:srgbClr val="FFFF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11 · 성공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무엇으로 성공을 판단하는가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Donut 6"/>
          <p:cNvSpPr/>
          <p:nvPr/>
        </p:nvSpPr>
        <p:spPr>
          <a:xfrm>
            <a:off x="1188720" y="2353299"/>
            <a:ext cx="184343" cy="158008"/>
          </a:xfrm>
          <a:prstGeom prst="donu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Donut 7"/>
          <p:cNvSpPr/>
          <p:nvPr/>
        </p:nvSpPr>
        <p:spPr>
          <a:xfrm>
            <a:off x="1333560" y="2353299"/>
            <a:ext cx="184343" cy="158008"/>
          </a:xfrm>
          <a:prstGeom prst="donut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63824" y="213969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 err="1"/>
              <a:t>핵심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24128" y="2890060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rPr dirty="0" err="1"/>
              <a:t>초대→참여</a:t>
            </a:r>
            <a:r>
              <a:rPr dirty="0"/>
              <a:t> </a:t>
            </a:r>
            <a:r>
              <a:rPr dirty="0" err="1"/>
              <a:t>전환율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24128" y="3196608"/>
            <a:ext cx="2788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링크를 받은 사람 중 참여한 비율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828800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0016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4917277" y="2267711"/>
            <a:ext cx="223845" cy="223845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4966655" y="2438887"/>
            <a:ext cx="125089" cy="144840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89697" y="2340132"/>
            <a:ext cx="79004" cy="790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39712" y="213969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 err="1"/>
              <a:t>핵심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700016" y="2890060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출발 실행률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3196608"/>
            <a:ext cx="2788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참여자 중 ‘출발’을 누른 비율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828800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75904" y="210312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40496" y="2267711"/>
            <a:ext cx="329184" cy="329184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92286" y="2333548"/>
            <a:ext cx="25603" cy="10533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05088" y="2419502"/>
            <a:ext cx="8887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0" y="213969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핵심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890060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도착 예정 시간 오차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196608"/>
            <a:ext cx="2788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예상 도착 시간과 실제 도착 시간의 차이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602736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4128" y="387705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88720" y="4041648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08428" y="4134233"/>
            <a:ext cx="89768" cy="14401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36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663996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공유 유지율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970544"/>
            <a:ext cx="2788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출발부터 도착까지 끊기지 않은 비율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7407" y="3602736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700016" y="387705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4877775" y="4067982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5081869" y="4067982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4973238" y="4041648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927152" y="4186488"/>
            <a:ext cx="204094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00016" y="4663996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모임당 참여 인원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0016" y="4970544"/>
            <a:ext cx="2788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동승 등록을 포함한 평균 인원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3296" y="3602736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375904" y="387705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573414" y="4252325"/>
            <a:ext cx="69128" cy="118506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675461" y="4160154"/>
            <a:ext cx="69128" cy="210677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77508" y="4067982"/>
            <a:ext cx="69128" cy="302849"/>
          </a:xfrm>
          <a:prstGeom prst="roundRect">
            <a:avLst>
              <a:gd name="adj" fmla="val 2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75904" y="4663996"/>
            <a:ext cx="27889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재사용률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4970544"/>
            <a:ext cx="27889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0">
                <a:solidFill>
                  <a:srgbClr val="5A6B87"/>
                </a:solidFill>
              </a:defRPr>
            </a:pPr>
            <a:r>
              <a:t>2회 이상 모임을 만든 사용자 비율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596684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1348C0"/>
                </a:solidFill>
              </a:defRPr>
            </a:pPr>
            <a:r>
              <a:t>초기에는 ‘출발 실행률’과 ‘도착 예정 시간 오차’가 가장 중요하다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77833"/>
            <a:ext cx="1072865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5A6B87"/>
                </a:solidFill>
              </a:defRPr>
            </a:pPr>
            <a:r>
              <a:t>위치를 켜지 않으면 서비스가 성립하지 않고, 남은 시간이 틀리면 다시 쓰지 않는다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1135</Words>
  <Application>Microsoft Macintosh PowerPoint</Application>
  <PresentationFormat>와이드스크린</PresentationFormat>
  <Paragraphs>284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 강철</cp:lastModifiedBy>
  <cp:revision>21</cp:revision>
  <dcterms:created xsi:type="dcterms:W3CDTF">2013-01-27T09:14:16Z</dcterms:created>
  <dcterms:modified xsi:type="dcterms:W3CDTF">2026-09-14T00:41:33Z</dcterms:modified>
  <cp:category/>
</cp:coreProperties>
</file>