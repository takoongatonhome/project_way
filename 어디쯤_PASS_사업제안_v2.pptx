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09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8220456" y="1088136"/>
            <a:ext cx="2320756" cy="4681728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6035040" y="2011680"/>
            <a:ext cx="8412480" cy="8412480"/>
          </a:xfrm>
          <a:prstGeom prst="ellipse">
            <a:avLst/>
          </a:prstGeom>
          <a:gradFill rotWithShape="1">
            <a:gsLst>
              <a:gs pos="0">
                <a:srgbClr val="DBE8FE">
                  <a:alpha val="95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ardrop 3"/>
          <p:cNvSpPr/>
          <p:nvPr/>
        </p:nvSpPr>
        <p:spPr>
          <a:xfrm rot="13500000">
            <a:off x="722376" y="411479"/>
            <a:ext cx="310896" cy="310896"/>
          </a:xfrm>
          <a:prstGeom prst="teardrop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24971" y="507857"/>
            <a:ext cx="105704" cy="1057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40233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 i="0">
                <a:solidFill>
                  <a:srgbClr val="10203C"/>
                </a:solidFill>
              </a:defRPr>
            </a:pPr>
            <a:r>
              <a:t>어디쯤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676656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4400" b="1">
                <a:solidFill>
                  <a:srgbClr val="10203C"/>
                </a:solidFill>
              </a:rPr>
              <a:t>어디쯤</a:t>
            </a:r>
            <a:r>
              <a:rPr sz="4400" b="1">
                <a:solidFill>
                  <a:srgbClr val="1C60EF"/>
                </a:solidFill>
              </a:rPr>
              <a:t>  ×  </a:t>
            </a:r>
            <a:r>
              <a:rPr sz="4400" b="1">
                <a:solidFill>
                  <a:srgbClr val="10203C"/>
                </a:solidFill>
              </a:rPr>
              <a:t>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61488"/>
            <a:ext cx="1005840" cy="4114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6035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defRPr sz="1450" b="0" i="0">
                <a:solidFill>
                  <a:srgbClr val="5A6B87"/>
                </a:solidFill>
              </a:defRPr>
            </a:pPr>
            <a:r>
              <a:t>모임 참석자의 실시간 위치·도착 예정 시간(ETA) 공유 서비스를</a:t>
            </a:r>
          </a:p>
          <a:p>
            <a:pPr algn="l">
              <a:lnSpc>
                <a:spcPct val="145000"/>
              </a:lnSpc>
              <a:defRPr sz="1450" b="0" i="0">
                <a:solidFill>
                  <a:srgbClr val="5A6B87"/>
                </a:solidFill>
              </a:defRPr>
            </a:pPr>
            <a:r>
              <a:t>PASS 본인확인 인프라와 U+ PASS 채널로 사업화하는 방안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사내 사업 제안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452628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타당성 검토 요청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45262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0">
                <a:solidFill>
                  <a:srgbClr val="5A6B87"/>
                </a:solidFill>
              </a:defRPr>
            </a:pPr>
            <a:r>
              <a:t>2026-09-09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3036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0" i="0">
                <a:solidFill>
                  <a:srgbClr val="9FADC4"/>
                </a:solidFill>
              </a:defRPr>
            </a:pPr>
            <a:r>
              <a:t>1차 검토 대상: 사업기획·전략   |   현 단계: 프로토타입 동작 검증 완료</a:t>
            </a:r>
          </a:p>
        </p:txBody>
      </p:sp>
      <p:pic>
        <p:nvPicPr>
          <p:cNvPr id="14" name="Picture 13" descr="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234440"/>
            <a:ext cx="202814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55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핵심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81328"/>
            <a:ext cx="52120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416" y="1792224"/>
            <a:ext cx="402336" cy="40233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92224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 i="0">
                <a:solidFill>
                  <a:srgbClr val="10203C"/>
                </a:solidFill>
              </a:defRPr>
            </a:pPr>
            <a:r>
              <a:rPr dirty="0" err="1"/>
              <a:t>실재하는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불편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645920" y="2176272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150" b="0" i="0">
                <a:solidFill>
                  <a:srgbClr val="5A6B87"/>
                </a:solidFill>
              </a:defRPr>
            </a:pPr>
            <a:r>
              <a:t>먼저 도착한 사람에게 판단할 근거가 없다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81328"/>
            <a:ext cx="52120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6556248" y="1792224"/>
            <a:ext cx="402336" cy="40233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9752" y="1792224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 i="0">
                <a:solidFill>
                  <a:srgbClr val="10203C"/>
                </a:solidFill>
              </a:defRPr>
            </a:pPr>
            <a:r>
              <a:rPr dirty="0" err="1"/>
              <a:t>동작하는</a:t>
            </a:r>
            <a:r>
              <a:rPr dirty="0"/>
              <a:t> </a:t>
            </a:r>
            <a:r>
              <a:rPr dirty="0" err="1"/>
              <a:t>프로토타입</a:t>
            </a:r>
            <a:r>
              <a:rPr dirty="0"/>
              <a:t> </a:t>
            </a:r>
            <a:r>
              <a:rPr dirty="0" err="1"/>
              <a:t>보유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159752" y="2176272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150" b="0" i="0">
                <a:solidFill>
                  <a:srgbClr val="5A6B87"/>
                </a:solidFill>
              </a:defRPr>
            </a:pPr>
            <a:r>
              <a:rPr dirty="0" err="1"/>
              <a:t>지도·GPS·실시간</a:t>
            </a:r>
            <a:r>
              <a:rPr dirty="0"/>
              <a:t> </a:t>
            </a:r>
            <a:r>
              <a:rPr dirty="0" err="1"/>
              <a:t>위치·ETA·도착</a:t>
            </a:r>
            <a:r>
              <a:rPr dirty="0"/>
              <a:t> </a:t>
            </a:r>
            <a:r>
              <a:rPr dirty="0" err="1"/>
              <a:t>처리까지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완료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52120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42416" y="3419856"/>
            <a:ext cx="402336" cy="40233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19856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 i="0">
                <a:solidFill>
                  <a:srgbClr val="10203C"/>
                </a:solidFill>
              </a:defRPr>
            </a:pPr>
            <a:r>
              <a:rPr dirty="0" err="1"/>
              <a:t>카카오가</a:t>
            </a:r>
            <a:r>
              <a:rPr dirty="0"/>
              <a:t> </a:t>
            </a:r>
            <a:r>
              <a:rPr dirty="0" err="1"/>
              <a:t>못</a:t>
            </a:r>
            <a:r>
              <a:rPr dirty="0"/>
              <a:t> </a:t>
            </a:r>
            <a:r>
              <a:rPr dirty="0" err="1"/>
              <a:t>채우는</a:t>
            </a:r>
            <a:r>
              <a:rPr dirty="0"/>
              <a:t> </a:t>
            </a:r>
            <a:r>
              <a:rPr dirty="0" err="1"/>
              <a:t>빈틈</a:t>
            </a:r>
            <a:r>
              <a:rPr dirty="0"/>
              <a:t> 3개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803904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150" b="0" i="0">
                <a:solidFill>
                  <a:srgbClr val="5A6B87"/>
                </a:solidFill>
              </a:defRPr>
            </a:pPr>
            <a:r>
              <a:t>친구 관계 전제 · 본인확인 부재 · 내비 동시 사용 제약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108960"/>
            <a:ext cx="52120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56248" y="3419856"/>
            <a:ext cx="402336" cy="40233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3419856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 i="0">
                <a:solidFill>
                  <a:srgbClr val="10203C"/>
                </a:solidFill>
              </a:defRPr>
            </a:pP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빈틈이</a:t>
            </a:r>
            <a:r>
              <a:rPr dirty="0"/>
              <a:t> </a:t>
            </a: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자산과</a:t>
            </a:r>
            <a:r>
              <a:rPr dirty="0"/>
              <a:t> </a:t>
            </a:r>
            <a:r>
              <a:rPr dirty="0" err="1"/>
              <a:t>겹침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159752" y="3803904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150" b="0" i="0">
                <a:solidFill>
                  <a:srgbClr val="5A6B87"/>
                </a:solidFill>
              </a:defRPr>
            </a:pPr>
            <a:r>
              <a:rPr dirty="0"/>
              <a:t>PASS </a:t>
            </a:r>
            <a:r>
              <a:rPr dirty="0" err="1"/>
              <a:t>본인확인</a:t>
            </a:r>
            <a:r>
              <a:rPr dirty="0"/>
              <a:t> · U+ </a:t>
            </a:r>
            <a:r>
              <a:rPr dirty="0" err="1"/>
              <a:t>채널</a:t>
            </a:r>
            <a:r>
              <a:rPr dirty="0"/>
              <a:t> · </a:t>
            </a:r>
            <a:r>
              <a:rPr dirty="0" err="1"/>
              <a:t>위치정보</a:t>
            </a:r>
            <a:r>
              <a:rPr dirty="0"/>
              <a:t>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대응력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0728655" cy="1051560"/>
          </a:xfrm>
          <a:prstGeom prst="roundRect">
            <a:avLst>
              <a:gd name="adj" fmla="val 9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5230368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</a:defRPr>
            </a:pPr>
            <a:r>
              <a:t>요청  —  내부 검토·타당성 조사 착수 및 담당자 지정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61441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0" i="0">
                <a:solidFill>
                  <a:srgbClr val="DBE8FE"/>
                </a:solidFill>
              </a:defRPr>
            </a:pPr>
            <a:r>
              <a:t>예산·인력 배정은 요청하지 않습니다. 프로토타입 시연만으로 검토를 시작할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-3108960" y="822960"/>
            <a:ext cx="7863840" cy="7863840"/>
          </a:xfrm>
          <a:prstGeom prst="ellipse">
            <a:avLst/>
          </a:prstGeom>
          <a:gradFill rotWithShape="1">
            <a:gsLst>
              <a:gs pos="0">
                <a:srgbClr val="DBE8FE">
                  <a:alpha val="90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01 · 제안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먼저 도착한 사람에게는 판단 근거가 없다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181051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170432" y="1975103"/>
            <a:ext cx="329184" cy="329184"/>
          </a:xfrm>
          <a:prstGeom prst="ellipse">
            <a:avLst/>
          </a:prstGeom>
          <a:noFill/>
          <a:ln w="254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24051" y="2047524"/>
            <a:ext cx="21945" cy="98755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35024" y="2128723"/>
            <a:ext cx="85587" cy="21945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2084831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50" b="1" i="0">
                <a:solidFill>
                  <a:srgbClr val="10203C"/>
                </a:solidFill>
              </a:defRPr>
            </a:pPr>
            <a:r>
              <a:t>출발했는지 모른다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627632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81727" y="181051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46320" y="2008022"/>
            <a:ext cx="329184" cy="263347"/>
          </a:xfrm>
          <a:prstGeom prst="roundRect">
            <a:avLst>
              <a:gd name="adj" fmla="val 8000"/>
            </a:avLst>
          </a:prstGeom>
          <a:solidFill>
            <a:srgbClr val="DBE8FE"/>
          </a:solidFill>
          <a:ln w="1905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05573" y="2008022"/>
            <a:ext cx="27432" cy="263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46320" y="2146279"/>
            <a:ext cx="329184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ardrop 16"/>
          <p:cNvSpPr/>
          <p:nvPr/>
        </p:nvSpPr>
        <p:spPr>
          <a:xfrm rot="13500000">
            <a:off x="4971409" y="2087026"/>
            <a:ext cx="98755" cy="98755"/>
          </a:xfrm>
          <a:prstGeom prst="teardrop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04688" y="2084831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50" b="1" i="0">
                <a:solidFill>
                  <a:srgbClr val="10203C"/>
                </a:solidFill>
              </a:defRPr>
            </a:pPr>
            <a:r>
              <a:t>어디쯤인지 모른다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627632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57616" y="181051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41959" y="1994855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32885" y="1994855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34130" y="1975103"/>
            <a:ext cx="111922" cy="11192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588044" y="2119944"/>
            <a:ext cx="197510" cy="131673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0576" y="2084831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50" b="1" i="0">
                <a:solidFill>
                  <a:srgbClr val="10203C"/>
                </a:solidFill>
              </a:defRPr>
            </a:pPr>
            <a:r>
              <a:t>매번 물어봐야 안다</a:t>
            </a:r>
          </a:p>
        </p:txBody>
      </p:sp>
      <p:sp>
        <p:nvSpPr>
          <p:cNvPr id="26" name="Chevron 25"/>
          <p:cNvSpPr/>
          <p:nvPr/>
        </p:nvSpPr>
        <p:spPr>
          <a:xfrm>
            <a:off x="4123944" y="2176272"/>
            <a:ext cx="274320" cy="274320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Chevron 26"/>
          <p:cNvSpPr/>
          <p:nvPr/>
        </p:nvSpPr>
        <p:spPr>
          <a:xfrm>
            <a:off x="7799831" y="2176272"/>
            <a:ext cx="274320" cy="274320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Chevron 27"/>
          <p:cNvSpPr/>
          <p:nvPr/>
        </p:nvSpPr>
        <p:spPr>
          <a:xfrm rot="5400000">
            <a:off x="5934456" y="3154680"/>
            <a:ext cx="310896" cy="310896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154680" y="3639312"/>
            <a:ext cx="58978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54680" y="3913632"/>
            <a:ext cx="5897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 i="0">
                <a:solidFill>
                  <a:srgbClr val="10203C"/>
                </a:solidFill>
              </a:defRPr>
            </a:pPr>
            <a:r>
              <a:t>결과 — 애매한 대기로 시간을 낭비한다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4600" y="5029200"/>
            <a:ext cx="7178040" cy="786384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14600" y="5230368"/>
            <a:ext cx="7178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50" b="1" i="0">
                <a:solidFill>
                  <a:srgbClr val="1348C0"/>
                </a:solidFill>
              </a:defRPr>
            </a:pPr>
            <a:r>
              <a:t>필요한 것은 정확한 위치가 아니라 “남은 시간(ETA)”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58000">
                <a:srgbClr val="FFFFFF">
                  <a:alpha val="100000"/>
                </a:srgbClr>
              </a:gs>
              <a:gs pos="100000">
                <a:srgbClr val="DBE8FE">
                  <a:alpha val="100000"/>
                </a:srgbClr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01 · 제안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모임 단위로 켜지고, 도착하면 꺼진다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4505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00200" y="202996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778508" y="2243937"/>
            <a:ext cx="356616" cy="285292"/>
          </a:xfrm>
          <a:prstGeom prst="roundRect">
            <a:avLst>
              <a:gd name="adj" fmla="val 8000"/>
            </a:avLst>
          </a:prstGeom>
          <a:solidFill>
            <a:srgbClr val="DBE8FE"/>
          </a:solidFill>
          <a:ln w="1905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42698" y="2243937"/>
            <a:ext cx="27432" cy="285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78508" y="2393716"/>
            <a:ext cx="356616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ardrop 9"/>
          <p:cNvSpPr/>
          <p:nvPr/>
        </p:nvSpPr>
        <p:spPr>
          <a:xfrm rot="13500000">
            <a:off x="1914022" y="2329525"/>
            <a:ext cx="106984" cy="106984"/>
          </a:xfrm>
          <a:prstGeom prst="teardrop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1938528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 i="0">
                <a:solidFill>
                  <a:srgbClr val="10203C"/>
                </a:solidFill>
              </a:defRPr>
            </a:pPr>
            <a:r>
              <a:t>모임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10128"/>
            <a:ext cx="2084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defRPr sz="1100" b="0" i="0">
                <a:solidFill>
                  <a:srgbClr val="5A6B87"/>
                </a:solidFill>
              </a:defRPr>
            </a:pPr>
            <a:r>
              <a:t>장소·날짜·시간을 정한다</a:t>
            </a:r>
          </a:p>
        </p:txBody>
      </p:sp>
      <p:sp>
        <p:nvSpPr>
          <p:cNvPr id="14" name="Chevron 13"/>
          <p:cNvSpPr/>
          <p:nvPr/>
        </p:nvSpPr>
        <p:spPr>
          <a:xfrm>
            <a:off x="3195828" y="2788920"/>
            <a:ext cx="274320" cy="274320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83863" y="1783080"/>
            <a:ext cx="24505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52544" y="202996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Donut 16"/>
          <p:cNvSpPr/>
          <p:nvPr/>
        </p:nvSpPr>
        <p:spPr>
          <a:xfrm>
            <a:off x="4530851" y="2286731"/>
            <a:ext cx="221101" cy="199704"/>
          </a:xfrm>
          <a:prstGeom prst="donu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Donut 17"/>
          <p:cNvSpPr/>
          <p:nvPr/>
        </p:nvSpPr>
        <p:spPr>
          <a:xfrm>
            <a:off x="4666366" y="2286731"/>
            <a:ext cx="221101" cy="199704"/>
          </a:xfrm>
          <a:prstGeom prst="donut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66744" y="1938528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3" y="2944368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 i="0">
                <a:solidFill>
                  <a:srgbClr val="10203C"/>
                </a:solidFill>
              </a:defRPr>
            </a:pPr>
            <a:r>
              <a:t>링크 공유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3310128"/>
            <a:ext cx="2084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defRPr sz="1100" b="0" i="0">
                <a:solidFill>
                  <a:srgbClr val="5A6B87"/>
                </a:solidFill>
              </a:defRPr>
            </a:pPr>
            <a:r>
              <a:t>설치·가입 없이 닉네임만</a:t>
            </a:r>
          </a:p>
        </p:txBody>
      </p:sp>
      <p:sp>
        <p:nvSpPr>
          <p:cNvPr id="22" name="Chevron 21"/>
          <p:cNvSpPr/>
          <p:nvPr/>
        </p:nvSpPr>
        <p:spPr>
          <a:xfrm>
            <a:off x="5948171" y="2788920"/>
            <a:ext cx="274320" cy="274320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36207" y="1783080"/>
            <a:ext cx="24505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104888" y="202996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ardrop 24"/>
          <p:cNvSpPr/>
          <p:nvPr/>
        </p:nvSpPr>
        <p:spPr>
          <a:xfrm rot="13500000">
            <a:off x="7283196" y="2208276"/>
            <a:ext cx="356616" cy="356616"/>
          </a:xfrm>
          <a:prstGeom prst="teardrop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7400879" y="2318826"/>
            <a:ext cx="121249" cy="12124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19088" y="1938528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2944368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 i="0">
                <a:solidFill>
                  <a:srgbClr val="10203C"/>
                </a:solidFill>
              </a:defRPr>
            </a:pPr>
            <a:r>
              <a:t>출발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310128"/>
            <a:ext cx="2084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defRPr sz="1100" b="0" i="0">
                <a:solidFill>
                  <a:srgbClr val="5A6B87"/>
                </a:solidFill>
              </a:defRPr>
            </a:pPr>
            <a:r>
              <a:t>위치와 ETA 공유 시작</a:t>
            </a:r>
          </a:p>
        </p:txBody>
      </p:sp>
      <p:sp>
        <p:nvSpPr>
          <p:cNvPr id="30" name="Chevron 29"/>
          <p:cNvSpPr/>
          <p:nvPr/>
        </p:nvSpPr>
        <p:spPr>
          <a:xfrm>
            <a:off x="8700515" y="2788920"/>
            <a:ext cx="274320" cy="274320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988552" y="1783080"/>
            <a:ext cx="24505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57232" y="202996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35540" y="2208276"/>
            <a:ext cx="356616" cy="35661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 rot="2700000">
            <a:off x="10206715" y="2372319"/>
            <a:ext cx="106984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 rot="18900000">
            <a:off x="10142524" y="2407980"/>
            <a:ext cx="67757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9171432" y="1938528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2944368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 i="0">
                <a:solidFill>
                  <a:srgbClr val="10203C"/>
                </a:solidFill>
              </a:defRPr>
            </a:pPr>
            <a:r>
              <a:t>도착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3310128"/>
            <a:ext cx="2084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defRPr sz="1100" b="0" i="0">
                <a:solidFill>
                  <a:srgbClr val="5A6B87"/>
                </a:solidFill>
              </a:defRPr>
            </a:pPr>
            <a:r>
              <a:t>자동 종료 · 명단 반영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892040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50" b="1" i="0">
                <a:solidFill>
                  <a:srgbClr val="1348C0"/>
                </a:solidFill>
              </a:defRPr>
            </a:pPr>
            <a:r>
              <a:t>상시 공유가 아니라는 점이 심리적 수용성을 만든다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285232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50" b="0" i="0">
                <a:solidFill>
                  <a:srgbClr val="5A6B87"/>
                </a:solidFill>
              </a:defRPr>
            </a:pPr>
            <a:r>
              <a:t>초대된 사람 = 공유 대상   ·   모임이 끝나면 공유도 끝난다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0" y="-1280160"/>
            <a:ext cx="9326880" cy="9326880"/>
          </a:xfrm>
          <a:prstGeom prst="ellipse">
            <a:avLst/>
          </a:prstGeom>
          <a:gradFill rotWithShape="1">
            <a:gsLst>
              <a:gs pos="0">
                <a:srgbClr val="DBE8FE">
                  <a:alpha val="70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02 · 시장·경쟁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경쟁 지형 — 비어 있는 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600200"/>
            <a:ext cx="667512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79976" y="1828800"/>
            <a:ext cx="18288" cy="3520439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3579876"/>
            <a:ext cx="6217920" cy="18288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271016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1" i="0">
                <a:solidFill>
                  <a:srgbClr val="9FADC4"/>
                </a:solidFill>
              </a:defRPr>
            </a:pPr>
            <a:r>
              <a:t>모임 단위 공유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650992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1" i="0">
                <a:solidFill>
                  <a:srgbClr val="9FADC4"/>
                </a:solidFill>
              </a:defRPr>
            </a:pPr>
            <a:r>
              <a:t>상시(always-on) 공유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79" y="345186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100" b="1" i="0">
                <a:solidFill>
                  <a:srgbClr val="9FADC4"/>
                </a:solidFill>
              </a:defRPr>
            </a:pPr>
            <a:r>
              <a:t>마찰 높음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4518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 i="0">
                <a:solidFill>
                  <a:srgbClr val="9FADC4"/>
                </a:solidFill>
              </a:defRPr>
            </a:pPr>
            <a:r>
              <a:t>마찰 낮음</a:t>
            </a:r>
          </a:p>
        </p:txBody>
      </p:sp>
      <p:sp>
        <p:nvSpPr>
          <p:cNvPr id="13" name="Oval 12"/>
          <p:cNvSpPr/>
          <p:nvPr/>
        </p:nvSpPr>
        <p:spPr>
          <a:xfrm>
            <a:off x="5511088" y="2074773"/>
            <a:ext cx="960120" cy="96012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어디쯤</a:t>
            </a:r>
          </a:p>
        </p:txBody>
      </p:sp>
      <p:sp>
        <p:nvSpPr>
          <p:cNvPr id="14" name="Oval 13"/>
          <p:cNvSpPr/>
          <p:nvPr/>
        </p:nvSpPr>
        <p:spPr>
          <a:xfrm>
            <a:off x="2886760" y="3631996"/>
            <a:ext cx="868680" cy="868680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카카오맵</a:t>
            </a:r>
          </a:p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친구위치</a:t>
            </a:r>
          </a:p>
        </p:txBody>
      </p:sp>
      <p:sp>
        <p:nvSpPr>
          <p:cNvPr id="15" name="Oval 14"/>
          <p:cNvSpPr/>
          <p:nvPr/>
        </p:nvSpPr>
        <p:spPr>
          <a:xfrm>
            <a:off x="2020824" y="4655210"/>
            <a:ext cx="731520" cy="731520"/>
          </a:xfrm>
          <a:prstGeom prst="ellipse">
            <a:avLst/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5A6B87"/>
                </a:solidFill>
              </a:defRPr>
            </a:pPr>
            <a:r>
              <a:t>iSharing</a:t>
            </a:r>
          </a:p>
        </p:txBody>
      </p:sp>
      <p:sp>
        <p:nvSpPr>
          <p:cNvPr id="16" name="Oval 15"/>
          <p:cNvSpPr/>
          <p:nvPr/>
        </p:nvSpPr>
        <p:spPr>
          <a:xfrm>
            <a:off x="4023359" y="4694986"/>
            <a:ext cx="731520" cy="731520"/>
          </a:xfrm>
          <a:prstGeom prst="ellipse">
            <a:avLst/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5A6B87"/>
                </a:solidFill>
              </a:defRPr>
            </a:pPr>
            <a:r>
              <a:t>Life360</a:t>
            </a:r>
          </a:p>
        </p:txBody>
      </p:sp>
      <p:sp>
        <p:nvSpPr>
          <p:cNvPr id="17" name="Oval 16"/>
          <p:cNvSpPr/>
          <p:nvPr/>
        </p:nvSpPr>
        <p:spPr>
          <a:xfrm>
            <a:off x="5510174" y="4235957"/>
            <a:ext cx="694944" cy="694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FA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9FADC4"/>
                </a:solidFill>
              </a:defRPr>
            </a:pPr>
            <a:r>
              <a:t>Zenly</a:t>
            </a:r>
          </a:p>
          <a:p>
            <a:pPr algn="ctr">
              <a:defRPr sz="950" b="1">
                <a:solidFill>
                  <a:srgbClr val="9FADC4"/>
                </a:solidFill>
              </a:defRPr>
            </a:pPr>
            <a:r>
              <a:t>(종료)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148840"/>
            <a:ext cx="322783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03920" y="2395728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5-Point Star 19"/>
          <p:cNvSpPr/>
          <p:nvPr/>
        </p:nvSpPr>
        <p:spPr>
          <a:xfrm>
            <a:off x="8663940" y="2555748"/>
            <a:ext cx="320040" cy="320040"/>
          </a:xfrm>
          <a:prstGeom prst="star5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500" b="1" i="0">
                <a:solidFill>
                  <a:srgbClr val="10203C"/>
                </a:solidFill>
              </a:defRPr>
            </a:pPr>
            <a:r>
              <a:t>모임 단위 × 무마찰</a:t>
            </a:r>
          </a:p>
          <a:p>
            <a:pPr algn="l">
              <a:lnSpc>
                <a:spcPct val="125000"/>
              </a:lnSpc>
              <a:defRPr sz="1500" b="1" i="0">
                <a:solidFill>
                  <a:srgbClr val="10203C"/>
                </a:solidFill>
              </a:defRPr>
            </a:pPr>
            <a:r>
              <a:t>영역은 비어 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858768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5A6B87"/>
                </a:solidFill>
              </a:defRPr>
            </a:pPr>
            <a:r>
              <a:t>기존 서비스는 모두 상시 공유이거나 앱 설치·친구 관계를 전제한다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6766560" y="-3108960"/>
            <a:ext cx="7680960" cy="7680960"/>
          </a:xfrm>
          <a:prstGeom prst="ellipse">
            <a:avLst/>
          </a:prstGeom>
          <a:gradFill rotWithShape="1">
            <a:gsLst>
              <a:gs pos="0">
                <a:srgbClr val="DBE8FE">
                  <a:alpha val="95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02 · 시장·경쟁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카카오가 채우지 못하는 세 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27632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1901952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261506" y="2111898"/>
            <a:ext cx="112471" cy="112471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1478950" y="2111898"/>
            <a:ext cx="112471" cy="112471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366479" y="2089404"/>
            <a:ext cx="127467" cy="127467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13992" y="2254361"/>
            <a:ext cx="224942" cy="149961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10203C"/>
                </a:solidFill>
              </a:defRPr>
            </a:pPr>
            <a:r>
              <a:t>친구 관계 전제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93008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카카오톡 친구 + 앱 설치가 필요하다.</a:t>
            </a:r>
          </a:p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오픈채팅·처음 만난 사람·외국인은 사실상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18795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48C0"/>
                </a:solidFill>
              </a:defRPr>
            </a:pPr>
            <a:r>
              <a:t>공식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7" y="1627632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27447" y="1901952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Pentagon 16"/>
          <p:cNvSpPr/>
          <p:nvPr/>
        </p:nvSpPr>
        <p:spPr>
          <a:xfrm rot="5400000">
            <a:off x="4944892" y="2089404"/>
            <a:ext cx="314919" cy="374904"/>
          </a:xfrm>
          <a:prstGeom prst="homePlat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 rot="2700000">
            <a:off x="5094853" y="2269357"/>
            <a:ext cx="82478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 rot="18900000">
            <a:off x="5042367" y="2291852"/>
            <a:ext cx="59984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7" y="28529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10203C"/>
                </a:solidFill>
              </a:defRPr>
            </a:pPr>
            <a:r>
              <a:t>모임 단위 본인확인 부재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7" y="3493008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친구 관계만 요구하고 참여자 확인 절차는 없다.</a:t>
            </a:r>
          </a:p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신뢰가 필요한 행사·기관 활용에 부적합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7" y="418795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48C0"/>
                </a:solidFill>
              </a:defRPr>
            </a:pPr>
            <a:r>
              <a:t>공식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627632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03336" y="1901952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73266" y="2089404"/>
            <a:ext cx="209946" cy="3749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40749" y="2119396"/>
            <a:ext cx="74980" cy="27432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51996" y="2381829"/>
            <a:ext cx="52486" cy="5248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03336" y="28529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10203C"/>
                </a:solidFill>
              </a:defRPr>
            </a:pPr>
            <a:r>
              <a:t>내비와 동시 사용 제약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3493008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주행 중 친구위치로 이동하면 안내가 중단된다.</a:t>
            </a:r>
          </a:p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내비 화면과 친구 위치를 함께 볼 수 없다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03336" y="418795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9A6206"/>
                </a:solidFill>
              </a:defRPr>
            </a:pPr>
            <a:r>
              <a:t>자체 실측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 i="0">
                <a:solidFill>
                  <a:srgbClr val="9FADC4"/>
                </a:solidFill>
              </a:defRPr>
            </a:pPr>
            <a:r>
              <a:t>세 번째 항목은 자체 실측 결과로, 원인(내장 안내의 구조적 배타성 vs 절전 설정) 확정은 검토 항목에 포함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23760" y="0"/>
            <a:ext cx="5029200" cy="6858000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DBE8FE">
                  <a:alpha val="95000"/>
                </a:srgbClr>
              </a:gs>
              <a:gs pos="100000">
                <a:srgbClr val="FFFFFF">
                  <a:alpha val="20000"/>
                </a:srgbClr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03 · 전략적 적합성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왜 우리 회사가 해야 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 i="0">
                <a:solidFill>
                  <a:srgbClr val="5A6B87"/>
                </a:solidFill>
              </a:defRPr>
            </a:pPr>
            <a:r>
              <a:t>빈틈을 메우려면 본인확인·배포 채널·규제 대응이 동시에 필요하다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33832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1560" y="2121408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Block Arc 8"/>
          <p:cNvSpPr/>
          <p:nvPr/>
        </p:nvSpPr>
        <p:spPr>
          <a:xfrm>
            <a:off x="1301739" y="2295144"/>
            <a:ext cx="194584" cy="194584"/>
          </a:xfrm>
          <a:prstGeom prst="blockArc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73942" y="2441082"/>
            <a:ext cx="250179" cy="194584"/>
          </a:xfrm>
          <a:prstGeom prst="roundRect">
            <a:avLst>
              <a:gd name="adj" fmla="val 16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74708" y="2510576"/>
            <a:ext cx="48646" cy="486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926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 i="0">
                <a:solidFill>
                  <a:srgbClr val="10203C"/>
                </a:solidFill>
              </a:defRPr>
            </a:pPr>
            <a:r>
              <a:t>PASS 본인확인 인프라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카카오가 제공하지 않는 유일한 차별점을</a:t>
            </a:r>
          </a:p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내부 역량으로 결합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7" y="1901952"/>
            <a:ext cx="33832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27447" y="2121408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4922032" y="2315992"/>
            <a:ext cx="104241" cy="104241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23566" y="2315992"/>
            <a:ext cx="104241" cy="104241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19324" y="2295144"/>
            <a:ext cx="118140" cy="11814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70678" y="2448031"/>
            <a:ext cx="208483" cy="138988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7" y="2926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 i="0">
                <a:solidFill>
                  <a:srgbClr val="10203C"/>
                </a:solidFill>
              </a:defRPr>
            </a:pPr>
            <a:r>
              <a:t>U+ PASS 채널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7" y="3310128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PASS 3사 합산 약 2,600만 이용자.</a:t>
            </a:r>
          </a:p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3사 협의 없이 U+ 단독 파일럿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1901952"/>
            <a:ext cx="33832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03336" y="2121408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Pentagon 23"/>
          <p:cNvSpPr/>
          <p:nvPr/>
        </p:nvSpPr>
        <p:spPr>
          <a:xfrm rot="5400000">
            <a:off x="8604869" y="2295144"/>
            <a:ext cx="291876" cy="347472"/>
          </a:xfrm>
          <a:prstGeom prst="homePlat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 rot="2700000">
            <a:off x="8743858" y="2461930"/>
            <a:ext cx="76443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 rot="18900000">
            <a:off x="8695212" y="2482778"/>
            <a:ext cx="55595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03336" y="2926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 i="0">
                <a:solidFill>
                  <a:srgbClr val="10203C"/>
                </a:solidFill>
              </a:defRPr>
            </a:pPr>
            <a:r>
              <a:t>위치정보·보안 심사 대응력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3310128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심사 기준을 사전에 알고</a:t>
            </a:r>
          </a:p>
          <a:p>
            <a:pPr algn="l">
              <a:lnSpc>
                <a:spcPct val="135000"/>
              </a:lnSpc>
              <a:defRPr sz="1100" b="0" i="0">
                <a:solidFill>
                  <a:srgbClr val="5A6B87"/>
                </a:solidFill>
              </a:defRPr>
            </a:pPr>
            <a:r>
              <a:t>역산 설계할 수 있다</a:t>
            </a:r>
          </a:p>
        </p:txBody>
      </p:sp>
      <p:sp>
        <p:nvSpPr>
          <p:cNvPr id="29" name="Chevron 28"/>
          <p:cNvSpPr/>
          <p:nvPr/>
        </p:nvSpPr>
        <p:spPr>
          <a:xfrm rot="5400000">
            <a:off x="2295144" y="4133088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Chevron 29"/>
          <p:cNvSpPr/>
          <p:nvPr/>
        </p:nvSpPr>
        <p:spPr>
          <a:xfrm rot="5400000">
            <a:off x="5971032" y="4133088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Chevron 30"/>
          <p:cNvSpPr/>
          <p:nvPr/>
        </p:nvSpPr>
        <p:spPr>
          <a:xfrm rot="5400000">
            <a:off x="9646919" y="4133088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31520" y="4709160"/>
            <a:ext cx="10728655" cy="1097280"/>
          </a:xfrm>
          <a:prstGeom prst="roundRect">
            <a:avLst>
              <a:gd name="adj" fmla="val 9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4956048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개인·스타트업이 확보하기 어려운 진입장벽 = 우리에게는 이미 있는 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492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50" b="0" i="0">
                <a:solidFill>
                  <a:srgbClr val="DBE8FE"/>
                </a:solidFill>
              </a:defRPr>
            </a:pPr>
            <a:r>
              <a:t>세 자산이 동시에 필요하다는 점이 이 사업의 방어선이 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-2194560"/>
            <a:ext cx="6035040" cy="6035040"/>
          </a:xfrm>
          <a:prstGeom prst="ellipse">
            <a:avLst/>
          </a:prstGeom>
          <a:gradFill rotWithShape="1">
            <a:gsLst>
              <a:gs pos="0">
                <a:srgbClr val="DBE8FE">
                  <a:alpha val="80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0" y="2743200"/>
            <a:ext cx="6949440" cy="6949440"/>
          </a:xfrm>
          <a:prstGeom prst="ellipse">
            <a:avLst/>
          </a:prstGeom>
          <a:gradFill rotWithShape="1">
            <a:gsLst>
              <a:gs pos="0">
                <a:srgbClr val="DBE8FE">
                  <a:alpha val="85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04 · 채널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3채널의 역할 분담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33856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 i="0">
                <a:solidFill>
                  <a:srgbClr val="5A6B87"/>
                </a:solidFill>
              </a:defRPr>
            </a:pPr>
            <a:r>
              <a:t>동일 기능을 세 채널에 복제하면 검증 비용이 급증한다 — 임무를 분리한다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832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29967" y="2121408"/>
            <a:ext cx="786384" cy="78638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226564" y="2357323"/>
            <a:ext cx="393192" cy="31455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26564" y="2357323"/>
            <a:ext cx="393192" cy="7863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58019" y="2380914"/>
            <a:ext cx="27523" cy="2752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2301270" y="2380914"/>
            <a:ext cx="27523" cy="2752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2344521" y="2380914"/>
            <a:ext cx="27523" cy="2752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54096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600" b="1" i="0">
                <a:solidFill>
                  <a:srgbClr val="10203C"/>
                </a:solidFill>
              </a:defRPr>
            </a:pPr>
            <a:r>
              <a:t>모바일 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456432"/>
            <a:ext cx="2871216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초대받은 사람의 1회성 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6849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 sz="1050" b="0" i="0">
                <a:solidFill>
                  <a:srgbClr val="5A6B87"/>
                </a:solidFill>
              </a:defRPr>
            </a:pPr>
            <a:r>
              <a:t>참석자는 통신사가 섞여 있어</a:t>
            </a:r>
          </a:p>
          <a:p>
            <a:pPr algn="l">
              <a:lnSpc>
                <a:spcPct val="135000"/>
              </a:lnSpc>
              <a:defRPr sz="1050" b="0" i="0">
                <a:solidFill>
                  <a:srgbClr val="5A6B87"/>
                </a:solidFill>
              </a:defRPr>
            </a:pPr>
            <a:r>
              <a:t>누구나 링크로 들어올 경로가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7" y="1874519"/>
            <a:ext cx="33832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05855" y="2121408"/>
            <a:ext cx="786384" cy="78638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02451" y="2318004"/>
            <a:ext cx="393192" cy="39319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 rot="2700000">
            <a:off x="6091184" y="2498872"/>
            <a:ext cx="117957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 rot="18900000">
            <a:off x="6020409" y="2538191"/>
            <a:ext cx="74706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7407" y="3054096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600" b="1" i="0">
                <a:solidFill>
                  <a:srgbClr val="10203C"/>
                </a:solidFill>
              </a:defRPr>
            </a:pPr>
            <a:r>
              <a:t>PASS 인앱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456432"/>
            <a:ext cx="2871216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본인확인이 필요한 모임·행사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396849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 sz="1050" b="0" i="0">
                <a:solidFill>
                  <a:srgbClr val="5A6B87"/>
                </a:solidFill>
              </a:defRPr>
            </a:pPr>
            <a:r>
              <a:t>주최자 경로로 한정.</a:t>
            </a:r>
          </a:p>
          <a:p>
            <a:pPr algn="l">
              <a:lnSpc>
                <a:spcPct val="135000"/>
              </a:lnSpc>
              <a:defRPr sz="1050" b="0" i="0">
                <a:solidFill>
                  <a:srgbClr val="5A6B87"/>
                </a:solidFill>
              </a:defRPr>
            </a:pPr>
            <a:r>
              <a:t>초대받는 쪽을 유도하면 강점이 훼손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1874519"/>
            <a:ext cx="33832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381744" y="2121408"/>
            <a:ext cx="786384" cy="78638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664842" y="2318004"/>
            <a:ext cx="220187" cy="3931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35616" y="2349459"/>
            <a:ext cx="78638" cy="27432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9747412" y="2624693"/>
            <a:ext cx="55046" cy="5504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83296" y="3054096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600" b="1" i="0">
                <a:solidFill>
                  <a:srgbClr val="10203C"/>
                </a:solidFill>
              </a:defRPr>
            </a:pPr>
            <a:r>
              <a:t>자체 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9327" y="3456432"/>
            <a:ext cx="2871216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백그라운드 위치가 필요한 이동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396849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defRPr sz="1050" b="0" i="0">
                <a:solidFill>
                  <a:srgbClr val="5A6B87"/>
                </a:solidFill>
              </a:defRPr>
            </a:pPr>
            <a:r>
              <a:t>웹은 백그라운드 추적 불가.</a:t>
            </a:r>
          </a:p>
          <a:p>
            <a:pPr algn="l">
              <a:lnSpc>
                <a:spcPct val="135000"/>
              </a:lnSpc>
              <a:defRPr sz="1050" b="0" i="0">
                <a:solidFill>
                  <a:srgbClr val="5A6B87"/>
                </a:solidFill>
              </a:defRPr>
            </a:pPr>
            <a:r>
              <a:t>운전자 시나리오는 네이티브 필요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983480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1" i="0">
                <a:solidFill>
                  <a:srgbClr val="1348C0"/>
                </a:solidFill>
              </a:defRPr>
            </a:pPr>
            <a:r>
              <a:t>웹은 진입, PASS는 신뢰, 자체 앱은 지속 추적 — 겹치지 않는다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6665976" y="1453896"/>
            <a:ext cx="2130617" cy="4270248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99815" y="1453896"/>
            <a:ext cx="2130617" cy="4270248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FFFFF">
                  <a:alpha val="100000"/>
                </a:srgbClr>
              </a:gs>
              <a:gs pos="100000">
                <a:srgbClr val="DBE8FE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05 · 프로토타입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구현 화면 — 모임 생성</a:t>
            </a:r>
          </a:p>
        </p:txBody>
      </p:sp>
      <p:pic>
        <p:nvPicPr>
          <p:cNvPr id="5" name="Picture 4" descr="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00200"/>
            <a:ext cx="1838009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51760" y="58064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50" b="0" i="0">
                <a:solidFill>
                  <a:srgbClr val="5A6B87"/>
                </a:solidFill>
              </a:defRPr>
            </a:pPr>
            <a:r>
              <a:t>홈 — 모임 생성 / 링크 참여</a:t>
            </a:r>
          </a:p>
        </p:txBody>
      </p:sp>
      <p:pic>
        <p:nvPicPr>
          <p:cNvPr id="8" name="Picture 7" descr="2-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600200"/>
            <a:ext cx="183800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50" b="0" i="0">
                <a:solidFill>
                  <a:srgbClr val="5A6B87"/>
                </a:solidFill>
              </a:defRPr>
            </a:pPr>
            <a:r>
              <a:t>생성 — 5분 단위 일시 선택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6665976" y="1453896"/>
            <a:ext cx="2130617" cy="4270248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99815" y="1453896"/>
            <a:ext cx="2130617" cy="4270248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-2560320" y="-274320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DBE8FE">
                  <a:alpha val="90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DBE8FE">
                  <a:alpha val="90000"/>
                </a:srgbClr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05 · 프로토타입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구현 화면 — 초대와 참여</a:t>
            </a:r>
          </a:p>
        </p:txBody>
      </p:sp>
      <p:pic>
        <p:nvPicPr>
          <p:cNvPr id="7" name="Picture 6" descr="3-inv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00200"/>
            <a:ext cx="1838009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60" y="58064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50" b="0" i="0">
                <a:solidFill>
                  <a:srgbClr val="5A6B87"/>
                </a:solidFill>
              </a:defRPr>
            </a:pPr>
            <a:r>
              <a:t>초대 — 토큰 포함 링크 공유</a:t>
            </a:r>
          </a:p>
        </p:txBody>
      </p:sp>
      <p:pic>
        <p:nvPicPr>
          <p:cNvPr id="10" name="Picture 9" descr="4-j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600200"/>
            <a:ext cx="1838009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8064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50" b="0" i="0">
                <a:solidFill>
                  <a:srgbClr val="5A6B87"/>
                </a:solidFill>
              </a:defRPr>
            </a:pPr>
            <a:r>
              <a:t>참여 — 설치·가입 없이 닉네임만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316736" y="1316736"/>
            <a:ext cx="2468641" cy="5001768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15179040" cy="5852160"/>
          </a:xfrm>
          <a:prstGeom prst="ellipse">
            <a:avLst/>
          </a:prstGeom>
          <a:gradFill rotWithShape="1">
            <a:gsLst>
              <a:gs pos="0">
                <a:srgbClr val="DBE8FE">
                  <a:alpha val="90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05 · 프로토타입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구현 화면 — 당일 실시간 지도</a:t>
            </a:r>
          </a:p>
        </p:txBody>
      </p:sp>
      <p:pic>
        <p:nvPicPr>
          <p:cNvPr id="6" name="Picture 5" descr="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2176034" cy="470916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172200" y="2029968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 i="0">
                <a:solidFill>
                  <a:srgbClr val="10203C"/>
                </a:solidFill>
              </a:defRPr>
            </a:pPr>
            <a:r>
              <a:t>지도 위에 목적지와 참여자 위치를 함께 표시</a:t>
            </a:r>
          </a:p>
        </p:txBody>
      </p:sp>
      <p:sp>
        <p:nvSpPr>
          <p:cNvPr id="10" name="Oval 9"/>
          <p:cNvSpPr/>
          <p:nvPr/>
        </p:nvSpPr>
        <p:spPr>
          <a:xfrm>
            <a:off x="6172200" y="2688336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57860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 i="0">
                <a:solidFill>
                  <a:srgbClr val="10203C"/>
                </a:solidFill>
              </a:defRPr>
            </a:pPr>
            <a:r>
              <a:t>‘출발’을 눌러야 내 위치 공유가 시작된다</a:t>
            </a:r>
          </a:p>
        </p:txBody>
      </p:sp>
      <p:sp>
        <p:nvSpPr>
          <p:cNvPr id="12" name="Oval 11"/>
          <p:cNvSpPr/>
          <p:nvPr/>
        </p:nvSpPr>
        <p:spPr>
          <a:xfrm>
            <a:off x="6172200" y="3346704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23697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 i="0">
                <a:solidFill>
                  <a:srgbClr val="10203C"/>
                </a:solidFill>
              </a:defRPr>
            </a:pPr>
            <a:r>
              <a:t>‘오는 중’과 ‘도착’ 두 그룹으로 정리된다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4005072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895344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 i="0">
                <a:solidFill>
                  <a:srgbClr val="10203C"/>
                </a:solidFill>
              </a:defRPr>
            </a:pPr>
            <a:r>
              <a:t>도착 반경 진입 시 해당 참여자 공유 자동 종료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4663440"/>
            <a:ext cx="146304" cy="146304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455371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 i="0">
                <a:solidFill>
                  <a:srgbClr val="5A6B87"/>
                </a:solidFill>
              </a:defRPr>
            </a:pPr>
            <a:r>
              <a:t>ETA는 거리 기반 추정 → 경로 기반으로 확장 예정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>
                  <a:alpha val="45000"/>
                </a:srgbClr>
              </a:gs>
              <a:gs pos="40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2651760" y="3749039"/>
            <a:ext cx="7680960" cy="7680960"/>
          </a:xfrm>
          <a:prstGeom prst="ellipse">
            <a:avLst/>
          </a:prstGeom>
          <a:gradFill rotWithShape="1">
            <a:gsLst>
              <a:gs pos="0">
                <a:srgbClr val="DBE8FE">
                  <a:alpha val="85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05 · 프로토타입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프로토타입 검증 상태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42416" y="2048256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53312" y="1947672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1" i="0">
                <a:solidFill>
                  <a:srgbClr val="10203C"/>
                </a:solidFill>
              </a:defRPr>
            </a:pPr>
            <a:r>
              <a:t>지도·GPS·실시간 위치 릴레이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9202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48C0"/>
                </a:solidFill>
              </a:defRPr>
            </a:pPr>
            <a:r>
              <a:t>동작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91640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56248" y="2048256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67144" y="1947672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1" i="0">
                <a:solidFill>
                  <a:srgbClr val="10203C"/>
                </a:solidFill>
              </a:defRPr>
            </a:pPr>
            <a:r>
              <a:t>거리 기반 ETA · 도착 자동 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77272" y="19202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48C0"/>
                </a:solidFill>
              </a:defRPr>
            </a:pPr>
            <a:r>
              <a:t>동작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79192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42416" y="3035808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53312" y="2935224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1" i="0">
                <a:solidFill>
                  <a:srgbClr val="10203C"/>
                </a:solidFill>
              </a:defRPr>
            </a:pPr>
            <a:r>
              <a:t>초대 링크 보안 (토큰·IP 제한)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907792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48C0"/>
                </a:solidFill>
              </a:defRPr>
            </a:pPr>
            <a:r>
              <a:t>동작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679192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56248" y="3035808"/>
            <a:ext cx="146304" cy="146304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5224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1" i="0">
                <a:solidFill>
                  <a:srgbClr val="10203C"/>
                </a:solidFill>
              </a:defRPr>
            </a:pPr>
            <a:r>
              <a:t>실제 경로 기반 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77272" y="2907792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48C0"/>
                </a:solidFill>
              </a:defRPr>
            </a:pPr>
            <a:r>
              <a:t>연동 준비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66744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42416" y="4023359"/>
            <a:ext cx="146304" cy="146304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53312" y="3922776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1" i="0">
                <a:solidFill>
                  <a:srgbClr val="10203C"/>
                </a:solidFill>
              </a:defRPr>
            </a:pPr>
            <a:r>
              <a:t>영속성·감사 로그·암호화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8953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5A6B87"/>
                </a:solidFill>
              </a:defRPr>
            </a:pPr>
            <a:r>
              <a:t>보완 필요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3666744"/>
            <a:ext cx="52120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56248" y="4023359"/>
            <a:ext cx="146304" cy="146304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67144" y="3922776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1" i="0">
                <a:solidFill>
                  <a:srgbClr val="10203C"/>
                </a:solidFill>
              </a:defRPr>
            </a:pPr>
            <a:r>
              <a:t>백그라운드 위치 공유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77272" y="38953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5A6B87"/>
                </a:solidFill>
              </a:defRPr>
            </a:pPr>
            <a:r>
              <a:t>웹 한계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1" i="0">
                <a:solidFill>
                  <a:srgbClr val="1348C0"/>
                </a:solidFill>
              </a:defRPr>
            </a:pPr>
            <a:r>
              <a:t>핵심 흐름은 이미 동작한다. 사업화 전 보완이 필요한 항목은 인프라·규제 영역에 한정된다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0096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0" i="0">
                <a:solidFill>
                  <a:srgbClr val="5A6B87"/>
                </a:solidFill>
              </a:defRPr>
            </a:pPr>
            <a:r>
              <a:t>정식 DB 전환 · 위치정보 보관·파기 정책 · 접근 감사 로그 · 전송·저장 암호화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>
                  <a:alpha val="100000"/>
                </a:srgbClr>
              </a:gs>
              <a:gs pos="55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06 · 사업 모델 가설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수익 가설과 검증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 i="0">
                <a:solidFill>
                  <a:srgbClr val="5A6B87"/>
                </a:solidFill>
              </a:defRPr>
            </a:pPr>
            <a:r>
              <a:t>현 단계에서는 확정 모델이 아니라 검증할 가설로 제시한다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50592" cy="2971800"/>
          </a:xfrm>
          <a:prstGeom prst="roundRect">
            <a:avLst>
              <a:gd name="adj" fmla="val 6000"/>
            </a:avLst>
          </a:prstGeom>
          <a:solidFill>
            <a:srgbClr val="1C60EF"/>
          </a:solidFill>
          <a:ln w="127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170432" y="2267711"/>
            <a:ext cx="329184" cy="329184"/>
          </a:xfrm>
          <a:prstGeom prst="ellipse">
            <a:avLst/>
          </a:prstGeom>
          <a:noFill/>
          <a:ln w="254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16736" y="2313797"/>
            <a:ext cx="36576" cy="237012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69187" y="2379634"/>
            <a:ext cx="131673" cy="36576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69187" y="2458638"/>
            <a:ext cx="131673" cy="36576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04288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60EF"/>
                </a:solidFill>
              </a:defRPr>
            </a:pPr>
            <a:r>
              <a:t>1순위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 sz="1350" b="1" i="0">
                <a:solidFill>
                  <a:srgbClr val="FFFFFF"/>
                </a:solidFill>
              </a:defRPr>
            </a:pPr>
            <a:r>
              <a:t>B2B — 행사·모임 주최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DBE8FE"/>
                </a:solidFill>
              </a:defRPr>
            </a:pPr>
            <a:r>
              <a:t>본인확인이 결합되면 대체재가 없다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206240"/>
            <a:ext cx="457200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334256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000" b="1" i="0">
                <a:solidFill>
                  <a:srgbClr val="FFFFFF"/>
                </a:solidFill>
              </a:defRPr>
            </a:pPr>
            <a:r>
              <a:t>검증 · 주최사 인터뷰 5~10건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83863" y="1874519"/>
            <a:ext cx="2450592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758183" y="210312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3922776" y="2267711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 rot="2700000">
            <a:off x="4080784" y="2419136"/>
            <a:ext cx="98755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 rot="18900000">
            <a:off x="4021531" y="2452055"/>
            <a:ext cx="62544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58183" y="2926080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 sz="1350" b="1" i="0">
                <a:solidFill>
                  <a:srgbClr val="10203C"/>
                </a:solidFill>
              </a:defRPr>
            </a:pPr>
            <a:r>
              <a:t>PASS 인증 건수 증대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8183" y="3566160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5A6B87"/>
                </a:solidFill>
              </a:defRPr>
            </a:pPr>
            <a:r>
              <a:t>모임 참여마다 본인확인이 발생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58183" y="4206240"/>
            <a:ext cx="457200" cy="18288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58183" y="4334256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000" b="1" i="0">
                <a:solidFill>
                  <a:srgbClr val="1348C0"/>
                </a:solidFill>
              </a:defRPr>
            </a:pPr>
            <a:r>
              <a:t>검증 · 모임당 인증 건수 추정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7" y="1874519"/>
            <a:ext cx="2450592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10527" y="210312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6694871" y="2287463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6885797" y="2287463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87042" y="2267711"/>
            <a:ext cx="111922" cy="11192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740956" y="2412552"/>
            <a:ext cx="197510" cy="131673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7" y="2926080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 sz="1350" b="1" i="0">
                <a:solidFill>
                  <a:srgbClr val="10203C"/>
                </a:solidFill>
              </a:defRPr>
            </a:pPr>
            <a:r>
              <a:t>U+ 채널 부가 가치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7" y="3566160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5A6B87"/>
                </a:solidFill>
              </a:defRPr>
            </a:pPr>
            <a:r>
              <a:t>인증 외 생활 영역으로 이용 목적 확장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7" y="4206240"/>
            <a:ext cx="457200" cy="18288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7" y="4334256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000" b="1" i="0">
                <a:solidFill>
                  <a:srgbClr val="1348C0"/>
                </a:solidFill>
              </a:defRPr>
            </a:pPr>
            <a:r>
              <a:t>검증 · 지면 정책·기대 효과 협의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552" y="1874519"/>
            <a:ext cx="2450592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262872" y="210312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453798" y="2484973"/>
            <a:ext cx="72420" cy="111922"/>
          </a:xfrm>
          <a:prstGeom prst="roundRect">
            <a:avLst>
              <a:gd name="adj" fmla="val 2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559137" y="2392801"/>
            <a:ext cx="72420" cy="204094"/>
          </a:xfrm>
          <a:prstGeom prst="roundRect">
            <a:avLst>
              <a:gd name="adj" fmla="val 2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664476" y="2300630"/>
            <a:ext cx="72420" cy="296265"/>
          </a:xfrm>
          <a:prstGeom prst="roundRect">
            <a:avLst>
              <a:gd name="adj" fmla="val 2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62872" y="2926080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 sz="1350" b="1" i="0">
                <a:solidFill>
                  <a:srgbClr val="10203C"/>
                </a:solidFill>
              </a:defRPr>
            </a:pPr>
            <a:r>
              <a:t>B2C 광고 (후순위)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3566160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5A6B87"/>
                </a:solidFill>
              </a:defRPr>
            </a:pPr>
            <a:r>
              <a:t>단독 수익원으로는 부적합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62872" y="4206240"/>
            <a:ext cx="457200" cy="18288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62872" y="4334256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000" b="1" i="0">
                <a:solidFill>
                  <a:srgbClr val="1348C0"/>
                </a:solidFill>
              </a:defRPr>
            </a:pPr>
            <a:r>
              <a:t>검증 · 웹 트래픽 확보 후 재검토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138928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0" i="0">
                <a:solidFill>
                  <a:srgbClr val="5A6B87"/>
                </a:solidFill>
              </a:defRPr>
            </a:pPr>
            <a:r>
              <a:t>B2C 단독 수익화는 Zenly 사례가 보여준 위험 구간 — 우리 자산이 유효한 영역은 신뢰 기반 B2B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-2560320" y="-274320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DBE8FE">
                  <a:alpha val="90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DBE8FE">
                  <a:alpha val="90000"/>
                </a:srgbClr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07 ·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 i="0">
                <a:solidFill>
                  <a:srgbClr val="10203C"/>
                </a:solidFill>
              </a:defRPr>
            </a:pPr>
            <a:r>
              <a:t>리스크와 대응 방향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Isosceles Triangle 7"/>
          <p:cNvSpPr/>
          <p:nvPr/>
        </p:nvSpPr>
        <p:spPr>
          <a:xfrm>
            <a:off x="960120" y="1899391"/>
            <a:ext cx="310896" cy="261152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2011314"/>
            <a:ext cx="36576" cy="87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9964" y="2113909"/>
            <a:ext cx="51206" cy="5120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44752" y="186537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 i="0">
                <a:solidFill>
                  <a:srgbClr val="10203C"/>
                </a:solidFill>
              </a:defRPr>
            </a:pPr>
            <a:r>
              <a:t>카카오와의 기능 중복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84708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48C0"/>
                </a:solidFill>
              </a:defRPr>
            </a:pPr>
            <a:r>
              <a:t>높음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26771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5A6B87"/>
                </a:solidFill>
              </a:defRPr>
            </a:pPr>
            <a:r>
              <a:t>정면 경쟁을 피하고 친구 관계가 성립하지 않는 모임과 B2B로 범위 한정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45920"/>
            <a:ext cx="521208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Isosceles Triangle 14"/>
          <p:cNvSpPr/>
          <p:nvPr/>
        </p:nvSpPr>
        <p:spPr>
          <a:xfrm>
            <a:off x="6473952" y="1899391"/>
            <a:ext cx="310896" cy="261152"/>
          </a:xfrm>
          <a:prstGeom prst="triangl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11112" y="2011314"/>
            <a:ext cx="36576" cy="87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03796" y="2113909"/>
            <a:ext cx="51206" cy="5120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58584" y="186537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 i="0">
                <a:solidFill>
                  <a:srgbClr val="10203C"/>
                </a:solidFill>
              </a:defRPr>
            </a:pPr>
            <a:r>
              <a:t>U+ 단독 커버리지 한계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60152" y="184708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5A6B87"/>
                </a:solidFill>
              </a:defRPr>
            </a:pPr>
            <a:r>
              <a:t>중간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26771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5A6B87"/>
                </a:solidFill>
              </a:defRPr>
            </a:pPr>
            <a:r>
              <a:t>초대 경로는 웹으로 유지해 통신사 무관 참여 보장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44368"/>
            <a:ext cx="521208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Isosceles Triangle 21"/>
          <p:cNvSpPr/>
          <p:nvPr/>
        </p:nvSpPr>
        <p:spPr>
          <a:xfrm>
            <a:off x="960120" y="3197839"/>
            <a:ext cx="310896" cy="261152"/>
          </a:xfrm>
          <a:prstGeom prst="triangl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97280" y="3309762"/>
            <a:ext cx="36576" cy="87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89964" y="3412357"/>
            <a:ext cx="51206" cy="5120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44752" y="316382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 i="0">
                <a:solidFill>
                  <a:srgbClr val="10203C"/>
                </a:solidFill>
              </a:defRPr>
            </a:pPr>
            <a:r>
              <a:t>기존 위치 상품과의 관계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3145536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5A6B87"/>
                </a:solidFill>
              </a:defRPr>
            </a:pPr>
            <a:r>
              <a:t>중간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35661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5A6B87"/>
                </a:solidFill>
              </a:defRPr>
            </a:pPr>
            <a:r>
              <a:t>상시 상품이 아닌 모임 단위 일회성으로 포지셔닝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2944368"/>
            <a:ext cx="521208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Isosceles Triangle 28"/>
          <p:cNvSpPr/>
          <p:nvPr/>
        </p:nvSpPr>
        <p:spPr>
          <a:xfrm>
            <a:off x="6473952" y="3197839"/>
            <a:ext cx="310896" cy="261152"/>
          </a:xfrm>
          <a:prstGeom prst="triangl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11112" y="3309762"/>
            <a:ext cx="36576" cy="87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6603796" y="3412357"/>
            <a:ext cx="51206" cy="5120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58584" y="3163824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 i="0">
                <a:solidFill>
                  <a:srgbClr val="10203C"/>
                </a:solidFill>
              </a:defRPr>
            </a:pPr>
            <a:r>
              <a:t>위치정보 규제 준수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60152" y="3145536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5A6B87"/>
                </a:solidFill>
              </a:defRPr>
            </a:pPr>
            <a:r>
              <a:t>중간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35661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5A6B87"/>
                </a:solidFill>
              </a:defRPr>
            </a:pPr>
            <a:r>
              <a:t>신고 요건·보관 정책·감사 로그를 설계 단계부터 반영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242816"/>
            <a:ext cx="521208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Isosceles Triangle 35"/>
          <p:cNvSpPr/>
          <p:nvPr/>
        </p:nvSpPr>
        <p:spPr>
          <a:xfrm>
            <a:off x="960120" y="4496287"/>
            <a:ext cx="310896" cy="261152"/>
          </a:xfrm>
          <a:prstGeom prst="triangl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" y="4608210"/>
            <a:ext cx="36576" cy="87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89964" y="4710805"/>
            <a:ext cx="51206" cy="5120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44752" y="4462272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 i="0">
                <a:solidFill>
                  <a:srgbClr val="10203C"/>
                </a:solidFill>
              </a:defRPr>
            </a:pPr>
            <a:r>
              <a:t>인앱 백그라운드 사양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0" y="4443983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5A6B87"/>
                </a:solidFill>
              </a:defRPr>
            </a:pPr>
            <a:r>
              <a:t>중간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752" y="4864607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5A6B87"/>
                </a:solidFill>
              </a:defRPr>
            </a:pPr>
            <a:r>
              <a:t>네이티브 위치 사용 가능 여부 확인 후 자체 앱 순위 확정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45352" y="4242816"/>
            <a:ext cx="521208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Isosceles Triangle 42"/>
          <p:cNvSpPr/>
          <p:nvPr/>
        </p:nvSpPr>
        <p:spPr>
          <a:xfrm>
            <a:off x="6473952" y="4496287"/>
            <a:ext cx="310896" cy="261152"/>
          </a:xfrm>
          <a:prstGeom prst="triangl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611112" y="4608210"/>
            <a:ext cx="36576" cy="87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6603796" y="4710805"/>
            <a:ext cx="51206" cy="5120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58584" y="4462272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 i="0">
                <a:solidFill>
                  <a:srgbClr val="10203C"/>
                </a:solidFill>
              </a:defRPr>
            </a:pPr>
            <a:r>
              <a:t>프로토타입 인프라 미비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60152" y="4443983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5A6B87"/>
                </a:solidFill>
              </a:defRPr>
            </a:pPr>
            <a:r>
              <a:t>중간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58584" y="4864607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defRPr sz="1050" b="0" i="0">
                <a:solidFill>
                  <a:srgbClr val="5A6B87"/>
                </a:solidFill>
              </a:defRPr>
            </a:pPr>
            <a:r>
              <a:t>정식 DB 전환 및 암호화·감사 로그 추가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8704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 i="0">
                <a:solidFill>
                  <a:srgbClr val="1348C0"/>
                </a:solidFill>
              </a:defRPr>
            </a:pPr>
            <a:r>
              <a:t>대응의 축은 하나 — 정면 경쟁을 피하고, 우리 자산이 유효한 영역으로 좁힌다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>
                  <a:alpha val="45000"/>
                </a:srgbClr>
              </a:gs>
              <a:gs pos="40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2651760" y="3749039"/>
            <a:ext cx="7680960" cy="7680960"/>
          </a:xfrm>
          <a:prstGeom prst="ellipse">
            <a:avLst/>
          </a:prstGeom>
          <a:gradFill rotWithShape="1">
            <a:gsLst>
              <a:gs pos="0">
                <a:srgbClr val="DBE8FE">
                  <a:alpha val="85000"/>
                </a:srgbClr>
              </a:gs>
              <a:gs pos="100000">
                <a:srgbClr val="DBE8F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50" b="1" i="0">
                <a:solidFill>
                  <a:srgbClr val="1C60EF"/>
                </a:solidFill>
              </a:defRPr>
            </a:pPr>
            <a:r>
              <a:t>08 · 요청사항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700" b="1" i="0">
                <a:solidFill>
                  <a:srgbClr val="10203C"/>
                </a:solidFill>
              </a:defRPr>
            </a:pPr>
            <a:r>
              <a:t>내부 검토·타당성 조사 착수 및 담당자 지정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50" b="0" i="0">
                <a:solidFill>
                  <a:srgbClr val="5A6B87"/>
                </a:solidFill>
              </a:defRPr>
            </a:pPr>
            <a:r>
              <a:t>예산·인력 배정은 요청하지 않습니다.   아래 여섯 항목을 그대로 검토 범위로 제안합니다.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212080" cy="804672"/>
          </a:xfrm>
          <a:prstGeom prst="roundRect">
            <a:avLst>
              <a:gd name="adj" fmla="val 6000"/>
            </a:avLst>
          </a:prstGeom>
          <a:solidFill>
            <a:srgbClr val="1C60EF"/>
          </a:solidFill>
          <a:ln w="127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48716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200" b="1">
                <a:solidFill>
                  <a:srgbClr val="1C60E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432304"/>
            <a:ext cx="32004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150" b="1" i="0">
                <a:solidFill>
                  <a:srgbClr val="FFFFFF"/>
                </a:solidFill>
              </a:defRPr>
            </a:pPr>
            <a:r>
              <a:t>PASS 인앱의 네이티브 위치·백그라운드 사양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5694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50" b="0" i="0">
                <a:solidFill>
                  <a:srgbClr val="DBE8FE"/>
                </a:solidFill>
              </a:defRPr>
            </a:pPr>
            <a:r>
              <a:t>PASS 운영·개발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286000"/>
            <a:ext cx="521208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19672" y="2487168"/>
            <a:ext cx="384048" cy="384048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200" b="1">
                <a:solidFill>
                  <a:srgbClr val="1C60E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736" y="2432304"/>
            <a:ext cx="32004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150" b="1" i="0">
                <a:solidFill>
                  <a:srgbClr val="10203C"/>
                </a:solidFill>
              </a:defRPr>
            </a:pPr>
            <a:r>
              <a:t>U+ PASS 지면 입점 정책·심사 기준·기간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25694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50" b="0" i="0">
                <a:solidFill>
                  <a:srgbClr val="9FADC4"/>
                </a:solidFill>
              </a:defRPr>
            </a:pPr>
            <a:r>
              <a:t>U+ 협의 담당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21208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3447288"/>
            <a:ext cx="384048" cy="384048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200" b="1">
                <a:solidFill>
                  <a:srgbClr val="1C60E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3392424"/>
            <a:ext cx="32004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150" b="1" i="0">
                <a:solidFill>
                  <a:srgbClr val="10203C"/>
                </a:solidFill>
              </a:defRPr>
            </a:pPr>
            <a:r>
              <a:t>기존 위치 상품과의 중복·시너지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5295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50" b="0" i="0">
                <a:solidFill>
                  <a:srgbClr val="9FADC4"/>
                </a:solidFill>
              </a:defRPr>
            </a:pPr>
            <a:r>
              <a:t>상품·전략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246120"/>
            <a:ext cx="521208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19672" y="3447288"/>
            <a:ext cx="384048" cy="384048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200" b="1">
                <a:solidFill>
                  <a:srgbClr val="1C60E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6" y="3392424"/>
            <a:ext cx="32004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150" b="1" i="0">
                <a:solidFill>
                  <a:srgbClr val="10203C"/>
                </a:solidFill>
              </a:defRPr>
            </a:pPr>
            <a:r>
              <a:t>위치기반서비스 신고 요건·보호조치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35295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50" b="0" i="0">
                <a:solidFill>
                  <a:srgbClr val="9FADC4"/>
                </a:solidFill>
              </a:defRPr>
            </a:pPr>
            <a:r>
              <a:t>법무·보안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06240"/>
            <a:ext cx="521208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5840" y="4407407"/>
            <a:ext cx="384048" cy="384048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200" b="1">
                <a:solidFill>
                  <a:srgbClr val="1C60E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7904" y="4352544"/>
            <a:ext cx="32004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150" b="1" i="0">
                <a:solidFill>
                  <a:srgbClr val="10203C"/>
                </a:solidFill>
              </a:defRPr>
            </a:pPr>
            <a:r>
              <a:t>B2B 초기 수요 확인 (주최사 인터뷰)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48970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50" b="0" i="0">
                <a:solidFill>
                  <a:srgbClr val="9FADC4"/>
                </a:solidFill>
              </a:defRPr>
            </a:pPr>
            <a:r>
              <a:t>사업기획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4206240"/>
            <a:ext cx="521208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19672" y="4407407"/>
            <a:ext cx="384048" cy="384048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200" b="1">
                <a:solidFill>
                  <a:srgbClr val="1C60E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1736" y="4352544"/>
            <a:ext cx="32004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defRPr sz="1150" b="1" i="0">
                <a:solidFill>
                  <a:srgbClr val="10203C"/>
                </a:solidFill>
              </a:defRPr>
            </a:pPr>
            <a:r>
              <a:t>파일럿 개발 범위·기간 산정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448970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50" b="0" i="0">
                <a:solidFill>
                  <a:srgbClr val="9FADC4"/>
                </a:solidFill>
              </a:defRPr>
            </a:pPr>
            <a:r>
              <a:t>개발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40680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 i="0">
                <a:solidFill>
                  <a:srgbClr val="1348C0"/>
                </a:solidFill>
              </a:defRPr>
            </a:pPr>
            <a:r>
              <a:t>1번은 사내에서 단기간에 확인 가능하며, 그 결과에 따라 3채널 로드맵의 우선순위가 확정됩니다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1044</Words>
  <Application>Microsoft Macintosh PowerPoint</Application>
  <PresentationFormat>와이드스크린</PresentationFormat>
  <Paragraphs>199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 강철</cp:lastModifiedBy>
  <cp:revision>1</cp:revision>
  <dcterms:created xsi:type="dcterms:W3CDTF">2013-01-27T09:14:16Z</dcterms:created>
  <dcterms:modified xsi:type="dcterms:W3CDTF">2026-09-10T06:59:51Z</dcterms:modified>
  <cp:category/>
</cp:coreProperties>
</file>