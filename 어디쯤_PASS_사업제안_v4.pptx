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33"/>
    <p:restoredTop sz="94647"/>
  </p:normalViewPr>
  <p:slideViewPr>
    <p:cSldViewPr snapToGrid="0" snapToObjects="1">
      <p:cViewPr varScale="1">
        <p:scale>
          <a:sx n="136" d="100"/>
          <a:sy n="136" d="100"/>
        </p:scale>
        <p:origin x="1656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9AA162-5B30-1D40-812E-D162C8F4D849}" type="datetimeFigureOut">
              <a:rPr kumimoji="1" lang="ko-KR" altLang="en-US" smtClean="0"/>
              <a:t>2026. 9. 14.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93973B-B2CE-E540-A722-C80B3D22E983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8984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93973B-B2CE-E540-A722-C80B3D22E983}" type="slidenum">
              <a:rPr kumimoji="1" lang="ko-KR" altLang="en-US" smtClean="0"/>
              <a:t>16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046383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8229600" y="1097280"/>
            <a:ext cx="2302468" cy="4663440"/>
          </a:xfrm>
          <a:prstGeom prst="roundRect">
            <a:avLst>
              <a:gd name="adj" fmla="val 9000"/>
            </a:avLst>
          </a:prstGeom>
          <a:solidFill>
            <a:srgbClr val="EFF5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E8FE"/>
              </a:gs>
              <a:gs pos="52000">
                <a:srgbClr val="FFFFFF"/>
              </a:gs>
              <a:gs pos="100000">
                <a:srgbClr val="FFFFFF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Oval 2"/>
          <p:cNvSpPr/>
          <p:nvPr/>
        </p:nvSpPr>
        <p:spPr>
          <a:xfrm>
            <a:off x="769193" y="402335"/>
            <a:ext cx="198973" cy="198973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Isosceles Triangle 3"/>
          <p:cNvSpPr/>
          <p:nvPr/>
        </p:nvSpPr>
        <p:spPr>
          <a:xfrm rot="10800000">
            <a:off x="813084" y="554492"/>
            <a:ext cx="111191" cy="128747"/>
          </a:xfrm>
          <a:prstGeom prst="triangl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833567" y="466709"/>
            <a:ext cx="70225" cy="7022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448612"/>
            <a:ext cx="27432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00" b="1">
                <a:solidFill>
                  <a:srgbClr val="10203C"/>
                </a:solidFill>
              </a:defRPr>
            </a:pPr>
            <a:r>
              <a:t>어디쯤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46999"/>
            <a:ext cx="6949440" cy="769441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pPr algn="l"/>
            <a:r>
              <a:rPr sz="4400" b="1">
                <a:solidFill>
                  <a:srgbClr val="10203C"/>
                </a:solidFill>
              </a:rPr>
              <a:t>어디쯤</a:t>
            </a:r>
            <a:r>
              <a:rPr sz="4400" b="1">
                <a:solidFill>
                  <a:srgbClr val="1C60EF"/>
                </a:solidFill>
              </a:rPr>
              <a:t>  ×  </a:t>
            </a:r>
            <a:r>
              <a:rPr sz="4400" b="1">
                <a:solidFill>
                  <a:srgbClr val="10203C"/>
                </a:solidFill>
              </a:rPr>
              <a:t>PASS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44368"/>
            <a:ext cx="1005840" cy="41148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469689"/>
            <a:ext cx="6217920" cy="6135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5000"/>
              </a:lnSpc>
              <a:defRPr sz="1450" b="0">
                <a:solidFill>
                  <a:srgbClr val="5A6B87"/>
                </a:solidFill>
              </a:defRPr>
            </a:pPr>
            <a:r>
              <a:t>모임 참석자의 실시간 위치와 도착 예정 시간(ETA)을 함께 보는 서비스를</a:t>
            </a:r>
          </a:p>
          <a:p>
            <a:pPr algn="l">
              <a:lnSpc>
                <a:spcPct val="145000"/>
              </a:lnSpc>
              <a:defRPr sz="1450" b="0">
                <a:solidFill>
                  <a:srgbClr val="5A6B87"/>
                </a:solidFill>
              </a:defRPr>
            </a:pPr>
            <a:r>
              <a:t>PASS 본인확인 인프라와 U+ PASS 채널로 사업화하는 아이디어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54880"/>
            <a:ext cx="2148840" cy="402336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1348C0"/>
                </a:solidFill>
              </a:defRPr>
            </a:pPr>
            <a:r>
              <a:t>모임 단위 위치 공유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4754880"/>
            <a:ext cx="1828800" cy="402336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1348C0"/>
                </a:solidFill>
              </a:defRPr>
            </a:pPr>
            <a:r>
              <a:t>PASS 본인확인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84641"/>
            <a:ext cx="64008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00" b="0">
                <a:solidFill>
                  <a:srgbClr val="9FADC4"/>
                </a:solidFill>
              </a:defRPr>
            </a:pPr>
            <a:r>
              <a:t>2026-09-10</a:t>
            </a:r>
          </a:p>
        </p:txBody>
      </p:sp>
      <p:pic>
        <p:nvPicPr>
          <p:cNvPr id="13" name="Picture 12" descr="5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234440"/>
            <a:ext cx="2028148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E8FE"/>
              </a:gs>
              <a:gs pos="58000">
                <a:srgbClr val="FFFFFF"/>
              </a:gs>
              <a:gs pos="100000">
                <a:srgbClr val="FFFFFF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한 장 요약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81328"/>
            <a:ext cx="5212080" cy="1408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24128" y="1792224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247424" y="1961388"/>
            <a:ext cx="230063" cy="230063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Isosceles Triangle 7"/>
          <p:cNvSpPr/>
          <p:nvPr/>
        </p:nvSpPr>
        <p:spPr>
          <a:xfrm rot="10800000">
            <a:off x="1298173" y="2137318"/>
            <a:ext cx="128564" cy="148864"/>
          </a:xfrm>
          <a:prstGeom prst="triangl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1321856" y="2035820"/>
            <a:ext cx="81198" cy="8119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01952" y="1854391"/>
            <a:ext cx="3840480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450" b="1">
                <a:solidFill>
                  <a:srgbClr val="10203C"/>
                </a:solidFill>
              </a:defRPr>
            </a:pPr>
            <a:r>
              <a:t>모임에는 '남은 시간'이 필요하다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2345563"/>
            <a:ext cx="3886200" cy="210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defRPr sz="1150" b="0">
                <a:solidFill>
                  <a:srgbClr val="5A6B87"/>
                </a:solidFill>
              </a:defRPr>
            </a:pPr>
            <a:r>
              <a:t>먼저 도착한 사람이 대기할지 이동할지 판단할 근거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481328"/>
            <a:ext cx="5212080" cy="1408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37960" y="1792224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6720657" y="1988454"/>
            <a:ext cx="101498" cy="101498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6930420" y="1988454"/>
            <a:ext cx="101498" cy="101498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6818772" y="1961388"/>
            <a:ext cx="115031" cy="115031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771406" y="2110252"/>
            <a:ext cx="209763" cy="135331"/>
          </a:xfrm>
          <a:prstGeom prst="roundRect">
            <a:avLst>
              <a:gd name="adj" fmla="val 45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15783" y="1854391"/>
            <a:ext cx="3840480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450" b="1">
                <a:solidFill>
                  <a:srgbClr val="10203C"/>
                </a:solidFill>
              </a:defRPr>
            </a:pPr>
            <a:r>
              <a:t>카카오는 이 자리를 비워두었다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5783" y="2345563"/>
            <a:ext cx="3886200" cy="210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defRPr sz="1150" b="0">
                <a:solidFill>
                  <a:srgbClr val="5A6B87"/>
                </a:solidFill>
              </a:defRPr>
            </a:pPr>
            <a:r>
              <a:t>출발·이동수단·동승·경유지 개념이 없다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54096"/>
            <a:ext cx="5212080" cy="1408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24128" y="3364991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Block Arc 21"/>
          <p:cNvSpPr/>
          <p:nvPr/>
        </p:nvSpPr>
        <p:spPr>
          <a:xfrm>
            <a:off x="1271107" y="3534156"/>
            <a:ext cx="182697" cy="189463"/>
          </a:xfrm>
          <a:prstGeom prst="blockArc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240657" y="3676253"/>
            <a:ext cx="243596" cy="189463"/>
          </a:xfrm>
          <a:prstGeom prst="roundRect">
            <a:avLst>
              <a:gd name="adj" fmla="val 16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1338773" y="3743919"/>
            <a:ext cx="47365" cy="47365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901952" y="3427158"/>
            <a:ext cx="3840480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450" b="1">
                <a:solidFill>
                  <a:srgbClr val="10203C"/>
                </a:solidFill>
              </a:defRPr>
            </a:pPr>
            <a:r>
              <a:t>우리에게는 본인확인 자산이 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01952" y="3918331"/>
            <a:ext cx="3886200" cy="210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defRPr sz="1150" b="0">
                <a:solidFill>
                  <a:srgbClr val="5A6B87"/>
                </a:solidFill>
              </a:defRPr>
            </a:pPr>
            <a:r>
              <a:t>PASS 인프라로 신뢰 기반 위치 공유가 가능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5352" y="3054096"/>
            <a:ext cx="5212080" cy="14081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537960" y="3364991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707124" y="3574755"/>
            <a:ext cx="338328" cy="25712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794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707124" y="3574755"/>
            <a:ext cx="338328" cy="60899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6734190" y="3591671"/>
            <a:ext cx="21991" cy="2199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Oval 31"/>
          <p:cNvSpPr/>
          <p:nvPr/>
        </p:nvSpPr>
        <p:spPr>
          <a:xfrm>
            <a:off x="6771406" y="3591671"/>
            <a:ext cx="21991" cy="2199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Oval 32"/>
          <p:cNvSpPr/>
          <p:nvPr/>
        </p:nvSpPr>
        <p:spPr>
          <a:xfrm>
            <a:off x="6808622" y="3591671"/>
            <a:ext cx="21991" cy="2199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15783" y="3427158"/>
            <a:ext cx="3840480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450" b="1">
                <a:solidFill>
                  <a:srgbClr val="10203C"/>
                </a:solidFill>
              </a:defRPr>
            </a:pPr>
            <a:r>
              <a:t>채널은 이미 손에 있다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15783" y="3918331"/>
            <a:ext cx="3886200" cy="21005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defRPr sz="1150" b="0">
                <a:solidFill>
                  <a:srgbClr val="5A6B87"/>
                </a:solidFill>
              </a:defRPr>
            </a:pPr>
            <a:r>
              <a:t>U+ PASS 채널 + 웹 + 자체 앱의 3층 구조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956048"/>
            <a:ext cx="10728655" cy="1097280"/>
          </a:xfrm>
          <a:prstGeom prst="roundRect">
            <a:avLst>
              <a:gd name="adj" fmla="val 9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1520" y="5229028"/>
            <a:ext cx="10728655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모임 단위 위치 공유  ×  PASS 본인확인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668387"/>
            <a:ext cx="1072865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200" b="0">
                <a:solidFill>
                  <a:srgbClr val="DBE8FE"/>
                </a:solidFill>
              </a:defRPr>
            </a:pPr>
            <a:r>
              <a:t>카카오가 채우지 못한 자리를, 우리 자산으로 채운다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E8FE"/>
              </a:gs>
              <a:gs pos="48000">
                <a:srgbClr val="FFFFFF"/>
              </a:gs>
              <a:gs pos="100000">
                <a:srgbClr val="FFFFFF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01 ·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먼저 도착한 사람에게는 판단 근거가 없다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64208"/>
            <a:ext cx="3383280" cy="1335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5840" y="1847088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170432" y="2011679"/>
            <a:ext cx="329184" cy="329184"/>
          </a:xfrm>
          <a:prstGeom prst="ellipse">
            <a:avLst/>
          </a:prstGeom>
          <a:noFill/>
          <a:ln w="2794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22222" y="2077516"/>
            <a:ext cx="25603" cy="105338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35024" y="2163470"/>
            <a:ext cx="88879" cy="25603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2072398"/>
            <a:ext cx="219456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50" b="1">
                <a:solidFill>
                  <a:srgbClr val="10203C"/>
                </a:solidFill>
              </a:defRPr>
            </a:pPr>
            <a:r>
              <a:rPr dirty="0" err="1"/>
              <a:t>출발했는지</a:t>
            </a:r>
            <a:r>
              <a:rPr dirty="0"/>
              <a:t> </a:t>
            </a:r>
            <a:r>
              <a:rPr dirty="0" err="1"/>
              <a:t>모른다</a:t>
            </a:r>
            <a:endParaRPr dirty="0"/>
          </a:p>
        </p:txBody>
      </p:sp>
      <p:sp>
        <p:nvSpPr>
          <p:cNvPr id="11" name="Chevron 10"/>
          <p:cNvSpPr/>
          <p:nvPr/>
        </p:nvSpPr>
        <p:spPr>
          <a:xfrm>
            <a:off x="4133088" y="2203703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07407" y="1664208"/>
            <a:ext cx="3383280" cy="1335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681727" y="1847088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846320" y="2044598"/>
            <a:ext cx="329184" cy="26334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12156" y="2044598"/>
            <a:ext cx="20116" cy="263347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846320" y="2176272"/>
            <a:ext cx="329184" cy="20116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4981285" y="2130186"/>
            <a:ext cx="59253" cy="59253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Isosceles Triangle 17"/>
          <p:cNvSpPr/>
          <p:nvPr/>
        </p:nvSpPr>
        <p:spPr>
          <a:xfrm rot="10800000">
            <a:off x="4991160" y="2182855"/>
            <a:ext cx="39502" cy="46085"/>
          </a:xfrm>
          <a:prstGeom prst="triangl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04688" y="2072398"/>
            <a:ext cx="219456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50" b="1">
                <a:solidFill>
                  <a:srgbClr val="10203C"/>
                </a:solidFill>
              </a:defRPr>
            </a:pPr>
            <a:r>
              <a:t>어디쯤인지 모른다</a:t>
            </a:r>
          </a:p>
        </p:txBody>
      </p:sp>
      <p:sp>
        <p:nvSpPr>
          <p:cNvPr id="20" name="Chevron 19"/>
          <p:cNvSpPr/>
          <p:nvPr/>
        </p:nvSpPr>
        <p:spPr>
          <a:xfrm>
            <a:off x="7808975" y="2203703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083296" y="1664208"/>
            <a:ext cx="3383280" cy="13350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57616" y="1847088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Oval 22"/>
          <p:cNvSpPr/>
          <p:nvPr/>
        </p:nvSpPr>
        <p:spPr>
          <a:xfrm>
            <a:off x="8535375" y="2038014"/>
            <a:ext cx="98755" cy="98755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8739469" y="2038014"/>
            <a:ext cx="98755" cy="98755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Oval 24"/>
          <p:cNvSpPr/>
          <p:nvPr/>
        </p:nvSpPr>
        <p:spPr>
          <a:xfrm>
            <a:off x="8630838" y="2011679"/>
            <a:ext cx="111922" cy="111922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584752" y="2156520"/>
            <a:ext cx="204094" cy="131673"/>
          </a:xfrm>
          <a:prstGeom prst="roundRect">
            <a:avLst>
              <a:gd name="adj" fmla="val 45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80576" y="2072398"/>
            <a:ext cx="219456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50" b="1">
                <a:solidFill>
                  <a:srgbClr val="10203C"/>
                </a:solidFill>
              </a:defRPr>
            </a:pPr>
            <a:r>
              <a:t>매번 물어봐야 안다</a:t>
            </a:r>
          </a:p>
        </p:txBody>
      </p:sp>
      <p:sp>
        <p:nvSpPr>
          <p:cNvPr id="28" name="Chevron 27"/>
          <p:cNvSpPr/>
          <p:nvPr/>
        </p:nvSpPr>
        <p:spPr>
          <a:xfrm rot="5400000">
            <a:off x="5943600" y="3163824"/>
            <a:ext cx="292608" cy="292608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154680" y="3639312"/>
            <a:ext cx="589788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54680" y="3958236"/>
            <a:ext cx="589788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500" b="1">
                <a:solidFill>
                  <a:srgbClr val="10203C"/>
                </a:solidFill>
              </a:defRPr>
            </a:pPr>
            <a:r>
              <a:t>결과 — 애매한 대기로 시간을 낭비한다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514600" y="4919472"/>
            <a:ext cx="7178040" cy="804672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514600" y="5202544"/>
            <a:ext cx="7178040" cy="2385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550" b="1">
                <a:solidFill>
                  <a:srgbClr val="1348C0"/>
                </a:solidFill>
              </a:defRPr>
            </a:pPr>
            <a:r>
              <a:t>필요한 것은 정확한 위치가 아니라 “남은 시간(ETA)”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60000">
                <a:srgbClr val="FFFFFF"/>
              </a:gs>
              <a:gs pos="100000">
                <a:srgbClr val="DBE8FE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02 · 서비스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모임 단위로 켜지고, 도착하면 꺼진다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2450592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600200" y="201168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778508" y="2225649"/>
            <a:ext cx="356616" cy="2852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49831" y="2225649"/>
            <a:ext cx="20116" cy="285292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778508" y="2368296"/>
            <a:ext cx="356616" cy="20116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1924720" y="2318369"/>
            <a:ext cx="64190" cy="64190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Isosceles Triangle 10"/>
          <p:cNvSpPr/>
          <p:nvPr/>
        </p:nvSpPr>
        <p:spPr>
          <a:xfrm rot="10800000">
            <a:off x="1935419" y="2375428"/>
            <a:ext cx="42793" cy="49926"/>
          </a:xfrm>
          <a:prstGeom prst="triangl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914400" y="1920240"/>
            <a:ext cx="329184" cy="32918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66112"/>
            <a:ext cx="2450592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500" b="1">
                <a:solidFill>
                  <a:srgbClr val="10203C"/>
                </a:solidFill>
              </a:defRPr>
            </a:pPr>
            <a:r>
              <a:t>모임 생성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47427"/>
            <a:ext cx="2084831" cy="2008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5A6B87"/>
                </a:solidFill>
              </a:defRPr>
            </a:pPr>
            <a:r>
              <a:t>장소·날짜·시간을 정한다</a:t>
            </a:r>
          </a:p>
        </p:txBody>
      </p:sp>
      <p:sp>
        <p:nvSpPr>
          <p:cNvPr id="15" name="Chevron 14"/>
          <p:cNvSpPr/>
          <p:nvPr/>
        </p:nvSpPr>
        <p:spPr>
          <a:xfrm>
            <a:off x="3204972" y="2779776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483863" y="1783080"/>
            <a:ext cx="2450592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352544" y="201168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Donut 17"/>
          <p:cNvSpPr/>
          <p:nvPr/>
        </p:nvSpPr>
        <p:spPr>
          <a:xfrm>
            <a:off x="4530851" y="2282708"/>
            <a:ext cx="199704" cy="171175"/>
          </a:xfrm>
          <a:prstGeom prst="donu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Donut 18"/>
          <p:cNvSpPr/>
          <p:nvPr/>
        </p:nvSpPr>
        <p:spPr>
          <a:xfrm>
            <a:off x="4687763" y="2282708"/>
            <a:ext cx="199704" cy="171175"/>
          </a:xfrm>
          <a:prstGeom prst="donut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3666744" y="1920240"/>
            <a:ext cx="329184" cy="32918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3863" y="2966112"/>
            <a:ext cx="2450592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500" b="1">
                <a:solidFill>
                  <a:srgbClr val="10203C"/>
                </a:solidFill>
              </a:defRPr>
            </a:pPr>
            <a:r>
              <a:t>링크 공유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66744" y="3447427"/>
            <a:ext cx="2084831" cy="2008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5A6B87"/>
                </a:solidFill>
              </a:defRPr>
            </a:pPr>
            <a:r>
              <a:t>설치·가입 없이 닉네임만</a:t>
            </a:r>
          </a:p>
        </p:txBody>
      </p:sp>
      <p:sp>
        <p:nvSpPr>
          <p:cNvPr id="23" name="Chevron 22"/>
          <p:cNvSpPr/>
          <p:nvPr/>
        </p:nvSpPr>
        <p:spPr>
          <a:xfrm>
            <a:off x="5957316" y="2779776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36207" y="1783080"/>
            <a:ext cx="2450592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104888" y="201168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Oval 25"/>
          <p:cNvSpPr/>
          <p:nvPr/>
        </p:nvSpPr>
        <p:spPr>
          <a:xfrm>
            <a:off x="7340254" y="2189988"/>
            <a:ext cx="242498" cy="242498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Isosceles Triangle 26"/>
          <p:cNvSpPr/>
          <p:nvPr/>
        </p:nvSpPr>
        <p:spPr>
          <a:xfrm rot="10800000">
            <a:off x="7393746" y="2375428"/>
            <a:ext cx="135514" cy="156911"/>
          </a:xfrm>
          <a:prstGeom prst="triangl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Oval 27"/>
          <p:cNvSpPr/>
          <p:nvPr/>
        </p:nvSpPr>
        <p:spPr>
          <a:xfrm>
            <a:off x="7418710" y="2268443"/>
            <a:ext cx="85587" cy="8558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Oval 28"/>
          <p:cNvSpPr/>
          <p:nvPr/>
        </p:nvSpPr>
        <p:spPr>
          <a:xfrm>
            <a:off x="6419088" y="1920240"/>
            <a:ext cx="329184" cy="32918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7" y="2966112"/>
            <a:ext cx="2450592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500" b="1">
                <a:solidFill>
                  <a:srgbClr val="10203C"/>
                </a:solidFill>
              </a:defRPr>
            </a:pPr>
            <a:r>
              <a:t>출발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19088" y="3447427"/>
            <a:ext cx="2084831" cy="2008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5A6B87"/>
                </a:solidFill>
              </a:defRPr>
            </a:pPr>
            <a:r>
              <a:t>이동수단 선택 후 공유 시작</a:t>
            </a:r>
          </a:p>
        </p:txBody>
      </p:sp>
      <p:sp>
        <p:nvSpPr>
          <p:cNvPr id="32" name="Chevron 31"/>
          <p:cNvSpPr/>
          <p:nvPr/>
        </p:nvSpPr>
        <p:spPr>
          <a:xfrm>
            <a:off x="8709659" y="2779776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988552" y="1783080"/>
            <a:ext cx="2450592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857232" y="201168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035540" y="2189988"/>
            <a:ext cx="356616" cy="356616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164956" y="2290262"/>
            <a:ext cx="97784" cy="15606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014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7" name="Oval 36"/>
          <p:cNvSpPr/>
          <p:nvPr/>
        </p:nvSpPr>
        <p:spPr>
          <a:xfrm>
            <a:off x="9171432" y="1920240"/>
            <a:ext cx="329184" cy="32918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88552" y="2966112"/>
            <a:ext cx="2450592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500" b="1">
                <a:solidFill>
                  <a:srgbClr val="10203C"/>
                </a:solidFill>
              </a:defRPr>
            </a:pPr>
            <a:r>
              <a:t>도착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71432" y="3447427"/>
            <a:ext cx="2084831" cy="20088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5A6B87"/>
                </a:solidFill>
              </a:defRPr>
            </a:pPr>
            <a:r>
              <a:t>자동 종료 · 명단 반영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88749"/>
            <a:ext cx="10728655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350" b="1">
                <a:solidFill>
                  <a:srgbClr val="1348C0"/>
                </a:solidFill>
              </a:defRPr>
            </a:pPr>
            <a:r>
              <a:t>상시 공유가 아니라는 점이 심리적 수용성을 만든다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297330"/>
            <a:ext cx="10728655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50" b="0">
                <a:solidFill>
                  <a:srgbClr val="5A6B87"/>
                </a:solidFill>
              </a:defRPr>
            </a:pPr>
            <a:r>
              <a:t>초대된 사람 = 공유 대상   ·   모임이 끝나면 공유도 끝난다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6720840" y="1417320"/>
            <a:ext cx="2091202" cy="4206240"/>
          </a:xfrm>
          <a:prstGeom prst="roundRect">
            <a:avLst>
              <a:gd name="adj" fmla="val 9000"/>
            </a:avLst>
          </a:prstGeom>
          <a:solidFill>
            <a:srgbClr val="EFF5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54680" y="1417320"/>
            <a:ext cx="2091202" cy="4206240"/>
          </a:xfrm>
          <a:prstGeom prst="roundRect">
            <a:avLst>
              <a:gd name="adj" fmla="val 9000"/>
            </a:avLst>
          </a:prstGeom>
          <a:solidFill>
            <a:srgbClr val="EFF5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46000">
                <a:srgbClr val="FFFFFF"/>
              </a:gs>
              <a:gs pos="100000">
                <a:srgbClr val="DBE8F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03 · 서비스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모임을 만들고 링크를 보낸다</a:t>
            </a:r>
          </a:p>
        </p:txBody>
      </p:sp>
      <p:pic>
        <p:nvPicPr>
          <p:cNvPr id="5" name="Picture 4" descr="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554480"/>
            <a:ext cx="1816882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97480" y="5809394"/>
            <a:ext cx="283464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50" b="0">
                <a:solidFill>
                  <a:srgbClr val="5A6B87"/>
                </a:solidFill>
              </a:defRPr>
            </a:pPr>
            <a:r>
              <a:t>모임 생성 / 링크 참여</a:t>
            </a:r>
          </a:p>
        </p:txBody>
      </p:sp>
      <p:pic>
        <p:nvPicPr>
          <p:cNvPr id="8" name="Picture 7" descr="2-cre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554480"/>
            <a:ext cx="1816882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63640" y="5809394"/>
            <a:ext cx="283464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50" b="0">
                <a:solidFill>
                  <a:srgbClr val="5A6B87"/>
                </a:solidFill>
              </a:defRPr>
            </a:pPr>
            <a:r>
              <a:t>장소·날짜·시간 지정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6720840" y="1417320"/>
            <a:ext cx="2091202" cy="4206240"/>
          </a:xfrm>
          <a:prstGeom prst="roundRect">
            <a:avLst>
              <a:gd name="adj" fmla="val 9000"/>
            </a:avLst>
          </a:prstGeom>
          <a:solidFill>
            <a:srgbClr val="EFF5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154680" y="1417320"/>
            <a:ext cx="2091202" cy="4206240"/>
          </a:xfrm>
          <a:prstGeom prst="roundRect">
            <a:avLst>
              <a:gd name="adj" fmla="val 9000"/>
            </a:avLst>
          </a:prstGeom>
          <a:solidFill>
            <a:srgbClr val="EFF5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E8FE"/>
              </a:gs>
              <a:gs pos="52000">
                <a:srgbClr val="FFFFFF"/>
              </a:gs>
              <a:gs pos="100000">
                <a:srgbClr val="FFFFFF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03 · 서비스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받은 사람은 닉네임만 입력한다</a:t>
            </a:r>
          </a:p>
        </p:txBody>
      </p:sp>
      <p:pic>
        <p:nvPicPr>
          <p:cNvPr id="5" name="Picture 4" descr="3-inv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554480"/>
            <a:ext cx="1816882" cy="3931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97480" y="5809394"/>
            <a:ext cx="283464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50" b="0">
                <a:solidFill>
                  <a:srgbClr val="5A6B87"/>
                </a:solidFill>
              </a:defRPr>
            </a:pPr>
            <a:r>
              <a:t>초대 링크 공유</a:t>
            </a:r>
          </a:p>
        </p:txBody>
      </p:sp>
      <p:pic>
        <p:nvPicPr>
          <p:cNvPr id="8" name="Picture 7" descr="4-jo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554480"/>
            <a:ext cx="1816882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63640" y="5809394"/>
            <a:ext cx="2834640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50" b="0">
                <a:solidFill>
                  <a:srgbClr val="5A6B87"/>
                </a:solidFill>
              </a:defRPr>
            </a:pPr>
            <a:r>
              <a:t>설치·가입 없이 참여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1417320" y="1325880"/>
            <a:ext cx="2429227" cy="4937759"/>
          </a:xfrm>
          <a:prstGeom prst="roundRect">
            <a:avLst>
              <a:gd name="adj" fmla="val 9000"/>
            </a:avLst>
          </a:prstGeom>
          <a:solidFill>
            <a:srgbClr val="EFF5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48000">
                <a:srgbClr val="FFFFFF"/>
              </a:gs>
              <a:gs pos="100000">
                <a:srgbClr val="DBE8FE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03 · 서비스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당일, 지도 하나로 상황이 정리된다</a:t>
            </a:r>
          </a:p>
        </p:txBody>
      </p:sp>
      <p:pic>
        <p:nvPicPr>
          <p:cNvPr id="5" name="Picture 4" descr="5-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463040"/>
            <a:ext cx="2154907" cy="466344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309360" y="2066543"/>
            <a:ext cx="146304" cy="14630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38544" y="2061804"/>
            <a:ext cx="475488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0">
                <a:solidFill>
                  <a:srgbClr val="10203C"/>
                </a:solidFill>
              </a:defRPr>
            </a:pPr>
            <a:r>
              <a:t>목적지와 참여자 위치를 한 화면에서 본다</a:t>
            </a:r>
          </a:p>
        </p:txBody>
      </p:sp>
      <p:sp>
        <p:nvSpPr>
          <p:cNvPr id="9" name="Oval 8"/>
          <p:cNvSpPr/>
          <p:nvPr/>
        </p:nvSpPr>
        <p:spPr>
          <a:xfrm>
            <a:off x="6309360" y="2724912"/>
            <a:ext cx="146304" cy="14630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38544" y="2720172"/>
            <a:ext cx="475488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0">
                <a:solidFill>
                  <a:srgbClr val="10203C"/>
                </a:solidFill>
              </a:defRPr>
            </a:pPr>
            <a:r>
              <a:t>‘출발’을 눌러야 내 위치가 공유된다</a:t>
            </a:r>
          </a:p>
        </p:txBody>
      </p:sp>
      <p:sp>
        <p:nvSpPr>
          <p:cNvPr id="11" name="Oval 10"/>
          <p:cNvSpPr/>
          <p:nvPr/>
        </p:nvSpPr>
        <p:spPr>
          <a:xfrm>
            <a:off x="6309360" y="3383279"/>
            <a:ext cx="146304" cy="14630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38544" y="3378540"/>
            <a:ext cx="475488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0">
                <a:solidFill>
                  <a:srgbClr val="10203C"/>
                </a:solidFill>
              </a:defRPr>
            </a:pPr>
            <a:r>
              <a:t>‘오는 중’과 ‘도착’으로 자동 정리된다</a:t>
            </a:r>
          </a:p>
        </p:txBody>
      </p:sp>
      <p:sp>
        <p:nvSpPr>
          <p:cNvPr id="13" name="Oval 12"/>
          <p:cNvSpPr/>
          <p:nvPr/>
        </p:nvSpPr>
        <p:spPr>
          <a:xfrm>
            <a:off x="6309360" y="4041648"/>
            <a:ext cx="146304" cy="14630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38544" y="4036908"/>
            <a:ext cx="475488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0">
                <a:solidFill>
                  <a:srgbClr val="10203C"/>
                </a:solidFill>
              </a:defRPr>
            </a:pPr>
            <a:r>
              <a:t>도착 반경에 들어오면 공유가 스스로 꺼진다</a:t>
            </a:r>
          </a:p>
        </p:txBody>
      </p:sp>
      <p:sp>
        <p:nvSpPr>
          <p:cNvPr id="15" name="Oval 14"/>
          <p:cNvSpPr/>
          <p:nvPr/>
        </p:nvSpPr>
        <p:spPr>
          <a:xfrm>
            <a:off x="6309360" y="4700016"/>
            <a:ext cx="146304" cy="146304"/>
          </a:xfrm>
          <a:prstGeom prst="ellipse">
            <a:avLst/>
          </a:prstGeom>
          <a:solidFill>
            <a:srgbClr val="1348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38544" y="4695275"/>
            <a:ext cx="475488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50" b="1">
                <a:solidFill>
                  <a:srgbClr val="10203C"/>
                </a:solidFill>
              </a:defRPr>
            </a:pPr>
            <a:r>
              <a:t>먼저 온 사람이 기다릴지 이동할지 판단한다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46000">
                <a:srgbClr val="DBE8FE"/>
              </a:gs>
              <a:gs pos="100000">
                <a:srgbClr val="FFFFFF"/>
              </a:gs>
            </a:gsLst>
            <a:lin ang="162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04 · 경쟁 지형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비어 있는 자리 — 모임 단위 × 무마찰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88720" y="1691640"/>
            <a:ext cx="6492240" cy="37947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425696" y="1892808"/>
            <a:ext cx="18288" cy="3392424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389888" y="3579876"/>
            <a:ext cx="6089903" cy="18288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427968"/>
            <a:ext cx="649224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50" b="1">
                <a:solidFill>
                  <a:srgbClr val="9FADC4"/>
                </a:solidFill>
              </a:defRPr>
            </a:pPr>
            <a:r>
              <a:t>모임 단위 공유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588488"/>
            <a:ext cx="649224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50" b="1">
                <a:solidFill>
                  <a:srgbClr val="9FADC4"/>
                </a:solidFill>
              </a:defRPr>
            </a:pPr>
            <a:r>
              <a:t>상시(always-on) 공유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85812"/>
            <a:ext cx="11887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000" b="1">
                <a:solidFill>
                  <a:srgbClr val="9FADC4"/>
                </a:solidFill>
              </a:defRPr>
            </a:pPr>
            <a:r>
              <a:t>← 마찰 높음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685812"/>
            <a:ext cx="11887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defRPr sz="1000" b="1">
                <a:solidFill>
                  <a:srgbClr val="9FADC4"/>
                </a:solidFill>
              </a:defRPr>
            </a:pPr>
            <a:r>
              <a:t>마찰 낮음 →</a:t>
            </a:r>
          </a:p>
        </p:txBody>
      </p:sp>
      <p:sp>
        <p:nvSpPr>
          <p:cNvPr id="12" name="Oval 11"/>
          <p:cNvSpPr/>
          <p:nvPr/>
        </p:nvSpPr>
        <p:spPr>
          <a:xfrm>
            <a:off x="5774436" y="2394813"/>
            <a:ext cx="566928" cy="566928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69179" y="3078270"/>
            <a:ext cx="23774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1">
                <a:solidFill>
                  <a:srgbClr val="1348C0"/>
                </a:solidFill>
              </a:defRPr>
            </a:pPr>
            <a:r>
              <a:t>어디쯤</a:t>
            </a:r>
          </a:p>
        </p:txBody>
      </p:sp>
      <p:sp>
        <p:nvSpPr>
          <p:cNvPr id="14" name="Oval 13"/>
          <p:cNvSpPr/>
          <p:nvPr/>
        </p:nvSpPr>
        <p:spPr>
          <a:xfrm>
            <a:off x="3120847" y="3758183"/>
            <a:ext cx="420624" cy="420624"/>
          </a:xfrm>
          <a:prstGeom prst="ellipse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42439" y="4303032"/>
            <a:ext cx="23774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1">
                <a:solidFill>
                  <a:srgbClr val="1348C0"/>
                </a:solidFill>
              </a:defRPr>
            </a:pPr>
            <a:r>
              <a:t>카카오맵 친구위치</a:t>
            </a:r>
          </a:p>
        </p:txBody>
      </p:sp>
      <p:sp>
        <p:nvSpPr>
          <p:cNvPr id="16" name="Oval 15"/>
          <p:cNvSpPr/>
          <p:nvPr/>
        </p:nvSpPr>
        <p:spPr>
          <a:xfrm>
            <a:off x="2192731" y="4752594"/>
            <a:ext cx="329184" cy="329184"/>
          </a:xfrm>
          <a:prstGeom prst="ellipse">
            <a:avLst/>
          </a:prstGeom>
          <a:solidFill>
            <a:srgbClr val="EF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68603" y="5206002"/>
            <a:ext cx="23774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1">
                <a:solidFill>
                  <a:srgbClr val="5A6B87"/>
                </a:solidFill>
              </a:defRPr>
            </a:pPr>
            <a:r>
              <a:t>iSharing</a:t>
            </a:r>
          </a:p>
        </p:txBody>
      </p:sp>
      <p:sp>
        <p:nvSpPr>
          <p:cNvPr id="18" name="Oval 17"/>
          <p:cNvSpPr/>
          <p:nvPr/>
        </p:nvSpPr>
        <p:spPr>
          <a:xfrm>
            <a:off x="4140403" y="4790541"/>
            <a:ext cx="329184" cy="329184"/>
          </a:xfrm>
          <a:prstGeom prst="ellipse">
            <a:avLst/>
          </a:prstGeom>
          <a:solidFill>
            <a:srgbClr val="EF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16275" y="5243949"/>
            <a:ext cx="23774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1">
                <a:solidFill>
                  <a:srgbClr val="5A6B87"/>
                </a:solidFill>
              </a:defRPr>
            </a:pPr>
            <a:r>
              <a:t>Life360</a:t>
            </a:r>
          </a:p>
        </p:txBody>
      </p:sp>
      <p:sp>
        <p:nvSpPr>
          <p:cNvPr id="20" name="Oval 19"/>
          <p:cNvSpPr/>
          <p:nvPr/>
        </p:nvSpPr>
        <p:spPr>
          <a:xfrm>
            <a:off x="5716828" y="4429353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FA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74412" y="4846185"/>
            <a:ext cx="23774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1">
                <a:solidFill>
                  <a:srgbClr val="9FADC4"/>
                </a:solidFill>
              </a:defRPr>
            </a:pPr>
            <a:r>
              <a:t>Zenly (종료)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2286000"/>
            <a:ext cx="3273552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58200" y="2523744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5-Point Star 23"/>
          <p:cNvSpPr/>
          <p:nvPr/>
        </p:nvSpPr>
        <p:spPr>
          <a:xfrm>
            <a:off x="8618219" y="2683764"/>
            <a:ext cx="320040" cy="320040"/>
          </a:xfrm>
          <a:prstGeom prst="star5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58200" y="3344146"/>
            <a:ext cx="2743200" cy="53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defRPr sz="1450" b="1">
                <a:solidFill>
                  <a:srgbClr val="10203C"/>
                </a:solidFill>
              </a:defRPr>
            </a:pPr>
            <a:r>
              <a:t>모임 단위이면서</a:t>
            </a:r>
          </a:p>
          <a:p>
            <a:pPr algn="l">
              <a:lnSpc>
                <a:spcPct val="125000"/>
              </a:lnSpc>
              <a:defRPr sz="1450" b="1">
                <a:solidFill>
                  <a:srgbClr val="10203C"/>
                </a:solidFill>
              </a:defRPr>
            </a:pPr>
            <a:r>
              <a:t>마찰이 없는 서비스가 없다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941312"/>
            <a:ext cx="2743200" cy="4018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  <a:defRPr sz="1050" b="0">
                <a:solidFill>
                  <a:srgbClr val="5A6B87"/>
                </a:solidFill>
              </a:defRPr>
            </a:pPr>
            <a:r>
              <a:t>기존 서비스는 모두 상시 공유이거나 앱 설치·친구 관계를 전제한다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E8FE"/>
              </a:gs>
              <a:gs pos="52000">
                <a:srgbClr val="FFFFFF"/>
              </a:gs>
              <a:gs pos="100000">
                <a:srgbClr val="FFFFFF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04 · 경쟁 지형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카카오가 채우지 못하는 세 가지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64208"/>
            <a:ext cx="338328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51560" y="192024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249070" y="2132380"/>
            <a:ext cx="109728" cy="109728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1475841" y="2132380"/>
            <a:ext cx="109728" cy="109728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1355140" y="2103120"/>
            <a:ext cx="124358" cy="124358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303934" y="2264054"/>
            <a:ext cx="226771" cy="146304"/>
          </a:xfrm>
          <a:prstGeom prst="roundRect">
            <a:avLst>
              <a:gd name="adj" fmla="val 45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998911"/>
            <a:ext cx="2743200" cy="256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500" b="1">
                <a:solidFill>
                  <a:srgbClr val="10203C"/>
                </a:solidFill>
              </a:defRPr>
            </a:pPr>
            <a:r>
              <a:t>친구 관계 전제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588139"/>
            <a:ext cx="2788920" cy="6875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5A6B87"/>
                </a:solidFill>
              </a:defRPr>
            </a:pPr>
            <a:r>
              <a:t>카카오톡 친구 + 앱 설치가 필요하다.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5A6B87"/>
                </a:solidFill>
              </a:defRPr>
            </a:pPr>
            <a:r>
              <a:t>오픈채팅으로 모인 그룹, 처음 만난 사람,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5A6B87"/>
                </a:solidFill>
              </a:defRPr>
            </a:pPr>
            <a:r>
              <a:t>외국인 참여자는 사실상 쓰기 어렵다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7407" y="1664208"/>
            <a:ext cx="338328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727447" y="192024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Pentagon 14"/>
          <p:cNvSpPr/>
          <p:nvPr/>
        </p:nvSpPr>
        <p:spPr>
          <a:xfrm rot="5400000">
            <a:off x="4932273" y="2103120"/>
            <a:ext cx="321868" cy="365760"/>
          </a:xfrm>
          <a:prstGeom prst="homePlat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43515" y="2198662"/>
            <a:ext cx="99386" cy="160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4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7" y="2998911"/>
            <a:ext cx="2743200" cy="256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500" b="1">
                <a:solidFill>
                  <a:srgbClr val="10203C"/>
                </a:solidFill>
              </a:defRPr>
            </a:pPr>
            <a:r>
              <a:t>모임 단위 본인확인 부재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6" y="3588139"/>
            <a:ext cx="2936545" cy="6875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5A6B87"/>
                </a:solidFill>
              </a:defRPr>
            </a:pPr>
            <a:r>
              <a:rPr dirty="0" err="1"/>
              <a:t>친구</a:t>
            </a:r>
            <a:r>
              <a:rPr dirty="0"/>
              <a:t> </a:t>
            </a:r>
            <a:r>
              <a:rPr dirty="0" err="1"/>
              <a:t>관계만</a:t>
            </a:r>
            <a:r>
              <a:rPr dirty="0"/>
              <a:t> </a:t>
            </a:r>
            <a:r>
              <a:rPr dirty="0" err="1"/>
              <a:t>요구하고</a:t>
            </a:r>
            <a:r>
              <a:rPr dirty="0"/>
              <a:t> </a:t>
            </a:r>
            <a:r>
              <a:rPr dirty="0" err="1"/>
              <a:t>참여자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절차는</a:t>
            </a:r>
            <a:r>
              <a:rPr dirty="0"/>
              <a:t> </a:t>
            </a:r>
            <a:r>
              <a:rPr dirty="0" err="1"/>
              <a:t>없다</a:t>
            </a:r>
            <a:r>
              <a:rPr dirty="0"/>
              <a:t>.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5A6B87"/>
                </a:solidFill>
              </a:defRPr>
            </a:pPr>
            <a:r>
              <a:rPr dirty="0" err="1"/>
              <a:t>신뢰가</a:t>
            </a:r>
            <a:r>
              <a:rPr dirty="0"/>
              <a:t> </a:t>
            </a:r>
            <a:r>
              <a:rPr dirty="0" err="1"/>
              <a:t>필요한</a:t>
            </a:r>
            <a:r>
              <a:rPr dirty="0"/>
              <a:t> </a:t>
            </a:r>
            <a:r>
              <a:rPr dirty="0" err="1"/>
              <a:t>행사·기관</a:t>
            </a:r>
            <a:r>
              <a:rPr dirty="0"/>
              <a:t> </a:t>
            </a:r>
            <a:r>
              <a:rPr dirty="0" err="1"/>
              <a:t>단위</a:t>
            </a:r>
            <a:r>
              <a:rPr dirty="0"/>
              <a:t> </a:t>
            </a:r>
            <a:r>
              <a:rPr dirty="0" err="1"/>
              <a:t>활용에는</a:t>
            </a:r>
            <a:endParaRPr dirty="0"/>
          </a:p>
          <a:p>
            <a:pPr algn="l">
              <a:lnSpc>
                <a:spcPct val="140000"/>
              </a:lnSpc>
              <a:defRPr sz="1100" b="0">
                <a:solidFill>
                  <a:srgbClr val="5A6B87"/>
                </a:solidFill>
              </a:defRPr>
            </a:pPr>
            <a:r>
              <a:rPr dirty="0" err="1"/>
              <a:t>적합하지</a:t>
            </a:r>
            <a:r>
              <a:rPr dirty="0"/>
              <a:t> </a:t>
            </a:r>
            <a:r>
              <a:rPr dirty="0" err="1"/>
              <a:t>않다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8083296" y="1664208"/>
            <a:ext cx="338328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403336" y="192024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666683" y="2103120"/>
            <a:ext cx="204825" cy="36576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794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732520" y="2136038"/>
            <a:ext cx="73152" cy="25603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Oval 22"/>
          <p:cNvSpPr/>
          <p:nvPr/>
        </p:nvSpPr>
        <p:spPr>
          <a:xfrm>
            <a:off x="8743492" y="2384755"/>
            <a:ext cx="51206" cy="51206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03336" y="2998911"/>
            <a:ext cx="2743200" cy="2566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500" b="1">
                <a:solidFill>
                  <a:srgbClr val="10203C"/>
                </a:solidFill>
              </a:defRPr>
            </a:pPr>
            <a:r>
              <a:t>내비와 동시 사용 제약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3336" y="3588139"/>
            <a:ext cx="2788920" cy="68756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40000"/>
              </a:lnSpc>
              <a:defRPr sz="1100" b="0">
                <a:solidFill>
                  <a:srgbClr val="5A6B87"/>
                </a:solidFill>
              </a:defRPr>
            </a:pPr>
            <a:r>
              <a:t>카카오맵과 카카오내비는 한 몸이다.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5A6B87"/>
                </a:solidFill>
              </a:defRPr>
            </a:pPr>
            <a:r>
              <a:t>친구 위치를 보려면 안내가 끊기고,</a:t>
            </a:r>
          </a:p>
          <a:p>
            <a:pPr algn="l">
              <a:lnSpc>
                <a:spcPct val="140000"/>
              </a:lnSpc>
              <a:defRPr sz="1100" b="0">
                <a:solidFill>
                  <a:srgbClr val="5A6B87"/>
                </a:solidFill>
              </a:defRPr>
            </a:pPr>
            <a:r>
              <a:t>운전자는 목적지를 다시 설정해야 한다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020612"/>
            <a:ext cx="10728655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300" b="1">
                <a:solidFill>
                  <a:srgbClr val="1348C0"/>
                </a:solidFill>
              </a:defRPr>
            </a:pPr>
            <a:r>
              <a:t>세 가지 모두 “카카오톡 친구끼리, 상시로”라는 전제에서 나온다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416202"/>
            <a:ext cx="10728655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50" b="0">
                <a:solidFill>
                  <a:srgbClr val="5A6B87"/>
                </a:solidFill>
              </a:defRPr>
            </a:pPr>
            <a:r>
              <a:t>그 전제를 쓰지 않는 서비스라면 겹치지 않는 자리를 잡을 수 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46000">
                <a:srgbClr val="FFFFFF"/>
              </a:gs>
              <a:gs pos="100000">
                <a:srgbClr val="DBE8FE"/>
              </a:gs>
            </a:gsLst>
            <a:lin ang="27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05 · 차별점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기능 격차 — 같은 지도, 다른 단위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16708"/>
            <a:ext cx="10728655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00" b="0">
                <a:solidFill>
                  <a:srgbClr val="5A6B87"/>
                </a:solidFill>
              </a:defRPr>
            </a:pPr>
            <a:r>
              <a:t>모임을 '함께 이동하는 일'로 보면 카카오가 다루지 않는 항목이 드러난다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1572768"/>
            <a:ext cx="4325112" cy="3968496"/>
          </a:xfrm>
          <a:prstGeom prst="roundRect">
            <a:avLst>
              <a:gd name="adj" fmla="val 5000"/>
            </a:avLst>
          </a:prstGeom>
          <a:solidFill>
            <a:srgbClr val="EFF5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702289"/>
            <a:ext cx="224028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050" b="1">
                <a:solidFill>
                  <a:srgbClr val="9FADC4"/>
                </a:solidFill>
              </a:defRPr>
            </a:pPr>
            <a:r>
              <a:t>항목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694594"/>
            <a:ext cx="3977639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50" b="1">
                <a:solidFill>
                  <a:srgbClr val="5A6B87"/>
                </a:solidFill>
              </a:defRPr>
            </a:pPr>
            <a:r>
              <a:t>카카오맵 친구위치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1694594"/>
            <a:ext cx="4233672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150" b="1">
                <a:solidFill>
                  <a:srgbClr val="1C60EF"/>
                </a:solidFill>
              </a:defRPr>
            </a:pPr>
            <a:r>
              <a:t>어디쯤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10728655" cy="13716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274867"/>
            <a:ext cx="2240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00" b="1">
                <a:solidFill>
                  <a:srgbClr val="10203C"/>
                </a:solidFill>
              </a:defRPr>
            </a:pPr>
            <a:r>
              <a:rPr dirty="0" err="1"/>
              <a:t>출발</a:t>
            </a:r>
            <a:r>
              <a:rPr dirty="0"/>
              <a:t> </a:t>
            </a:r>
            <a:r>
              <a:rPr dirty="0" err="1"/>
              <a:t>시점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3063240" y="2273104"/>
            <a:ext cx="3977639" cy="1881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9FADC4"/>
                </a:solidFill>
              </a:defRPr>
            </a:pPr>
            <a:r>
              <a:rPr dirty="0" err="1"/>
              <a:t>공유를</a:t>
            </a:r>
            <a:r>
              <a:rPr dirty="0"/>
              <a:t> </a:t>
            </a:r>
            <a:r>
              <a:rPr dirty="0" err="1"/>
              <a:t>켜면</a:t>
            </a:r>
            <a:r>
              <a:rPr dirty="0"/>
              <a:t> </a:t>
            </a:r>
            <a:r>
              <a:rPr dirty="0" err="1"/>
              <a:t>그</a:t>
            </a:r>
            <a:r>
              <a:rPr dirty="0"/>
              <a:t> </a:t>
            </a:r>
            <a:r>
              <a:rPr dirty="0" err="1"/>
              <a:t>순간부터</a:t>
            </a:r>
            <a:r>
              <a:rPr dirty="0"/>
              <a:t> </a:t>
            </a:r>
            <a:r>
              <a:rPr dirty="0" err="1"/>
              <a:t>노출</a:t>
            </a:r>
            <a:endParaRPr dirty="0"/>
          </a:p>
        </p:txBody>
      </p:sp>
      <p:sp>
        <p:nvSpPr>
          <p:cNvPr id="13" name="Oval 12"/>
          <p:cNvSpPr/>
          <p:nvPr/>
        </p:nvSpPr>
        <p:spPr>
          <a:xfrm>
            <a:off x="7223760" y="2307764"/>
            <a:ext cx="118872" cy="118872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61504" y="2268808"/>
            <a:ext cx="3959352" cy="1967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150" b="1">
                <a:solidFill>
                  <a:srgbClr val="1348C0"/>
                </a:solidFill>
              </a:defRPr>
            </a:pPr>
            <a:r>
              <a:rPr dirty="0"/>
              <a:t>‘</a:t>
            </a:r>
            <a:r>
              <a:rPr dirty="0" err="1"/>
              <a:t>출발’을</a:t>
            </a:r>
            <a:r>
              <a:rPr dirty="0"/>
              <a:t> </a:t>
            </a:r>
            <a:r>
              <a:rPr dirty="0" err="1"/>
              <a:t>눌러야</a:t>
            </a:r>
            <a:r>
              <a:rPr dirty="0"/>
              <a:t> </a:t>
            </a:r>
            <a:r>
              <a:rPr dirty="0" err="1"/>
              <a:t>공유가</a:t>
            </a:r>
            <a:r>
              <a:rPr dirty="0"/>
              <a:t> </a:t>
            </a:r>
            <a:r>
              <a:rPr dirty="0" err="1"/>
              <a:t>시작된다</a:t>
            </a:r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731520" y="2724911"/>
            <a:ext cx="6309360" cy="10972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958071"/>
            <a:ext cx="2240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00" b="1">
                <a:solidFill>
                  <a:srgbClr val="10203C"/>
                </a:solidFill>
              </a:defRPr>
            </a:pPr>
            <a:r>
              <a:t>이동수단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956308"/>
            <a:ext cx="3977639" cy="1881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9FADC4"/>
                </a:solidFill>
              </a:defRPr>
            </a:pPr>
            <a:r>
              <a:t>구분 없음 — 실시간 속도만 표시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2990968"/>
            <a:ext cx="118872" cy="118872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1504" y="2952012"/>
            <a:ext cx="3959352" cy="1967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150" b="1">
                <a:solidFill>
                  <a:srgbClr val="1348C0"/>
                </a:solidFill>
              </a:defRPr>
            </a:pPr>
            <a:r>
              <a:t>자가용·대중교통·도보를 선택한다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401568"/>
            <a:ext cx="6309360" cy="10972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634728"/>
            <a:ext cx="2240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00" b="1">
                <a:solidFill>
                  <a:srgbClr val="10203C"/>
                </a:solidFill>
              </a:defRPr>
            </a:pPr>
            <a:r>
              <a:t>동승 인원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3632965"/>
            <a:ext cx="3977639" cy="1881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9FADC4"/>
                </a:solidFill>
              </a:defRPr>
            </a:pPr>
            <a:r>
              <a:t>각자 켜야 몇 명이 오는지 알 수 있다</a:t>
            </a:r>
          </a:p>
        </p:txBody>
      </p:sp>
      <p:sp>
        <p:nvSpPr>
          <p:cNvPr id="23" name="Oval 22"/>
          <p:cNvSpPr/>
          <p:nvPr/>
        </p:nvSpPr>
        <p:spPr>
          <a:xfrm>
            <a:off x="7223760" y="3667625"/>
            <a:ext cx="118872" cy="118872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61504" y="3628669"/>
            <a:ext cx="3959352" cy="1967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150" b="1">
                <a:solidFill>
                  <a:srgbClr val="1348C0"/>
                </a:solidFill>
              </a:defRPr>
            </a:pPr>
            <a:r>
              <a:t>대표 1명이 동승자를 함께 등록한다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078224"/>
            <a:ext cx="6309360" cy="10972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4311384"/>
            <a:ext cx="2240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00" b="1">
                <a:solidFill>
                  <a:srgbClr val="10203C"/>
                </a:solidFill>
              </a:defRPr>
            </a:pPr>
            <a:r>
              <a:t>경유지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4309621"/>
            <a:ext cx="3977639" cy="1881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9FADC4"/>
                </a:solidFill>
              </a:defRPr>
            </a:pPr>
            <a:r>
              <a:t>만날 장소 1곳만 설정</a:t>
            </a:r>
          </a:p>
        </p:txBody>
      </p:sp>
      <p:sp>
        <p:nvSpPr>
          <p:cNvPr id="28" name="Oval 27"/>
          <p:cNvSpPr/>
          <p:nvPr/>
        </p:nvSpPr>
        <p:spPr>
          <a:xfrm>
            <a:off x="7223760" y="4344281"/>
            <a:ext cx="118872" cy="118872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61504" y="4305325"/>
            <a:ext cx="3959352" cy="1967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150" b="1">
                <a:solidFill>
                  <a:srgbClr val="1348C0"/>
                </a:solidFill>
              </a:defRPr>
            </a:pPr>
            <a:r>
              <a:t>다중 경유지 + 참여자별 경유 상태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4754880"/>
            <a:ext cx="6309360" cy="10972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4988040"/>
            <a:ext cx="22402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200" b="1">
                <a:solidFill>
                  <a:srgbClr val="10203C"/>
                </a:solidFill>
              </a:defRPr>
            </a:pPr>
            <a:r>
              <a:t>내비 병행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63240" y="4986277"/>
            <a:ext cx="3977639" cy="18819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100" b="0">
                <a:solidFill>
                  <a:srgbClr val="9FADC4"/>
                </a:solidFill>
              </a:defRPr>
            </a:pPr>
            <a:r>
              <a:t>같은 앱이라 길안내가 끊긴다</a:t>
            </a:r>
          </a:p>
        </p:txBody>
      </p:sp>
      <p:sp>
        <p:nvSpPr>
          <p:cNvPr id="33" name="Oval 32"/>
          <p:cNvSpPr/>
          <p:nvPr/>
        </p:nvSpPr>
        <p:spPr>
          <a:xfrm>
            <a:off x="7223760" y="5020937"/>
            <a:ext cx="118872" cy="118872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61504" y="4981981"/>
            <a:ext cx="3959352" cy="1967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150" b="1">
                <a:solidFill>
                  <a:srgbClr val="1348C0"/>
                </a:solidFill>
              </a:defRPr>
            </a:pPr>
            <a:r>
              <a:t>내비를 유지한 채 확인할 수 있다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755980"/>
            <a:ext cx="10728655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250" b="1">
                <a:solidFill>
                  <a:srgbClr val="10203C"/>
                </a:solidFill>
              </a:defRPr>
            </a:pPr>
            <a:r>
              <a:t>카카오는 “친구가 지금 어디 있는지”를 다룬다. 어디쯤은 “우리가 어떻게 모이는지”를 다룬다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E8FE"/>
              </a:gs>
              <a:gs pos="52000">
                <a:srgbClr val="FFFFFF"/>
              </a:gs>
              <a:gs pos="100000">
                <a:srgbClr val="FFFFFF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05 · 차별점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운전자는 둘 중 하나를 포기해야 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16708"/>
            <a:ext cx="10728655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00" b="0">
                <a:solidFill>
                  <a:srgbClr val="5A6B87"/>
                </a:solidFill>
              </a:defRPr>
            </a:pPr>
            <a:r>
              <a:t>카카오맵과 카카오내비가 한 앱이기 때문에 생기는 구조적 문제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45059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600200" y="1993392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764792" y="2190902"/>
            <a:ext cx="329184" cy="26334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86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30628" y="2190902"/>
            <a:ext cx="20116" cy="263347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764792" y="2322576"/>
            <a:ext cx="329184" cy="20116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99757" y="2276490"/>
            <a:ext cx="59253" cy="59253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Isosceles Triangle 11"/>
          <p:cNvSpPr/>
          <p:nvPr/>
        </p:nvSpPr>
        <p:spPr>
          <a:xfrm rot="10800000">
            <a:off x="1909632" y="2329159"/>
            <a:ext cx="39502" cy="46085"/>
          </a:xfrm>
          <a:prstGeom prst="triangl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836646"/>
            <a:ext cx="245059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400" b="1">
                <a:solidFill>
                  <a:srgbClr val="10203C"/>
                </a:solidFill>
              </a:defRPr>
            </a:pPr>
            <a:r>
              <a:t>내비 실행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62970"/>
            <a:ext cx="2084831" cy="1857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defRPr sz="1050" b="0">
                <a:solidFill>
                  <a:srgbClr val="5A6B87"/>
                </a:solidFill>
              </a:defRPr>
            </a:pPr>
            <a:r>
              <a:t>목적지를 설정하고 출발</a:t>
            </a:r>
          </a:p>
        </p:txBody>
      </p:sp>
      <p:sp>
        <p:nvSpPr>
          <p:cNvPr id="15" name="Chevron 14"/>
          <p:cNvSpPr/>
          <p:nvPr/>
        </p:nvSpPr>
        <p:spPr>
          <a:xfrm>
            <a:off x="3204972" y="2615184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483863" y="1783080"/>
            <a:ext cx="245059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352544" y="1993392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4530303" y="2184318"/>
            <a:ext cx="98755" cy="98755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/>
          <p:cNvSpPr/>
          <p:nvPr/>
        </p:nvSpPr>
        <p:spPr>
          <a:xfrm>
            <a:off x="4734397" y="2184318"/>
            <a:ext cx="98755" cy="98755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4625766" y="2157984"/>
            <a:ext cx="111922" cy="111922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579680" y="2302824"/>
            <a:ext cx="204094" cy="131673"/>
          </a:xfrm>
          <a:prstGeom prst="roundRect">
            <a:avLst>
              <a:gd name="adj" fmla="val 45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83863" y="2836646"/>
            <a:ext cx="245059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400" b="1">
                <a:solidFill>
                  <a:srgbClr val="10203C"/>
                </a:solidFill>
              </a:defRPr>
            </a:pPr>
            <a:r>
              <a:t>친구 위치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66744" y="3262970"/>
            <a:ext cx="2084831" cy="1857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defRPr sz="1050" b="0">
                <a:solidFill>
                  <a:srgbClr val="5A6B87"/>
                </a:solidFill>
              </a:defRPr>
            </a:pPr>
            <a:r>
              <a:t>누가 어디쯤인지 보려고 이동</a:t>
            </a:r>
          </a:p>
        </p:txBody>
      </p:sp>
      <p:sp>
        <p:nvSpPr>
          <p:cNvPr id="24" name="Chevron 23"/>
          <p:cNvSpPr/>
          <p:nvPr/>
        </p:nvSpPr>
        <p:spPr>
          <a:xfrm>
            <a:off x="5957316" y="2615184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236207" y="1783080"/>
            <a:ext cx="245059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104888" y="1993392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Oval 26"/>
          <p:cNvSpPr/>
          <p:nvPr/>
        </p:nvSpPr>
        <p:spPr>
          <a:xfrm>
            <a:off x="7269479" y="2157984"/>
            <a:ext cx="329184" cy="329184"/>
          </a:xfrm>
          <a:prstGeom prst="ellipse">
            <a:avLst/>
          </a:prstGeom>
          <a:solidFill>
            <a:srgbClr val="9FA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92393" y="2261629"/>
            <a:ext cx="83356" cy="12189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792" b="1">
                <a:solidFill>
                  <a:srgbClr val="FFFFFF"/>
                </a:solidFill>
              </a:defRPr>
            </a:pPr>
            <a:r>
              <a:t>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6207" y="2836646"/>
            <a:ext cx="245059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400" b="1">
                <a:solidFill>
                  <a:srgbClr val="9FADC4"/>
                </a:solidFill>
              </a:defRPr>
            </a:pPr>
            <a:r>
              <a:t>길안내 중단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3262970"/>
            <a:ext cx="2084831" cy="1857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defRPr sz="1050" b="0">
                <a:solidFill>
                  <a:srgbClr val="5A6B87"/>
                </a:solidFill>
              </a:defRPr>
            </a:pPr>
            <a:r>
              <a:t>안내가 끊기고 경로가 사라진다</a:t>
            </a:r>
          </a:p>
        </p:txBody>
      </p:sp>
      <p:sp>
        <p:nvSpPr>
          <p:cNvPr id="31" name="Chevron 30"/>
          <p:cNvSpPr/>
          <p:nvPr/>
        </p:nvSpPr>
        <p:spPr>
          <a:xfrm>
            <a:off x="8709659" y="2615184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988552" y="1783080"/>
            <a:ext cx="2450592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9857232" y="1993392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021824" y="2157984"/>
            <a:ext cx="329184" cy="329184"/>
          </a:xfrm>
          <a:prstGeom prst="ellipse">
            <a:avLst/>
          </a:prstGeom>
          <a:noFill/>
          <a:ln w="27940">
            <a:solidFill>
              <a:srgbClr val="9FAD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173614" y="2223820"/>
            <a:ext cx="25603" cy="105338"/>
          </a:xfrm>
          <a:prstGeom prst="rect">
            <a:avLst/>
          </a:prstGeom>
          <a:solidFill>
            <a:srgbClr val="9FA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186415" y="2309774"/>
            <a:ext cx="88879" cy="25603"/>
          </a:xfrm>
          <a:prstGeom prst="rect">
            <a:avLst/>
          </a:prstGeom>
          <a:solidFill>
            <a:srgbClr val="9FA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988552" y="2836646"/>
            <a:ext cx="245059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400" b="1">
                <a:solidFill>
                  <a:srgbClr val="9FADC4"/>
                </a:solidFill>
              </a:defRPr>
            </a:pPr>
            <a:r>
              <a:t>목적지 재설정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71432" y="3262970"/>
            <a:ext cx="2084831" cy="1857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defRPr sz="1050" b="0">
                <a:solidFill>
                  <a:srgbClr val="5A6B87"/>
                </a:solidFill>
              </a:defRPr>
            </a:pPr>
            <a:r>
              <a:t>운전 중에 다시 입력해야 한다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3968496"/>
            <a:ext cx="5212080" cy="749808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1520" y="4251067"/>
            <a:ext cx="52120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200" b="1">
                <a:solidFill>
                  <a:srgbClr val="9FADC4"/>
                </a:solidFill>
              </a:defRPr>
            </a:pPr>
            <a:r>
              <a:t>우회하려면 티맵·네이버지도로 내비를 갈아타야 한다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45352" y="3968496"/>
            <a:ext cx="5212080" cy="749808"/>
          </a:xfrm>
          <a:prstGeom prst="roundRect">
            <a:avLst>
              <a:gd name="adj" fmla="val 4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45352" y="4251067"/>
            <a:ext cx="52120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200" b="1">
                <a:solidFill>
                  <a:srgbClr val="1348C0"/>
                </a:solidFill>
              </a:defRPr>
            </a:pPr>
            <a:r>
              <a:t>어디쯤은 내비와 별개 채널 — 안내를 끄지 않는다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4974336"/>
            <a:ext cx="10728655" cy="868680"/>
          </a:xfrm>
          <a:prstGeom prst="roundRect">
            <a:avLst>
              <a:gd name="adj" fmla="val 9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31520" y="5289412"/>
            <a:ext cx="10728655" cy="2385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550" b="1">
                <a:solidFill>
                  <a:srgbClr val="FFFFFF"/>
                </a:solidFill>
              </a:defRPr>
            </a:pPr>
            <a:r>
              <a:t>자가용으로 모이는 사용자층에게는 이 한 가지만으로도 갈아탈 이유가 된다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012960"/>
            <a:ext cx="10728655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00" b="0">
                <a:solidFill>
                  <a:srgbClr val="9FADC4"/>
                </a:solidFill>
              </a:defRPr>
            </a:pPr>
            <a:r>
              <a:rPr dirty="0"/>
              <a:t>PASS </a:t>
            </a:r>
            <a:r>
              <a:rPr dirty="0" err="1"/>
              <a:t>채널</a:t>
            </a:r>
            <a:r>
              <a:rPr dirty="0"/>
              <a:t> </a:t>
            </a:r>
            <a:r>
              <a:rPr dirty="0" err="1"/>
              <a:t>이용자층의</a:t>
            </a:r>
            <a:r>
              <a:rPr dirty="0"/>
              <a:t> </a:t>
            </a:r>
            <a:r>
              <a:rPr dirty="0" err="1"/>
              <a:t>자가용</a:t>
            </a:r>
            <a:r>
              <a:rPr dirty="0"/>
              <a:t> </a:t>
            </a:r>
            <a:r>
              <a:rPr dirty="0" err="1"/>
              <a:t>이동</a:t>
            </a:r>
            <a:r>
              <a:rPr dirty="0"/>
              <a:t> </a:t>
            </a:r>
            <a:r>
              <a:rPr dirty="0" err="1"/>
              <a:t>비중은</a:t>
            </a:r>
            <a:r>
              <a:rPr dirty="0"/>
              <a:t> </a:t>
            </a: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인증</a:t>
            </a:r>
            <a:r>
              <a:rPr dirty="0"/>
              <a:t> </a:t>
            </a:r>
            <a:r>
              <a:rPr dirty="0" err="1"/>
              <a:t>데이터로</a:t>
            </a:r>
            <a:r>
              <a:rPr dirty="0"/>
              <a:t> </a:t>
            </a:r>
            <a:r>
              <a:rPr dirty="0" err="1"/>
              <a:t>확인</a:t>
            </a:r>
            <a:r>
              <a:rPr dirty="0"/>
              <a:t> </a:t>
            </a:r>
            <a:r>
              <a:rPr dirty="0" err="1"/>
              <a:t>가능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E8FE"/>
              </a:gs>
              <a:gs pos="34000">
                <a:srgbClr val="FFFFFF"/>
              </a:gs>
              <a:gs pos="70000">
                <a:srgbClr val="FFFFFF"/>
              </a:gs>
              <a:gs pos="100000">
                <a:srgbClr val="DBE8FE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05 · 차별점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모임의 이동은 '한 명씩'이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16708"/>
            <a:ext cx="10728655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00" b="0">
                <a:solidFill>
                  <a:srgbClr val="5A6B87"/>
                </a:solidFill>
              </a:defRPr>
            </a:pPr>
            <a:r>
              <a:t>함께 타고 가고, 들렀다 간다 — 카카오에는 이 단위가 없다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42416" y="2029968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같이 출발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" y="2611893"/>
            <a:ext cx="457200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50" b="1">
                <a:solidFill>
                  <a:srgbClr val="10203C"/>
                </a:solidFill>
              </a:defRPr>
            </a:pPr>
            <a:r>
              <a:t>대표 1명이 동승자를 함께 등록한다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94460" y="3211372"/>
            <a:ext cx="777240" cy="326440"/>
          </a:xfrm>
          <a:prstGeom prst="roundRect">
            <a:avLst>
              <a:gd name="adj" fmla="val 30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518818" y="3055924"/>
            <a:ext cx="528523" cy="233172"/>
          </a:xfrm>
          <a:prstGeom prst="roundRect">
            <a:avLst>
              <a:gd name="adj" fmla="val 30000"/>
            </a:avLst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1503273" y="3491179"/>
            <a:ext cx="170992" cy="170992"/>
          </a:xfrm>
          <a:prstGeom prst="ellipse">
            <a:avLst/>
          </a:prstGeom>
          <a:solidFill>
            <a:srgbClr val="10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1891893" y="3491179"/>
            <a:ext cx="170992" cy="170992"/>
          </a:xfrm>
          <a:prstGeom prst="ellipse">
            <a:avLst/>
          </a:prstGeom>
          <a:solidFill>
            <a:srgbClr val="10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Oval 12"/>
          <p:cNvSpPr/>
          <p:nvPr/>
        </p:nvSpPr>
        <p:spPr>
          <a:xfrm>
            <a:off x="2212848" y="3035808"/>
            <a:ext cx="310896" cy="310896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3886255"/>
            <a:ext cx="155448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950" b="1">
                <a:solidFill>
                  <a:srgbClr val="1348C0"/>
                </a:solidFill>
              </a:defRPr>
            </a:pPr>
            <a:r>
              <a:t>대표</a:t>
            </a:r>
          </a:p>
        </p:txBody>
      </p:sp>
      <p:sp>
        <p:nvSpPr>
          <p:cNvPr id="15" name="Chevron 14"/>
          <p:cNvSpPr/>
          <p:nvPr/>
        </p:nvSpPr>
        <p:spPr>
          <a:xfrm>
            <a:off x="2670048" y="3310128"/>
            <a:ext cx="237744" cy="237744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3291840" y="3218688"/>
            <a:ext cx="182880" cy="182880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227832" y="3429000"/>
            <a:ext cx="310896" cy="192024"/>
          </a:xfrm>
          <a:prstGeom prst="roundRect">
            <a:avLst>
              <a:gd name="adj" fmla="val 45000"/>
            </a:avLst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3895344" y="3218688"/>
            <a:ext cx="182880" cy="182880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3831336" y="3429000"/>
            <a:ext cx="310896" cy="192024"/>
          </a:xfrm>
          <a:prstGeom prst="roundRect">
            <a:avLst>
              <a:gd name="adj" fmla="val 45000"/>
            </a:avLst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/>
          <p:cNvSpPr/>
          <p:nvPr/>
        </p:nvSpPr>
        <p:spPr>
          <a:xfrm>
            <a:off x="4498848" y="3218688"/>
            <a:ext cx="182880" cy="182880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434840" y="3429000"/>
            <a:ext cx="310896" cy="192024"/>
          </a:xfrm>
          <a:prstGeom prst="roundRect">
            <a:avLst>
              <a:gd name="adj" fmla="val 45000"/>
            </a:avLst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27248" y="3886255"/>
            <a:ext cx="192024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950" b="0">
                <a:solidFill>
                  <a:srgbClr val="5A6B87"/>
                </a:solidFill>
              </a:defRPr>
            </a:pPr>
            <a:r>
              <a:t>동승자 (공유 불필요)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42416" y="4114800"/>
            <a:ext cx="4572000" cy="402336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100" b="1">
                <a:solidFill>
                  <a:srgbClr val="1348C0"/>
                </a:solidFill>
              </a:defRPr>
            </a:pPr>
            <a:r>
              <a:t>기다리는 사람은 “4명이 한 차로 오는 중”을 본다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" y="4679385"/>
            <a:ext cx="45720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5A6B87"/>
                </a:solidFill>
              </a:defRPr>
            </a:pPr>
            <a:r>
              <a:rPr dirty="0" err="1"/>
              <a:t>전원이</a:t>
            </a:r>
            <a:r>
              <a:rPr dirty="0"/>
              <a:t> </a:t>
            </a:r>
            <a:r>
              <a:rPr dirty="0" err="1"/>
              <a:t>위치를</a:t>
            </a:r>
            <a:r>
              <a:rPr dirty="0"/>
              <a:t> </a:t>
            </a:r>
            <a:r>
              <a:rPr dirty="0" err="1"/>
              <a:t>켜지</a:t>
            </a:r>
            <a:r>
              <a:rPr dirty="0"/>
              <a:t> </a:t>
            </a:r>
            <a:r>
              <a:rPr dirty="0" err="1"/>
              <a:t>않아도</a:t>
            </a:r>
            <a:r>
              <a:rPr dirty="0"/>
              <a:t> </a:t>
            </a:r>
            <a:r>
              <a:rPr dirty="0" err="1"/>
              <a:t>되고</a:t>
            </a:r>
            <a:r>
              <a:rPr dirty="0"/>
              <a:t>, </a:t>
            </a:r>
            <a:r>
              <a:rPr dirty="0" err="1"/>
              <a:t>인원</a:t>
            </a:r>
            <a:r>
              <a:rPr dirty="0"/>
              <a:t> </a:t>
            </a:r>
            <a:r>
              <a:rPr dirty="0" err="1"/>
              <a:t>파악은</a:t>
            </a:r>
            <a:r>
              <a:rPr dirty="0"/>
              <a:t> </a:t>
            </a:r>
            <a:r>
              <a:rPr dirty="0" err="1"/>
              <a:t>더</a:t>
            </a:r>
            <a:r>
              <a:rPr dirty="0"/>
              <a:t> </a:t>
            </a:r>
            <a:r>
              <a:rPr dirty="0" err="1"/>
              <a:t>정확해진다</a:t>
            </a:r>
            <a:endParaRPr dirty="0"/>
          </a:p>
        </p:txBody>
      </p:sp>
      <p:sp>
        <p:nvSpPr>
          <p:cNvPr id="25" name="Rounded Rectangle 24"/>
          <p:cNvSpPr/>
          <p:nvPr/>
        </p:nvSpPr>
        <p:spPr>
          <a:xfrm>
            <a:off x="6245352" y="1783080"/>
            <a:ext cx="521208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556248" y="2029968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경유지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6248" y="2611893"/>
            <a:ext cx="4572000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50" b="1">
                <a:solidFill>
                  <a:srgbClr val="10203C"/>
                </a:solidFill>
              </a:defRPr>
            </a:pPr>
            <a:r>
              <a:t>최종 목적지 + 여러 경유지를 함께 공유한다</a:t>
            </a:r>
          </a:p>
        </p:txBody>
      </p:sp>
      <p:sp>
        <p:nvSpPr>
          <p:cNvPr id="28" name="Oval 27"/>
          <p:cNvSpPr/>
          <p:nvPr/>
        </p:nvSpPr>
        <p:spPr>
          <a:xfrm>
            <a:off x="6720840" y="3200400"/>
            <a:ext cx="420624" cy="420624"/>
          </a:xfrm>
          <a:prstGeom prst="ellipse">
            <a:avLst/>
          </a:prstGeom>
          <a:solidFill>
            <a:srgbClr val="DBE8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28231" y="3759687"/>
            <a:ext cx="100584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50" b="1">
                <a:solidFill>
                  <a:srgbClr val="5A6B87"/>
                </a:solidFill>
              </a:defRPr>
            </a:pPr>
            <a:r>
              <a:t>출발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96327" y="3401568"/>
            <a:ext cx="658368" cy="18288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7891271" y="3200400"/>
            <a:ext cx="420624" cy="420624"/>
          </a:xfrm>
          <a:prstGeom prst="ellipse">
            <a:avLst/>
          </a:prstGeom>
          <a:solidFill>
            <a:srgbClr val="DBE8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98663" y="3759687"/>
            <a:ext cx="100584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50" b="1">
                <a:solidFill>
                  <a:srgbClr val="5A6B87"/>
                </a:solidFill>
              </a:defRPr>
            </a:pPr>
            <a:r>
              <a:t>경유 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66759" y="3401568"/>
            <a:ext cx="658368" cy="18288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Oval 33"/>
          <p:cNvSpPr/>
          <p:nvPr/>
        </p:nvSpPr>
        <p:spPr>
          <a:xfrm>
            <a:off x="9061704" y="3200400"/>
            <a:ext cx="420624" cy="420624"/>
          </a:xfrm>
          <a:prstGeom prst="ellipse">
            <a:avLst/>
          </a:prstGeom>
          <a:solidFill>
            <a:srgbClr val="DBE8FE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69096" y="3759687"/>
            <a:ext cx="100584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50" b="1">
                <a:solidFill>
                  <a:srgbClr val="5A6B87"/>
                </a:solidFill>
              </a:defRPr>
            </a:pPr>
            <a:r>
              <a:t>경유 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37192" y="3401568"/>
            <a:ext cx="658368" cy="18288"/>
          </a:xfrm>
          <a:prstGeom prst="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232136" y="3200400"/>
            <a:ext cx="420624" cy="420624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84740" y="3318379"/>
            <a:ext cx="115416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39528" y="3759687"/>
            <a:ext cx="100584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050" b="1">
                <a:solidFill>
                  <a:srgbClr val="1348C0"/>
                </a:solidFill>
              </a:defRPr>
            </a:pPr>
            <a:r>
              <a:t>목적지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56248" y="4114800"/>
            <a:ext cx="4572000" cy="402336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100" b="1">
                <a:solidFill>
                  <a:srgbClr val="1348C0"/>
                </a:solidFill>
              </a:defRPr>
            </a:pPr>
            <a:r>
              <a:t>누가 어느 경유지를 들렀는지 표시된다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6248" y="4679385"/>
            <a:ext cx="45720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00" b="0">
                <a:solidFill>
                  <a:srgbClr val="5A6B87"/>
                </a:solidFill>
              </a:defRPr>
            </a:pPr>
            <a:r>
              <a:rPr dirty="0" err="1"/>
              <a:t>케이크</a:t>
            </a:r>
            <a:r>
              <a:rPr dirty="0"/>
              <a:t> </a:t>
            </a:r>
            <a:r>
              <a:rPr dirty="0" err="1"/>
              <a:t>픽업</a:t>
            </a:r>
            <a:r>
              <a:rPr dirty="0"/>
              <a:t>, </a:t>
            </a:r>
            <a:r>
              <a:rPr dirty="0" err="1"/>
              <a:t>친구</a:t>
            </a:r>
            <a:r>
              <a:rPr dirty="0"/>
              <a:t> </a:t>
            </a:r>
            <a:r>
              <a:rPr dirty="0" err="1"/>
              <a:t>태우기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동선을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 </a:t>
            </a:r>
            <a:r>
              <a:rPr dirty="0" err="1"/>
              <a:t>담는다</a:t>
            </a:r>
            <a:endParaRPr dirty="0"/>
          </a:p>
        </p:txBody>
      </p:sp>
      <p:sp>
        <p:nvSpPr>
          <p:cNvPr id="42" name="TextBox 41"/>
          <p:cNvSpPr txBox="1"/>
          <p:nvPr/>
        </p:nvSpPr>
        <p:spPr>
          <a:xfrm>
            <a:off x="731520" y="5353644"/>
            <a:ext cx="10728655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250" b="1">
                <a:solidFill>
                  <a:srgbClr val="1348C0"/>
                </a:solidFill>
              </a:defRPr>
            </a:pPr>
            <a:r>
              <a:t>카카오는 만날 장소 1곳 · 개인 단위 공유 — 함께 이동하는 단위를 표현할 수 없다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040880" y="0"/>
            <a:ext cx="5150815" cy="6858000"/>
          </a:xfrm>
          <a:prstGeom prst="roundRect">
            <a:avLst>
              <a:gd name="adj" fmla="val 3000"/>
            </a:avLst>
          </a:prstGeom>
          <a:gradFill rotWithShape="1">
            <a:gsLst>
              <a:gs pos="0">
                <a:srgbClr val="DBE8FE"/>
              </a:gs>
              <a:gs pos="100000">
                <a:srgbClr val="FFFFFF"/>
              </a:gs>
            </a:gsLst>
            <a:lin ang="135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05 · 전략적 적합성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왜 우리 회사가 하기에 맞는가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16708"/>
            <a:ext cx="10728655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00" b="0">
                <a:solidFill>
                  <a:srgbClr val="5A6B87"/>
                </a:solidFill>
              </a:defRPr>
            </a:pPr>
            <a:r>
              <a:t>이 자리를 잡으려면 본인확인·배포 채널·규제 대응이 동시에 필요하다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38528"/>
            <a:ext cx="33832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51560" y="2157984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Block Arc 8"/>
          <p:cNvSpPr/>
          <p:nvPr/>
        </p:nvSpPr>
        <p:spPr>
          <a:xfrm>
            <a:off x="1305214" y="2331720"/>
            <a:ext cx="187634" cy="194584"/>
          </a:xfrm>
          <a:prstGeom prst="blockArc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273942" y="2477658"/>
            <a:ext cx="250179" cy="194584"/>
          </a:xfrm>
          <a:prstGeom prst="roundRect">
            <a:avLst>
              <a:gd name="adj" fmla="val 16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1374708" y="2547152"/>
            <a:ext cx="48646" cy="4864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037814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400" b="1">
                <a:solidFill>
                  <a:srgbClr val="10203C"/>
                </a:solidFill>
              </a:defRPr>
            </a:pPr>
            <a:r>
              <a:t>PASS 본인확인 인프라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403144"/>
            <a:ext cx="2788920" cy="43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defRPr sz="1100" b="0">
                <a:solidFill>
                  <a:srgbClr val="5A6B87"/>
                </a:solidFill>
              </a:defRPr>
            </a:pPr>
            <a:r>
              <a:rPr dirty="0" err="1"/>
              <a:t>카카오가</a:t>
            </a:r>
            <a:r>
              <a:rPr dirty="0"/>
              <a:t> </a:t>
            </a:r>
            <a:r>
              <a:rPr dirty="0" err="1"/>
              <a:t>제공하지</a:t>
            </a:r>
            <a:r>
              <a:rPr dirty="0"/>
              <a:t> </a:t>
            </a:r>
            <a:r>
              <a:rPr dirty="0" err="1"/>
              <a:t>않는</a:t>
            </a:r>
            <a:r>
              <a:rPr dirty="0"/>
              <a:t> </a:t>
            </a:r>
            <a:r>
              <a:rPr dirty="0" err="1"/>
              <a:t>차별점을</a:t>
            </a:r>
            <a:endParaRPr dirty="0"/>
          </a:p>
          <a:p>
            <a:pPr algn="l">
              <a:lnSpc>
                <a:spcPct val="135000"/>
              </a:lnSpc>
              <a:defRPr sz="1100" b="0">
                <a:solidFill>
                  <a:srgbClr val="5A6B87"/>
                </a:solidFill>
              </a:defRPr>
            </a:pPr>
            <a:r>
              <a:rPr dirty="0" err="1"/>
              <a:t>내부</a:t>
            </a:r>
            <a:r>
              <a:rPr dirty="0"/>
              <a:t> </a:t>
            </a:r>
            <a:r>
              <a:rPr dirty="0" err="1"/>
              <a:t>역량으로</a:t>
            </a:r>
            <a:r>
              <a:rPr dirty="0"/>
              <a:t> </a:t>
            </a:r>
            <a:r>
              <a:rPr dirty="0" err="1"/>
              <a:t>결합할</a:t>
            </a:r>
            <a:r>
              <a:rPr dirty="0"/>
              <a:t> </a:t>
            </a:r>
            <a:r>
              <a:rPr dirty="0" err="1"/>
              <a:t>수</a:t>
            </a:r>
            <a:r>
              <a:rPr dirty="0"/>
              <a:t> </a:t>
            </a:r>
            <a:r>
              <a:rPr dirty="0" err="1"/>
              <a:t>있다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4407407" y="1938528"/>
            <a:ext cx="33832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727447" y="2157984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4915082" y="2359517"/>
            <a:ext cx="104241" cy="104241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5130515" y="2359517"/>
            <a:ext cx="104241" cy="104241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15849" y="2331720"/>
            <a:ext cx="118140" cy="118140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967203" y="2484607"/>
            <a:ext cx="215432" cy="138988"/>
          </a:xfrm>
          <a:prstGeom prst="roundRect">
            <a:avLst>
              <a:gd name="adj" fmla="val 45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27447" y="3037814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400" b="1">
                <a:solidFill>
                  <a:srgbClr val="10203C"/>
                </a:solidFill>
              </a:defRPr>
            </a:pPr>
            <a:r>
              <a:t>U+ PASS 채널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7" y="3403144"/>
            <a:ext cx="2788920" cy="43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defRPr sz="1100" b="0">
                <a:solidFill>
                  <a:srgbClr val="5A6B87"/>
                </a:solidFill>
              </a:defRPr>
            </a:pPr>
            <a:r>
              <a:t>PASS 3사 합산 약 2,600만 이용자.</a:t>
            </a:r>
          </a:p>
          <a:p>
            <a:pPr algn="l">
              <a:lnSpc>
                <a:spcPct val="135000"/>
              </a:lnSpc>
              <a:defRPr sz="1100" b="0">
                <a:solidFill>
                  <a:srgbClr val="5A6B87"/>
                </a:solidFill>
              </a:defRPr>
            </a:pPr>
            <a:r>
              <a:t>3사 협의 없이 U+ 단독으로 시작 가능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83296" y="1938528"/>
            <a:ext cx="33832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03336" y="2157984"/>
            <a:ext cx="694944" cy="694944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Pentagon 23"/>
          <p:cNvSpPr/>
          <p:nvPr/>
        </p:nvSpPr>
        <p:spPr>
          <a:xfrm rot="5400000">
            <a:off x="8597920" y="2331720"/>
            <a:ext cx="305775" cy="347472"/>
          </a:xfrm>
          <a:prstGeom prst="homePlat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03519" y="2422491"/>
            <a:ext cx="94577" cy="15202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988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3336" y="3037814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400" b="1">
                <a:solidFill>
                  <a:srgbClr val="10203C"/>
                </a:solidFill>
              </a:defRPr>
            </a:pPr>
            <a:r>
              <a:t>위치정보·보안 심사 대응력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3403144"/>
            <a:ext cx="2788920" cy="43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defRPr sz="1100" b="0">
                <a:solidFill>
                  <a:srgbClr val="5A6B87"/>
                </a:solidFill>
              </a:defRPr>
            </a:pPr>
            <a:r>
              <a:t>신규 진입자에게 가장 높은 벽을</a:t>
            </a:r>
          </a:p>
          <a:p>
            <a:pPr algn="l">
              <a:lnSpc>
                <a:spcPct val="135000"/>
              </a:lnSpc>
              <a:defRPr sz="1100" b="0">
                <a:solidFill>
                  <a:srgbClr val="5A6B87"/>
                </a:solidFill>
              </a:defRPr>
            </a:pPr>
            <a:r>
              <a:t>이미 넘을 수 있는 조직이다</a:t>
            </a:r>
          </a:p>
        </p:txBody>
      </p:sp>
      <p:sp>
        <p:nvSpPr>
          <p:cNvPr id="28" name="Chevron 27"/>
          <p:cNvSpPr/>
          <p:nvPr/>
        </p:nvSpPr>
        <p:spPr>
          <a:xfrm rot="5400000">
            <a:off x="2295144" y="4133088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Chevron 28"/>
          <p:cNvSpPr/>
          <p:nvPr/>
        </p:nvSpPr>
        <p:spPr>
          <a:xfrm rot="5400000">
            <a:off x="5971032" y="4133088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Chevron 29"/>
          <p:cNvSpPr/>
          <p:nvPr/>
        </p:nvSpPr>
        <p:spPr>
          <a:xfrm rot="5400000">
            <a:off x="9646919" y="4133088"/>
            <a:ext cx="256032" cy="256032"/>
          </a:xfrm>
          <a:prstGeom prst="chevron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31520" y="4681728"/>
            <a:ext cx="10728655" cy="1115568"/>
          </a:xfrm>
          <a:prstGeom prst="roundRect">
            <a:avLst>
              <a:gd name="adj" fmla="val 9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4980691"/>
            <a:ext cx="10728655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세 자산이 동시에 필요하다 — 그래서 아무나 할 수 없다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416202"/>
            <a:ext cx="10728655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50" b="0">
                <a:solidFill>
                  <a:srgbClr val="DBE8FE"/>
                </a:solidFill>
              </a:defRPr>
            </a:pPr>
            <a:r>
              <a:t>본인확인 · 통신사 채널 · 규제 대응이 이 아이디어의 방어선이 된다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E8FE"/>
              </a:gs>
              <a:gs pos="34000">
                <a:srgbClr val="FFFFFF"/>
              </a:gs>
              <a:gs pos="70000">
                <a:srgbClr val="FFFFFF"/>
              </a:gs>
              <a:gs pos="100000">
                <a:srgbClr val="DBE8FE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06 · 채널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3채널의 역할 분담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16708"/>
            <a:ext cx="10728655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1300" b="0">
                <a:solidFill>
                  <a:srgbClr val="5A6B87"/>
                </a:solidFill>
              </a:defRPr>
            </a:pPr>
            <a:r>
              <a:t>같은 기능을 세 채널에 복제하지 않고, 채널마다 임무를 나눈다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01952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039112" y="2139696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231136" y="2377805"/>
            <a:ext cx="384048" cy="2918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794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31136" y="2377805"/>
            <a:ext cx="384048" cy="69128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2261859" y="2397008"/>
            <a:ext cx="24963" cy="2496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2304105" y="2397008"/>
            <a:ext cx="24963" cy="2496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2346350" y="2397008"/>
            <a:ext cx="24963" cy="2496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086433"/>
            <a:ext cx="338328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600" b="1">
                <a:solidFill>
                  <a:srgbClr val="10203C"/>
                </a:solidFill>
              </a:defRPr>
            </a:pPr>
            <a:r>
              <a:t>모바일 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3438144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1348C0"/>
                </a:solidFill>
              </a:defRPr>
            </a:pPr>
            <a:r>
              <a:t>초대받은 사람의 진입로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854" y="4016522"/>
            <a:ext cx="2492918" cy="4160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defRPr sz="1050" b="0">
                <a:solidFill>
                  <a:srgbClr val="5A6B87"/>
                </a:solidFill>
              </a:defRPr>
            </a:pPr>
            <a:r>
              <a:rPr dirty="0" err="1"/>
              <a:t>참석자는</a:t>
            </a:r>
            <a:r>
              <a:rPr dirty="0"/>
              <a:t> </a:t>
            </a:r>
            <a:r>
              <a:rPr dirty="0" err="1"/>
              <a:t>통신사가</a:t>
            </a:r>
            <a:r>
              <a:rPr dirty="0"/>
              <a:t> </a:t>
            </a:r>
            <a:r>
              <a:rPr dirty="0" err="1"/>
              <a:t>섞여</a:t>
            </a:r>
            <a:r>
              <a:rPr dirty="0"/>
              <a:t> </a:t>
            </a:r>
            <a:r>
              <a:rPr dirty="0" err="1"/>
              <a:t>있다</a:t>
            </a:r>
            <a:r>
              <a:rPr dirty="0"/>
              <a:t>.</a:t>
            </a:r>
          </a:p>
          <a:p>
            <a:pPr algn="l">
              <a:lnSpc>
                <a:spcPct val="135000"/>
              </a:lnSpc>
              <a:defRPr sz="1050" b="0">
                <a:solidFill>
                  <a:srgbClr val="5A6B87"/>
                </a:solidFill>
              </a:defRPr>
            </a:pPr>
            <a:r>
              <a:rPr dirty="0" err="1"/>
              <a:t>누구나</a:t>
            </a:r>
            <a:r>
              <a:rPr dirty="0"/>
              <a:t> </a:t>
            </a:r>
            <a:r>
              <a:rPr dirty="0" err="1"/>
              <a:t>링크로</a:t>
            </a:r>
            <a:r>
              <a:rPr dirty="0"/>
              <a:t> </a:t>
            </a:r>
            <a:r>
              <a:rPr dirty="0" err="1"/>
              <a:t>들어올</a:t>
            </a:r>
            <a:r>
              <a:rPr dirty="0"/>
              <a:t> </a:t>
            </a:r>
            <a:r>
              <a:rPr dirty="0" err="1"/>
              <a:t>경로가</a:t>
            </a:r>
            <a:r>
              <a:rPr dirty="0"/>
              <a:t> </a:t>
            </a:r>
            <a:r>
              <a:rPr dirty="0" err="1"/>
              <a:t>필요</a:t>
            </a:r>
            <a:endParaRPr dirty="0"/>
          </a:p>
        </p:txBody>
      </p:sp>
      <p:sp>
        <p:nvSpPr>
          <p:cNvPr id="16" name="Rounded Rectangle 15"/>
          <p:cNvSpPr/>
          <p:nvPr/>
        </p:nvSpPr>
        <p:spPr>
          <a:xfrm>
            <a:off x="4407407" y="1901952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714999" y="2139696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5907023" y="2331720"/>
            <a:ext cx="384048" cy="384048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046949" y="2439713"/>
            <a:ext cx="104196" cy="16805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092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7" y="3086433"/>
            <a:ext cx="338328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600" b="1">
                <a:solidFill>
                  <a:srgbClr val="10203C"/>
                </a:solidFill>
              </a:defRPr>
            </a:pPr>
            <a:r>
              <a:t>PASS 인앱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81727" y="3438144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1348C0"/>
                </a:solidFill>
              </a:defRPr>
            </a:pPr>
            <a:r>
              <a:t>본인확인이 필요한 모임·행사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741" y="4016522"/>
            <a:ext cx="2492918" cy="4160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defRPr sz="1050" b="0">
                <a:solidFill>
                  <a:srgbClr val="5A6B87"/>
                </a:solidFill>
              </a:defRPr>
            </a:pPr>
            <a:r>
              <a:t>주최자 경로로 한정한다.</a:t>
            </a:r>
          </a:p>
          <a:p>
            <a:pPr algn="l">
              <a:lnSpc>
                <a:spcPct val="135000"/>
              </a:lnSpc>
              <a:defRPr sz="1050" b="0">
                <a:solidFill>
                  <a:srgbClr val="5A6B87"/>
                </a:solidFill>
              </a:defRPr>
            </a:pPr>
            <a:r>
              <a:t>초대받는 쪽을 유도하면 강점이 사라진다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83296" y="1901952"/>
            <a:ext cx="33832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390888" y="2139696"/>
            <a:ext cx="768096" cy="76809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667402" y="2331720"/>
            <a:ext cx="215066" cy="38404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2794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736531" y="2366284"/>
            <a:ext cx="76809" cy="25603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Oval 26"/>
          <p:cNvSpPr/>
          <p:nvPr/>
        </p:nvSpPr>
        <p:spPr>
          <a:xfrm>
            <a:off x="9748052" y="2627436"/>
            <a:ext cx="53766" cy="53766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83296" y="3086433"/>
            <a:ext cx="338328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600" b="1">
                <a:solidFill>
                  <a:srgbClr val="10203C"/>
                </a:solidFill>
              </a:defRPr>
            </a:pPr>
            <a:r>
              <a:t>자체 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57616" y="3438144"/>
            <a:ext cx="2834640" cy="384048"/>
          </a:xfrm>
          <a:prstGeom prst="roundRect">
            <a:avLst>
              <a:gd name="adj" fmla="val 50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1050" b="1">
                <a:solidFill>
                  <a:srgbClr val="1348C0"/>
                </a:solidFill>
              </a:defRPr>
            </a:pPr>
            <a:r>
              <a:t>이동 중 지속 공유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630" y="4016522"/>
            <a:ext cx="2492918" cy="4160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defRPr sz="1050" b="0">
                <a:solidFill>
                  <a:srgbClr val="5A6B87"/>
                </a:solidFill>
              </a:defRPr>
            </a:pPr>
            <a:r>
              <a:t>웹은 백그라운드 추적이 불가하다.</a:t>
            </a:r>
          </a:p>
          <a:p>
            <a:pPr algn="l">
              <a:lnSpc>
                <a:spcPct val="135000"/>
              </a:lnSpc>
              <a:defRPr sz="1050" b="0">
                <a:solidFill>
                  <a:srgbClr val="5A6B87"/>
                </a:solidFill>
              </a:defRPr>
            </a:pPr>
            <a:r>
              <a:t>운전자 시나리오는 네이티브가 필요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016765"/>
            <a:ext cx="10728655" cy="2077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350" b="1">
                <a:solidFill>
                  <a:srgbClr val="1348C0"/>
                </a:solidFill>
              </a:defRPr>
            </a:pPr>
            <a:r>
              <a:t>웹은 진입, PASS는 신뢰, 자체 앱은 지속 — 겹치지 않는다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E8FE"/>
              </a:gs>
              <a:gs pos="58000">
                <a:srgbClr val="FFFFFF"/>
              </a:gs>
              <a:gs pos="100000">
                <a:srgbClr val="FFFFFF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92663"/>
            <a:ext cx="10728655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950" b="1">
                <a:solidFill>
                  <a:srgbClr val="1C60EF"/>
                </a:solidFill>
              </a:defRPr>
            </a:pPr>
            <a:r>
              <a:t>07 · 기대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51203"/>
            <a:ext cx="10728655" cy="4154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defRPr sz="2700" b="1">
                <a:solidFill>
                  <a:srgbClr val="10203C"/>
                </a:solidFill>
              </a:defRPr>
            </a:pPr>
            <a:r>
              <a:t>무엇을 얻을 수 있는가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50592" cy="2926080"/>
          </a:xfrm>
          <a:prstGeom prst="roundRect">
            <a:avLst>
              <a:gd name="adj" fmla="val 6000"/>
            </a:avLst>
          </a:prstGeom>
          <a:solidFill>
            <a:srgbClr val="1C60EF"/>
          </a:solidFill>
          <a:ln w="1270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05840" y="2084831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Oval 6"/>
          <p:cNvSpPr/>
          <p:nvPr/>
        </p:nvSpPr>
        <p:spPr>
          <a:xfrm>
            <a:off x="1175004" y="2253996"/>
            <a:ext cx="338328" cy="338328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7681" y="2349228"/>
            <a:ext cx="92974" cy="14786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961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9152" y="2194560"/>
            <a:ext cx="6035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900" b="1">
                <a:solidFill>
                  <a:srgbClr val="1C60EF"/>
                </a:solidFill>
              </a:defRPr>
            </a:pPr>
            <a:r>
              <a:t>핵심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21463"/>
            <a:ext cx="1920240" cy="231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350" b="1">
                <a:solidFill>
                  <a:srgbClr val="FFFFFF"/>
                </a:solidFill>
              </a:defRPr>
            </a:pPr>
            <a:r>
              <a:t>PASS 인증 건수 증대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761150"/>
            <a:ext cx="1965960" cy="6341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defRPr sz="1050" b="0">
                <a:solidFill>
                  <a:srgbClr val="DBE8FE"/>
                </a:solidFill>
              </a:defRPr>
            </a:pPr>
            <a:r>
              <a:rPr dirty="0" err="1"/>
              <a:t>모임에</a:t>
            </a:r>
            <a:r>
              <a:rPr dirty="0"/>
              <a:t> </a:t>
            </a:r>
            <a:r>
              <a:rPr dirty="0" err="1"/>
              <a:t>참여할</a:t>
            </a:r>
            <a:r>
              <a:rPr dirty="0"/>
              <a:t> </a:t>
            </a:r>
            <a:r>
              <a:rPr dirty="0" err="1"/>
              <a:t>때마다</a:t>
            </a:r>
            <a:r>
              <a:rPr dirty="0"/>
              <a:t> </a:t>
            </a:r>
            <a:r>
              <a:rPr dirty="0" err="1"/>
              <a:t>본인확인이</a:t>
            </a:r>
            <a:r>
              <a:rPr dirty="0"/>
              <a:t> </a:t>
            </a:r>
            <a:r>
              <a:rPr dirty="0" err="1"/>
              <a:t>발생한다</a:t>
            </a:r>
            <a:r>
              <a:rPr dirty="0"/>
              <a:t>.</a:t>
            </a:r>
          </a:p>
          <a:p>
            <a:pPr algn="l">
              <a:lnSpc>
                <a:spcPct val="135000"/>
              </a:lnSpc>
              <a:defRPr sz="1050" b="0">
                <a:solidFill>
                  <a:srgbClr val="DBE8FE"/>
                </a:solidFill>
              </a:defRPr>
            </a:pPr>
            <a:r>
              <a:rPr dirty="0" err="1"/>
              <a:t>기존</a:t>
            </a:r>
            <a:r>
              <a:rPr dirty="0"/>
              <a:t> </a:t>
            </a:r>
            <a:r>
              <a:rPr dirty="0" err="1"/>
              <a:t>지표로</a:t>
            </a:r>
            <a:r>
              <a:rPr dirty="0"/>
              <a:t> </a:t>
            </a:r>
            <a:r>
              <a:rPr dirty="0" err="1"/>
              <a:t>바로</a:t>
            </a:r>
            <a:r>
              <a:rPr dirty="0"/>
              <a:t> </a:t>
            </a:r>
            <a:r>
              <a:rPr dirty="0" err="1"/>
              <a:t>측정된다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3483863" y="1828800"/>
            <a:ext cx="2450592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758183" y="2084831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927348" y="2294595"/>
            <a:ext cx="338328" cy="25712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794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927348" y="2294595"/>
            <a:ext cx="338328" cy="60899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3954414" y="2311511"/>
            <a:ext cx="21991" cy="2199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/>
          <p:cNvSpPr/>
          <p:nvPr/>
        </p:nvSpPr>
        <p:spPr>
          <a:xfrm>
            <a:off x="3991630" y="2311511"/>
            <a:ext cx="21991" cy="2199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4028846" y="2311511"/>
            <a:ext cx="21991" cy="21991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758183" y="3121463"/>
            <a:ext cx="1920240" cy="231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350" b="1">
                <a:solidFill>
                  <a:srgbClr val="10203C"/>
                </a:solidFill>
              </a:defRPr>
            </a:pPr>
            <a:r>
              <a:t>PASS 채널 가치 확장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58183" y="3761150"/>
            <a:ext cx="1965960" cy="4160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defRPr sz="1050" b="0">
                <a:solidFill>
                  <a:srgbClr val="5A6B87"/>
                </a:solidFill>
              </a:defRPr>
            </a:pPr>
            <a:r>
              <a:t>인증 외 생활 영역으로</a:t>
            </a:r>
          </a:p>
          <a:p>
            <a:pPr algn="l">
              <a:lnSpc>
                <a:spcPct val="135000"/>
              </a:lnSpc>
              <a:defRPr sz="1050" b="0">
                <a:solidFill>
                  <a:srgbClr val="5A6B87"/>
                </a:solidFill>
              </a:defRPr>
            </a:pPr>
            <a:r>
              <a:t>앱을 여는 이유를 넓힌다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7" y="1828800"/>
            <a:ext cx="2450592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510527" y="2084831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713524" y="2470525"/>
            <a:ext cx="71048" cy="121798"/>
          </a:xfrm>
          <a:prstGeom prst="roundRect">
            <a:avLst>
              <a:gd name="adj" fmla="val 25000"/>
            </a:avLst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818406" y="2375794"/>
            <a:ext cx="71048" cy="216529"/>
          </a:xfrm>
          <a:prstGeom prst="roundRect">
            <a:avLst>
              <a:gd name="adj" fmla="val 25000"/>
            </a:avLst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923288" y="2281062"/>
            <a:ext cx="71048" cy="311261"/>
          </a:xfrm>
          <a:prstGeom prst="roundRect">
            <a:avLst>
              <a:gd name="adj" fmla="val 25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10527" y="3121463"/>
            <a:ext cx="1920240" cy="231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350" b="1">
                <a:solidFill>
                  <a:srgbClr val="10203C"/>
                </a:solidFill>
              </a:defRPr>
            </a:pPr>
            <a:r>
              <a:t>위치기반 신사업 진입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7" y="3761150"/>
            <a:ext cx="1965960" cy="41601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defRPr sz="1050" b="0">
                <a:solidFill>
                  <a:srgbClr val="5A6B87"/>
                </a:solidFill>
              </a:defRPr>
            </a:pPr>
            <a:r>
              <a:t>모임·이동 데이터를 다루는</a:t>
            </a:r>
          </a:p>
          <a:p>
            <a:pPr algn="l">
              <a:lnSpc>
                <a:spcPct val="135000"/>
              </a:lnSpc>
              <a:defRPr sz="1050" b="0">
                <a:solidFill>
                  <a:srgbClr val="5A6B87"/>
                </a:solidFill>
              </a:defRPr>
            </a:pPr>
            <a:r>
              <a:t>첫 접점이 된다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88552" y="1828800"/>
            <a:ext cx="2450592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262872" y="2084831"/>
            <a:ext cx="676656" cy="676656"/>
          </a:xfrm>
          <a:prstGeom prst="roundRect">
            <a:avLst>
              <a:gd name="adj" fmla="val 22000"/>
            </a:avLst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Oval 29"/>
          <p:cNvSpPr/>
          <p:nvPr/>
        </p:nvSpPr>
        <p:spPr>
          <a:xfrm>
            <a:off x="9432036" y="2253996"/>
            <a:ext cx="338328" cy="338328"/>
          </a:xfrm>
          <a:prstGeom prst="ellipse">
            <a:avLst/>
          </a:prstGeom>
          <a:noFill/>
          <a:ln w="27940">
            <a:solidFill>
              <a:srgbClr val="1C60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582912" y="2304745"/>
            <a:ext cx="36576" cy="236829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36917" y="2372410"/>
            <a:ext cx="128564" cy="32004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536917" y="2446842"/>
            <a:ext cx="128564" cy="32004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469880" y="2194560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F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defRPr sz="900" b="1">
                <a:solidFill>
                  <a:srgbClr val="9FADC4"/>
                </a:solidFill>
              </a:defRPr>
            </a:pPr>
            <a:r>
              <a:t>후순위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2872" y="3121463"/>
            <a:ext cx="1920240" cy="2310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defRPr sz="1350" b="1">
                <a:solidFill>
                  <a:srgbClr val="10203C"/>
                </a:solidFill>
              </a:defRPr>
            </a:pPr>
            <a:r>
              <a:t>신규 B2B 라인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62872" y="3761150"/>
            <a:ext cx="1965960" cy="6341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  <a:defRPr sz="1050" b="0">
                <a:solidFill>
                  <a:srgbClr val="5A6B87"/>
                </a:solidFill>
              </a:defRPr>
            </a:pPr>
            <a:r>
              <a:t>행사·모임 주최 대상.</a:t>
            </a:r>
          </a:p>
          <a:p>
            <a:pPr algn="l">
              <a:lnSpc>
                <a:spcPct val="135000"/>
              </a:lnSpc>
              <a:defRPr sz="1050" b="0">
                <a:solidFill>
                  <a:srgbClr val="5A6B87"/>
                </a:solidFill>
              </a:defRPr>
            </a:pPr>
            <a:r>
              <a:t>가능성은 있으나 수요 확인이 먼저다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139484"/>
            <a:ext cx="10728655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300" b="1">
                <a:solidFill>
                  <a:srgbClr val="1348C0"/>
                </a:solidFill>
              </a:defRPr>
            </a:pPr>
            <a:r>
              <a:t>먼저 기존 지표(인증 건수·채널 활용)로 값을 만들고, 사업화는 그다음 단계로 둔다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E8FE"/>
              </a:gs>
              <a:gs pos="56000">
                <a:srgbClr val="FFFFFF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" name="Oval 2"/>
          <p:cNvSpPr/>
          <p:nvPr/>
        </p:nvSpPr>
        <p:spPr>
          <a:xfrm>
            <a:off x="5884712" y="1298448"/>
            <a:ext cx="410382" cy="410382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Isosceles Triangle 3"/>
          <p:cNvSpPr/>
          <p:nvPr/>
        </p:nvSpPr>
        <p:spPr>
          <a:xfrm rot="10800000">
            <a:off x="5975238" y="1612270"/>
            <a:ext cx="229331" cy="265541"/>
          </a:xfrm>
          <a:prstGeom prst="triangl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Oval 4"/>
          <p:cNvSpPr/>
          <p:nvPr/>
        </p:nvSpPr>
        <p:spPr>
          <a:xfrm>
            <a:off x="6017483" y="1431218"/>
            <a:ext cx="144840" cy="1448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256335"/>
            <a:ext cx="10728655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3000" b="1">
                <a:solidFill>
                  <a:srgbClr val="10203C"/>
                </a:solidFill>
              </a:defRPr>
            </a:pPr>
            <a:r>
              <a:t>모임 단위 위치 공유는 카카오가 비워둔 자리다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40713"/>
            <a:ext cx="10728655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600" b="0">
                <a:solidFill>
                  <a:srgbClr val="5A6B87"/>
                </a:solidFill>
              </a:defRPr>
            </a:pPr>
            <a:r>
              <a:rPr dirty="0" err="1"/>
              <a:t>그리고</a:t>
            </a:r>
            <a:r>
              <a:rPr dirty="0"/>
              <a:t> </a:t>
            </a:r>
            <a:r>
              <a:rPr dirty="0" err="1"/>
              <a:t>그</a:t>
            </a:r>
            <a:r>
              <a:rPr dirty="0"/>
              <a:t> </a:t>
            </a:r>
            <a:r>
              <a:rPr dirty="0" err="1"/>
              <a:t>자리를</a:t>
            </a:r>
            <a:r>
              <a:rPr dirty="0"/>
              <a:t> </a:t>
            </a:r>
            <a:r>
              <a:rPr dirty="0" err="1"/>
              <a:t>채우는</a:t>
            </a:r>
            <a:r>
              <a:rPr dirty="0"/>
              <a:t> </a:t>
            </a:r>
            <a:r>
              <a:rPr dirty="0" err="1"/>
              <a:t>데</a:t>
            </a:r>
            <a:r>
              <a:rPr dirty="0"/>
              <a:t> </a:t>
            </a:r>
            <a:r>
              <a:rPr dirty="0" err="1"/>
              <a:t>필요한</a:t>
            </a:r>
            <a:r>
              <a:rPr dirty="0"/>
              <a:t> </a:t>
            </a:r>
            <a:r>
              <a:rPr dirty="0" err="1"/>
              <a:t>것을</a:t>
            </a:r>
            <a:r>
              <a:rPr dirty="0"/>
              <a:t>, </a:t>
            </a:r>
            <a:r>
              <a:rPr dirty="0" err="1"/>
              <a:t>우리는</a:t>
            </a:r>
            <a:r>
              <a:rPr dirty="0"/>
              <a:t> </a:t>
            </a:r>
            <a:r>
              <a:rPr dirty="0" err="1"/>
              <a:t>이미</a:t>
            </a:r>
            <a:r>
              <a:rPr dirty="0"/>
              <a:t> </a:t>
            </a:r>
            <a:r>
              <a:rPr dirty="0" err="1"/>
              <a:t>갖고</a:t>
            </a:r>
            <a:r>
              <a:rPr dirty="0"/>
              <a:t> </a:t>
            </a:r>
            <a:r>
              <a:rPr dirty="0" err="1"/>
              <a:t>있다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2133757" y="3886200"/>
            <a:ext cx="2103121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Block Arc 8"/>
          <p:cNvSpPr/>
          <p:nvPr/>
        </p:nvSpPr>
        <p:spPr>
          <a:xfrm>
            <a:off x="3081624" y="4087368"/>
            <a:ext cx="207385" cy="215066"/>
          </a:xfrm>
          <a:prstGeom prst="blockArc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047059" y="4248668"/>
            <a:ext cx="276514" cy="215066"/>
          </a:xfrm>
          <a:prstGeom prst="roundRect">
            <a:avLst>
              <a:gd name="adj" fmla="val 16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3158433" y="4325477"/>
            <a:ext cx="53767" cy="5376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33757" y="4676988"/>
            <a:ext cx="2103121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250" b="1">
                <a:solidFill>
                  <a:srgbClr val="10203C"/>
                </a:solidFill>
              </a:defRPr>
            </a:pPr>
            <a:r>
              <a:t>본인확인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68397" y="3886200"/>
            <a:ext cx="2103121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5843294" y="4118091"/>
            <a:ext cx="115214" cy="115214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6081404" y="4118091"/>
            <a:ext cx="115214" cy="115214"/>
          </a:xfrm>
          <a:prstGeom prst="ellipse">
            <a:avLst/>
          </a:prstGeom>
          <a:solidFill>
            <a:srgbClr val="5A8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5954668" y="4087368"/>
            <a:ext cx="130576" cy="130576"/>
          </a:xfrm>
          <a:prstGeom prst="ellips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900901" y="4256349"/>
            <a:ext cx="238110" cy="153619"/>
          </a:xfrm>
          <a:prstGeom prst="roundRect">
            <a:avLst>
              <a:gd name="adj" fmla="val 45000"/>
            </a:avLst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68397" y="4676988"/>
            <a:ext cx="2103121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250" b="1">
                <a:solidFill>
                  <a:srgbClr val="10203C"/>
                </a:solidFill>
              </a:defRPr>
            </a:pPr>
            <a:r>
              <a:t>통신사 채널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03037" y="3886200"/>
            <a:ext cx="2103121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BE8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Pentagon 19"/>
          <p:cNvSpPr/>
          <p:nvPr/>
        </p:nvSpPr>
        <p:spPr>
          <a:xfrm rot="5400000">
            <a:off x="8685615" y="4087368"/>
            <a:ext cx="337962" cy="384048"/>
          </a:xfrm>
          <a:prstGeom prst="homePlate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02498" y="4187681"/>
            <a:ext cx="104198" cy="16805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defRPr sz="1092" b="1">
                <a:solidFill>
                  <a:srgbClr val="FFFFFF"/>
                </a:solidFill>
              </a:defRPr>
            </a:pPr>
            <a: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03037" y="4676988"/>
            <a:ext cx="2103121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250" b="1">
                <a:solidFill>
                  <a:srgbClr val="10203C"/>
                </a:solidFill>
              </a:defRPr>
            </a:pPr>
            <a:r>
              <a:t>규제 대응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626514"/>
            <a:ext cx="10728655" cy="1769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150" b="0">
                <a:solidFill>
                  <a:srgbClr val="9FADC4"/>
                </a:solidFill>
              </a:defRPr>
            </a:pPr>
            <a:r>
              <a:t>어디쯤 × 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1005</Words>
  <Application>Microsoft Macintosh PowerPoint</Application>
  <PresentationFormat>와이드스크린</PresentationFormat>
  <Paragraphs>205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서 강철</cp:lastModifiedBy>
  <cp:revision>24</cp:revision>
  <dcterms:created xsi:type="dcterms:W3CDTF">2013-01-27T09:14:16Z</dcterms:created>
  <dcterms:modified xsi:type="dcterms:W3CDTF">2026-09-14T01:05:23Z</dcterms:modified>
  <cp:category/>
</cp:coreProperties>
</file>